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  <p:sldMasterId id="2147483690" r:id="rId6"/>
  </p:sldMasterIdLst>
  <p:notesMasterIdLst>
    <p:notesMasterId r:id="rId25"/>
  </p:notesMasterIdLst>
  <p:handoutMasterIdLst>
    <p:handoutMasterId r:id="rId26"/>
  </p:handoutMasterIdLst>
  <p:sldIdLst>
    <p:sldId id="256" r:id="rId7"/>
    <p:sldId id="799" r:id="rId8"/>
    <p:sldId id="955" r:id="rId9"/>
    <p:sldId id="989" r:id="rId10"/>
    <p:sldId id="986" r:id="rId11"/>
    <p:sldId id="987" r:id="rId12"/>
    <p:sldId id="990" r:id="rId13"/>
    <p:sldId id="1014" r:id="rId14"/>
    <p:sldId id="1015" r:id="rId15"/>
    <p:sldId id="991" r:id="rId16"/>
    <p:sldId id="1001" r:id="rId17"/>
    <p:sldId id="1005" r:id="rId18"/>
    <p:sldId id="1006" r:id="rId19"/>
    <p:sldId id="1007" r:id="rId20"/>
    <p:sldId id="1009" r:id="rId21"/>
    <p:sldId id="1011" r:id="rId22"/>
    <p:sldId id="1012" r:id="rId23"/>
    <p:sldId id="1013" r:id="rId24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90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6A1CA-3C64-9615-0B62-4747B1854A56}" v="79" dt="2026-07-23T07:18:41.219"/>
    <p1510:client id="{89A5CC7F-92D6-AEDD-963E-172B64C8FB9A}" v="723" dt="2026-07-23T07:00:09.792"/>
  </p1510:revLst>
</p1510:revInfo>
</file>

<file path=ppt/tableStyles.xml><?xml version="1.0" encoding="utf-8"?>
<a:tblStyleLst xmlns:a="http://schemas.openxmlformats.org/drawingml/2006/main" def="{3B499C51-E065-441F-A7F9-1BCB1B5F97B9}">
  <a:tblStyle styleId="{3B499C51-E065-441F-A7F9-1BCB1B5F97B9}" styleName="msg systems Standardtabelle">
    <a:wholeTbl>
      <a:tcTxStyle>
        <a:fontRef idx="minor">
          <a:scrgbClr r="0" g="0" b="0"/>
        </a:fontRef>
        <a:schemeClr val="tx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9525" cmpd="sng">
              <a:solidFill>
                <a:schemeClr val="accent3"/>
              </a:solidFill>
            </a:ln>
          </a:insideH>
          <a:insideV>
            <a:ln w="9525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>
        <a:schemeClr val="accent1"/>
      </a:tcTxStyle>
      <a:tcStyle>
        <a:tcBdr>
          <a:bottom>
            <a:ln w="9525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Gherasim" userId="S::samuel.gherasim@msg.group::9205b2ce-7a57-47ff-bb0a-f260506a8c1b" providerId="AD" clId="Web-{1FF6A1CA-3C64-9615-0B62-4747B1854A56}"/>
    <pc:docChg chg="addSld modSld">
      <pc:chgData name="Samuel Gherasim" userId="S::samuel.gherasim@msg.group::9205b2ce-7a57-47ff-bb0a-f260506a8c1b" providerId="AD" clId="Web-{1FF6A1CA-3C64-9615-0B62-4747B1854A56}" dt="2026-07-23T07:18:41.219" v="78" actId="20577"/>
      <pc:docMkLst>
        <pc:docMk/>
      </pc:docMkLst>
      <pc:sldChg chg="addSp modSp add mod replId modClrScheme chgLayout">
        <pc:chgData name="Samuel Gherasim" userId="S::samuel.gherasim@msg.group::9205b2ce-7a57-47ff-bb0a-f260506a8c1b" providerId="AD" clId="Web-{1FF6A1CA-3C64-9615-0B62-4747B1854A56}" dt="2026-07-23T07:18:41.219" v="78" actId="20577"/>
        <pc:sldMkLst>
          <pc:docMk/>
          <pc:sldMk cId="3058597486" sldId="1015"/>
        </pc:sldMkLst>
        <pc:spChg chg="add mod ord">
          <ac:chgData name="Samuel Gherasim" userId="S::samuel.gherasim@msg.group::9205b2ce-7a57-47ff-bb0a-f260506a8c1b" providerId="AD" clId="Web-{1FF6A1CA-3C64-9615-0B62-4747B1854A56}" dt="2026-07-23T07:17:09.577" v="1"/>
          <ac:spMkLst>
            <pc:docMk/>
            <pc:sldMk cId="3058597486" sldId="1015"/>
            <ac:spMk id="2" creationId="{DB2721CA-4995-C938-E1FA-CEECE4F87CA2}"/>
          </ac:spMkLst>
        </pc:spChg>
        <pc:spChg chg="mod ord">
          <ac:chgData name="Samuel Gherasim" userId="S::samuel.gherasim@msg.group::9205b2ce-7a57-47ff-bb0a-f260506a8c1b" providerId="AD" clId="Web-{1FF6A1CA-3C64-9615-0B62-4747B1854A56}" dt="2026-07-23T07:17:09.577" v="1"/>
          <ac:spMkLst>
            <pc:docMk/>
            <pc:sldMk cId="3058597486" sldId="1015"/>
            <ac:spMk id="3" creationId="{FE8A9D05-708B-6B34-AA14-5E779DE13E77}"/>
          </ac:spMkLst>
        </pc:spChg>
        <pc:spChg chg="mod ord">
          <ac:chgData name="Samuel Gherasim" userId="S::samuel.gherasim@msg.group::9205b2ce-7a57-47ff-bb0a-f260506a8c1b" providerId="AD" clId="Web-{1FF6A1CA-3C64-9615-0B62-4747B1854A56}" dt="2026-07-23T07:17:15.530" v="6" actId="20577"/>
          <ac:spMkLst>
            <pc:docMk/>
            <pc:sldMk cId="3058597486" sldId="1015"/>
            <ac:spMk id="4" creationId="{F99005F0-43D9-B07C-F1AD-CAB540136D07}"/>
          </ac:spMkLst>
        </pc:spChg>
        <pc:spChg chg="mod ord">
          <ac:chgData name="Samuel Gherasim" userId="S::samuel.gherasim@msg.group::9205b2ce-7a57-47ff-bb0a-f260506a8c1b" providerId="AD" clId="Web-{1FF6A1CA-3C64-9615-0B62-4747B1854A56}" dt="2026-07-23T07:18:41.219" v="78" actId="20577"/>
          <ac:spMkLst>
            <pc:docMk/>
            <pc:sldMk cId="3058597486" sldId="1015"/>
            <ac:spMk id="6" creationId="{6AC82547-21CA-9C4A-EAEC-4B7AE5B8942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/>
      <dgm:spPr/>
      <dgm:t>
        <a:bodyPr/>
        <a:lstStyle/>
        <a:p>
          <a:r>
            <a:rPr lang="en-US">
              <a:effectLst/>
            </a:rPr>
            <a:t>Flight itinerary</a:t>
          </a:r>
          <a:endParaRPr lang="de-DE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A3F28A46-8B8E-4A1B-89DD-97E1E8298CE5}">
      <dgm:prSet phldrT="[Text]"/>
      <dgm:spPr/>
      <dgm:t>
        <a:bodyPr/>
        <a:lstStyle/>
        <a:p>
          <a:r>
            <a:rPr lang="de-DE" err="1"/>
            <a:t>Starting</a:t>
          </a:r>
          <a:r>
            <a:rPr lang="de-DE"/>
            <a:t> and final </a:t>
          </a:r>
          <a:r>
            <a:rPr lang="de-DE" err="1"/>
            <a:t>airport</a:t>
          </a:r>
          <a:endParaRPr lang="de-DE"/>
        </a:p>
      </dgm:t>
    </dgm:pt>
    <dgm:pt modelId="{36D7274D-63C9-4814-AB47-75064A05C97C}" type="parTrans" cxnId="{48BF2FF9-67BE-488C-9E7B-5A76D1846A1E}">
      <dgm:prSet/>
      <dgm:spPr/>
      <dgm:t>
        <a:bodyPr/>
        <a:lstStyle/>
        <a:p>
          <a:endParaRPr lang="de-DE"/>
        </a:p>
      </dgm:t>
    </dgm:pt>
    <dgm:pt modelId="{FAF5416C-E4D6-4135-8E9D-BD415F572F9F}" type="sibTrans" cxnId="{48BF2FF9-67BE-488C-9E7B-5A76D1846A1E}">
      <dgm:prSet/>
      <dgm:spPr/>
      <dgm:t>
        <a:bodyPr/>
        <a:lstStyle/>
        <a:p>
          <a:endParaRPr lang="de-DE"/>
        </a:p>
      </dgm:t>
    </dgm:pt>
    <dgm:pt modelId="{ED704707-9E4A-4B4A-836F-0E3827082813}">
      <dgm:prSet phldrT="[Text]"/>
      <dgm:spPr/>
      <dgm:t>
        <a:bodyPr/>
        <a:lstStyle/>
        <a:p>
          <a:r>
            <a:rPr lang="de-DE"/>
            <a:t>And </a:t>
          </a:r>
          <a:r>
            <a:rPr lang="de-DE" err="1"/>
            <a:t>connecting</a:t>
          </a:r>
          <a:r>
            <a:rPr lang="de-DE"/>
            <a:t> </a:t>
          </a:r>
          <a:r>
            <a:rPr lang="de-DE" err="1"/>
            <a:t>flights</a:t>
          </a:r>
          <a:endParaRPr lang="de-DE"/>
        </a:p>
      </dgm:t>
    </dgm:pt>
    <dgm:pt modelId="{770D511F-275C-453E-BCBF-C31049C75FF1}" type="parTrans" cxnId="{4154CB10-B4B3-4331-8F1C-04B6C1DE99A6}">
      <dgm:prSet/>
      <dgm:spPr/>
      <dgm:t>
        <a:bodyPr/>
        <a:lstStyle/>
        <a:p>
          <a:endParaRPr lang="de-DE"/>
        </a:p>
      </dgm:t>
    </dgm:pt>
    <dgm:pt modelId="{165C638E-E2A5-4545-B495-305D212AF21D}" type="sibTrans" cxnId="{4154CB10-B4B3-4331-8F1C-04B6C1DE99A6}">
      <dgm:prSet/>
      <dgm:spPr/>
      <dgm:t>
        <a:bodyPr/>
        <a:lstStyle/>
        <a:p>
          <a:endParaRPr lang="de-DE"/>
        </a:p>
      </dgm:t>
    </dgm:pt>
    <dgm:pt modelId="{A2459BEC-E48A-46C6-9D5A-7B82D09B2813}">
      <dgm:prSet phldrT="[Text]"/>
      <dgm:spPr/>
      <dgm:t>
        <a:bodyPr/>
        <a:lstStyle/>
        <a:p>
          <a:r>
            <a:rPr lang="en-US">
              <a:effectLst/>
            </a:rPr>
            <a:t>Disruption details</a:t>
          </a:r>
          <a:endParaRPr lang="de-DE"/>
        </a:p>
      </dgm:t>
    </dgm:pt>
    <dgm:pt modelId="{422D90D2-010B-47C0-B1DE-35EBAEA01B97}" type="parTrans" cxnId="{8FC63A17-FA21-439F-BE7E-ECD1FF7DBA72}">
      <dgm:prSet/>
      <dgm:spPr/>
      <dgm:t>
        <a:bodyPr/>
        <a:lstStyle/>
        <a:p>
          <a:endParaRPr lang="de-DE"/>
        </a:p>
      </dgm:t>
    </dgm:pt>
    <dgm:pt modelId="{0AC5B934-381F-4C31-8277-263BC618B6B9}" type="sibTrans" cxnId="{8FC63A17-FA21-439F-BE7E-ECD1FF7DBA72}">
      <dgm:prSet/>
      <dgm:spPr/>
      <dgm:t>
        <a:bodyPr/>
        <a:lstStyle/>
        <a:p>
          <a:endParaRPr lang="de-DE"/>
        </a:p>
      </dgm:t>
    </dgm:pt>
    <dgm:pt modelId="{7148D035-32F4-42E2-ABAD-BC9EBAA99ABF}">
      <dgm:prSet phldrT="[Text]"/>
      <dgm:spPr/>
      <dgm:t>
        <a:bodyPr/>
        <a:lstStyle/>
        <a:p>
          <a:r>
            <a:rPr lang="de-DE" err="1"/>
            <a:t>Cancellation</a:t>
          </a:r>
          <a:endParaRPr lang="de-DE"/>
        </a:p>
      </dgm:t>
    </dgm:pt>
    <dgm:pt modelId="{EEC67565-3B3D-4126-ACDC-06D9F4B135EC}" type="parTrans" cxnId="{6578FAC8-E67A-43E7-91AA-8448D1EFC912}">
      <dgm:prSet/>
      <dgm:spPr/>
      <dgm:t>
        <a:bodyPr/>
        <a:lstStyle/>
        <a:p>
          <a:endParaRPr lang="de-DE"/>
        </a:p>
      </dgm:t>
    </dgm:pt>
    <dgm:pt modelId="{6D6EC9A5-0786-4E7A-A38A-CF0EEFC16F2F}" type="sibTrans" cxnId="{6578FAC8-E67A-43E7-91AA-8448D1EFC912}">
      <dgm:prSet/>
      <dgm:spPr/>
      <dgm:t>
        <a:bodyPr/>
        <a:lstStyle/>
        <a:p>
          <a:endParaRPr lang="de-DE"/>
        </a:p>
      </dgm:t>
    </dgm:pt>
    <dgm:pt modelId="{CD871954-5980-4BB3-9F81-B4FCF9D80CF2}">
      <dgm:prSet phldrT="[Text]"/>
      <dgm:spPr/>
      <dgm:t>
        <a:bodyPr/>
        <a:lstStyle/>
        <a:p>
          <a:r>
            <a:rPr lang="de-DE"/>
            <a:t>Delay</a:t>
          </a:r>
        </a:p>
      </dgm:t>
    </dgm:pt>
    <dgm:pt modelId="{6AADE61A-E362-42B8-9DA7-F32C7ED0E4D7}" type="parTrans" cxnId="{E4FF6FD6-6D08-4F1C-860A-4DA422892F62}">
      <dgm:prSet/>
      <dgm:spPr/>
      <dgm:t>
        <a:bodyPr/>
        <a:lstStyle/>
        <a:p>
          <a:endParaRPr lang="de-DE"/>
        </a:p>
      </dgm:t>
    </dgm:pt>
    <dgm:pt modelId="{DE078732-49F5-4C02-9AB5-9E3A776D8767}" type="sibTrans" cxnId="{E4FF6FD6-6D08-4F1C-860A-4DA422892F62}">
      <dgm:prSet/>
      <dgm:spPr/>
      <dgm:t>
        <a:bodyPr/>
        <a:lstStyle/>
        <a:p>
          <a:endParaRPr lang="de-DE"/>
        </a:p>
      </dgm:t>
    </dgm:pt>
    <dgm:pt modelId="{204882BF-9587-48E9-816B-8AE1D596D313}">
      <dgm:prSet phldrT="[Text]"/>
      <dgm:spPr/>
      <dgm:t>
        <a:bodyPr/>
        <a:lstStyle/>
        <a:p>
          <a:r>
            <a:rPr lang="en-US">
              <a:effectLst/>
            </a:rPr>
            <a:t>Disruption motive</a:t>
          </a:r>
          <a:endParaRPr lang="de-DE"/>
        </a:p>
      </dgm:t>
    </dgm:pt>
    <dgm:pt modelId="{66A7DE7E-A271-4175-8ACB-A61CBC0B1736}" type="parTrans" cxnId="{AB6A20B7-130A-46DC-81E0-4A714A8EE775}">
      <dgm:prSet/>
      <dgm:spPr/>
      <dgm:t>
        <a:bodyPr/>
        <a:lstStyle/>
        <a:p>
          <a:endParaRPr lang="de-DE"/>
        </a:p>
      </dgm:t>
    </dgm:pt>
    <dgm:pt modelId="{57B0A944-A8B1-48C7-AFDE-0D1F414EAB90}" type="sibTrans" cxnId="{AB6A20B7-130A-46DC-81E0-4A714A8EE775}">
      <dgm:prSet/>
      <dgm:spPr/>
      <dgm:t>
        <a:bodyPr/>
        <a:lstStyle/>
        <a:p>
          <a:endParaRPr lang="de-DE"/>
        </a:p>
      </dgm:t>
    </dgm:pt>
    <dgm:pt modelId="{21CEF7A1-E712-4D67-859E-A479213D641B}">
      <dgm:prSet phldrT="[Text]"/>
      <dgm:spPr/>
      <dgm:t>
        <a:bodyPr/>
        <a:lstStyle/>
        <a:p>
          <a:r>
            <a:rPr lang="de-DE" err="1"/>
            <a:t>What</a:t>
          </a:r>
          <a:r>
            <a:rPr lang="de-DE"/>
            <a:t> was the </a:t>
          </a:r>
          <a:r>
            <a:rPr lang="de-DE" err="1"/>
            <a:t>reason</a:t>
          </a:r>
          <a:r>
            <a:rPr lang="de-DE"/>
            <a:t>? </a:t>
          </a:r>
        </a:p>
      </dgm:t>
    </dgm:pt>
    <dgm:pt modelId="{E15E80FA-A880-41F2-84AF-C0B750E0D810}" type="parTrans" cxnId="{6EF8B441-9D3A-4664-8D2D-61DAF2455809}">
      <dgm:prSet/>
      <dgm:spPr/>
      <dgm:t>
        <a:bodyPr/>
        <a:lstStyle/>
        <a:p>
          <a:endParaRPr lang="de-DE"/>
        </a:p>
      </dgm:t>
    </dgm:pt>
    <dgm:pt modelId="{1F16D14B-C1AB-4C45-85DC-9CC20317A8A2}" type="sibTrans" cxnId="{6EF8B441-9D3A-4664-8D2D-61DAF2455809}">
      <dgm:prSet/>
      <dgm:spPr/>
      <dgm:t>
        <a:bodyPr/>
        <a:lstStyle/>
        <a:p>
          <a:endParaRPr lang="de-DE"/>
        </a:p>
      </dgm:t>
    </dgm:pt>
    <dgm:pt modelId="{2AFB5665-47E9-4C03-83A0-A5A7F65C39B7}">
      <dgm:prSet/>
      <dgm:spPr/>
      <dgm:t>
        <a:bodyPr/>
        <a:lstStyle/>
        <a:p>
          <a:r>
            <a:rPr lang="de-DE"/>
            <a:t>Request email &amp; </a:t>
          </a:r>
          <a:r>
            <a:rPr lang="de-DE" err="1"/>
            <a:t>compliance</a:t>
          </a:r>
          <a:endParaRPr lang="de-DE"/>
        </a:p>
      </dgm:t>
    </dgm:pt>
    <dgm:pt modelId="{4C4C3E67-F44D-42C2-9196-D0160ABB4807}" type="parTrans" cxnId="{BA69677F-FF36-42C1-99A6-A9849A5BE978}">
      <dgm:prSet/>
      <dgm:spPr/>
      <dgm:t>
        <a:bodyPr/>
        <a:lstStyle/>
        <a:p>
          <a:endParaRPr lang="de-DE"/>
        </a:p>
      </dgm:t>
    </dgm:pt>
    <dgm:pt modelId="{BBCF19DF-50DE-4057-B82D-DE2F94BA2907}" type="sibTrans" cxnId="{BA69677F-FF36-42C1-99A6-A9849A5BE978}">
      <dgm:prSet/>
      <dgm:spPr/>
      <dgm:t>
        <a:bodyPr/>
        <a:lstStyle/>
        <a:p>
          <a:endParaRPr lang="de-DE"/>
        </a:p>
      </dgm:t>
    </dgm:pt>
    <dgm:pt modelId="{387EC6A7-A917-44AD-B154-837523FDA648}">
      <dgm:prSet/>
      <dgm:spPr/>
      <dgm:t>
        <a:bodyPr/>
        <a:lstStyle/>
        <a:p>
          <a:r>
            <a:rPr lang="de-DE"/>
            <a:t>Capture email </a:t>
          </a:r>
          <a:r>
            <a:rPr lang="de-DE" err="1">
              <a:latin typeface="Calibri"/>
            </a:rPr>
            <a:t>address</a:t>
          </a:r>
          <a:r>
            <a:rPr lang="de-DE"/>
            <a:t> </a:t>
          </a:r>
        </a:p>
      </dgm:t>
    </dgm:pt>
    <dgm:pt modelId="{903347E7-77C5-423F-9BD6-F0F05F306967}" type="parTrans" cxnId="{5B795D1E-DCE1-42DA-AFF6-47FD933C7D89}">
      <dgm:prSet/>
      <dgm:spPr/>
      <dgm:t>
        <a:bodyPr/>
        <a:lstStyle/>
        <a:p>
          <a:endParaRPr lang="de-DE"/>
        </a:p>
      </dgm:t>
    </dgm:pt>
    <dgm:pt modelId="{4BA05A03-C155-4E27-9DEB-8B2980ECDA33}" type="sibTrans" cxnId="{5B795D1E-DCE1-42DA-AFF6-47FD933C7D89}">
      <dgm:prSet/>
      <dgm:spPr/>
      <dgm:t>
        <a:bodyPr/>
        <a:lstStyle/>
        <a:p>
          <a:endParaRPr lang="de-DE"/>
        </a:p>
      </dgm:t>
    </dgm:pt>
    <dgm:pt modelId="{716A0B7F-83DD-4322-9651-DF6CBAB881D3}">
      <dgm:prSet/>
      <dgm:spPr/>
      <dgm:t>
        <a:bodyPr/>
        <a:lstStyle/>
        <a:p>
          <a:r>
            <a:rPr lang="en-US">
              <a:effectLst/>
            </a:rPr>
            <a:t>Flight details</a:t>
          </a:r>
          <a:r>
            <a:rPr lang="en-US" b="1">
              <a:effectLst/>
            </a:rPr>
            <a:t> </a:t>
          </a:r>
          <a:endParaRPr lang="de-DE"/>
        </a:p>
      </dgm:t>
    </dgm:pt>
    <dgm:pt modelId="{464FB9F1-95DC-4B36-97A5-3FECEDE6E0CD}" type="parTrans" cxnId="{3D67B0BE-AC8E-499C-804F-6ACA6F3A7FD3}">
      <dgm:prSet/>
      <dgm:spPr/>
      <dgm:t>
        <a:bodyPr/>
        <a:lstStyle/>
        <a:p>
          <a:endParaRPr lang="de-DE"/>
        </a:p>
      </dgm:t>
    </dgm:pt>
    <dgm:pt modelId="{1D4BE2D6-A1D7-4DF4-9014-F792DBB6B692}" type="sibTrans" cxnId="{3D67B0BE-AC8E-499C-804F-6ACA6F3A7FD3}">
      <dgm:prSet/>
      <dgm:spPr/>
      <dgm:t>
        <a:bodyPr/>
        <a:lstStyle/>
        <a:p>
          <a:endParaRPr lang="de-DE"/>
        </a:p>
      </dgm:t>
    </dgm:pt>
    <dgm:pt modelId="{B9F3DCC6-B383-456D-9910-E85893C5A668}">
      <dgm:prSet/>
      <dgm:spPr/>
      <dgm:t>
        <a:bodyPr/>
        <a:lstStyle/>
        <a:p>
          <a:r>
            <a:rPr lang="en-US">
              <a:effectLst/>
            </a:rPr>
            <a:t>Generate case</a:t>
          </a:r>
          <a:endParaRPr lang="de-DE"/>
        </a:p>
      </dgm:t>
    </dgm:pt>
    <dgm:pt modelId="{46B8EB1B-AD70-4059-BC4D-C5BDFA31AA0C}" type="parTrans" cxnId="{8D763BA4-D21E-4206-9E6D-49EB370F68B8}">
      <dgm:prSet/>
      <dgm:spPr/>
      <dgm:t>
        <a:bodyPr/>
        <a:lstStyle/>
        <a:p>
          <a:endParaRPr lang="de-DE"/>
        </a:p>
      </dgm:t>
    </dgm:pt>
    <dgm:pt modelId="{9D6D8BBA-1D4D-44F8-BDF6-81FF4042BF7C}" type="sibTrans" cxnId="{8D763BA4-D21E-4206-9E6D-49EB370F68B8}">
      <dgm:prSet/>
      <dgm:spPr/>
      <dgm:t>
        <a:bodyPr/>
        <a:lstStyle/>
        <a:p>
          <a:endParaRPr lang="de-DE"/>
        </a:p>
      </dgm:t>
    </dgm:pt>
    <dgm:pt modelId="{5EE54794-F3B9-4421-A568-EEE570E6E441}">
      <dgm:prSet/>
      <dgm:spPr/>
      <dgm:t>
        <a:bodyPr/>
        <a:lstStyle/>
        <a:p>
          <a:r>
            <a:rPr lang="en-US">
              <a:effectLst/>
            </a:rPr>
            <a:t>Passenger details</a:t>
          </a:r>
          <a:endParaRPr lang="de-DE"/>
        </a:p>
      </dgm:t>
    </dgm:pt>
    <dgm:pt modelId="{76ACA959-D8D8-46F4-9316-71856BEF77F8}" type="parTrans" cxnId="{72BDC7CB-12B0-4554-B457-805A531135B7}">
      <dgm:prSet/>
      <dgm:spPr/>
      <dgm:t>
        <a:bodyPr/>
        <a:lstStyle/>
        <a:p>
          <a:endParaRPr lang="de-DE"/>
        </a:p>
      </dgm:t>
    </dgm:pt>
    <dgm:pt modelId="{2DB49D66-DC5F-44C1-8C88-1F15D9FCB0A0}" type="sibTrans" cxnId="{72BDC7CB-12B0-4554-B457-805A531135B7}">
      <dgm:prSet/>
      <dgm:spPr/>
      <dgm:t>
        <a:bodyPr/>
        <a:lstStyle/>
        <a:p>
          <a:endParaRPr lang="de-DE"/>
        </a:p>
      </dgm:t>
    </dgm:pt>
    <dgm:pt modelId="{E67ABF44-5A57-4871-89DF-7B7BECD79B6A}">
      <dgm:prSet phldrT="[Text]"/>
      <dgm:spPr/>
      <dgm:t>
        <a:bodyPr/>
        <a:lstStyle/>
        <a:p>
          <a:r>
            <a:rPr lang="de-DE" err="1"/>
            <a:t>Denied</a:t>
          </a:r>
          <a:r>
            <a:rPr lang="de-DE"/>
            <a:t> </a:t>
          </a:r>
          <a:r>
            <a:rPr lang="de-DE" err="1"/>
            <a:t>boarding</a:t>
          </a:r>
          <a:endParaRPr lang="de-DE"/>
        </a:p>
      </dgm:t>
    </dgm:pt>
    <dgm:pt modelId="{5836A549-E8FF-4C71-8934-661FE7076C78}" type="parTrans" cxnId="{B752BE47-D503-470C-A9D9-6B9F5B6A316F}">
      <dgm:prSet/>
      <dgm:spPr/>
      <dgm:t>
        <a:bodyPr/>
        <a:lstStyle/>
        <a:p>
          <a:endParaRPr lang="de-DE"/>
        </a:p>
      </dgm:t>
    </dgm:pt>
    <dgm:pt modelId="{724D495D-799C-499C-BF24-51AEB7C60789}" type="sibTrans" cxnId="{B752BE47-D503-470C-A9D9-6B9F5B6A316F}">
      <dgm:prSet/>
      <dgm:spPr/>
      <dgm:t>
        <a:bodyPr/>
        <a:lstStyle/>
        <a:p>
          <a:endParaRPr lang="de-DE"/>
        </a:p>
      </dgm:t>
    </dgm:pt>
    <dgm:pt modelId="{0E6F678A-ABAA-410C-B7BF-6BAA958D636E}">
      <dgm:prSet phldrT="[Text]"/>
      <dgm:spPr/>
      <dgm:t>
        <a:bodyPr/>
        <a:lstStyle/>
        <a:p>
          <a:r>
            <a:rPr lang="de-DE" err="1"/>
            <a:t>Selection</a:t>
          </a:r>
          <a:r>
            <a:rPr lang="de-DE"/>
            <a:t> and Tex </a:t>
          </a:r>
          <a:r>
            <a:rPr lang="de-DE" err="1"/>
            <a:t>fields</a:t>
          </a:r>
          <a:endParaRPr lang="de-DE"/>
        </a:p>
      </dgm:t>
    </dgm:pt>
    <dgm:pt modelId="{36BB7851-4D54-42BB-87CC-8C90951D61F8}" type="parTrans" cxnId="{73877428-25F9-4E9F-96D7-6CFB4D7A60ED}">
      <dgm:prSet/>
      <dgm:spPr/>
      <dgm:t>
        <a:bodyPr/>
        <a:lstStyle/>
        <a:p>
          <a:endParaRPr lang="de-DE"/>
        </a:p>
      </dgm:t>
    </dgm:pt>
    <dgm:pt modelId="{3B052495-2737-405F-8FBA-4F60B9A94AA3}" type="sibTrans" cxnId="{73877428-25F9-4E9F-96D7-6CFB4D7A60ED}">
      <dgm:prSet/>
      <dgm:spPr/>
      <dgm:t>
        <a:bodyPr/>
        <a:lstStyle/>
        <a:p>
          <a:endParaRPr lang="de-DE"/>
        </a:p>
      </dgm:t>
    </dgm:pt>
    <dgm:pt modelId="{1566E89E-CA94-4A3E-A759-E23E099DDCEB}">
      <dgm:prSet/>
      <dgm:spPr/>
      <dgm:t>
        <a:bodyPr/>
        <a:lstStyle/>
        <a:p>
          <a:r>
            <a:rPr lang="de-DE"/>
            <a:t>GDPR and T&amp;C </a:t>
          </a:r>
          <a:r>
            <a:rPr lang="de-DE" err="1"/>
            <a:t>acceptance</a:t>
          </a:r>
          <a:endParaRPr lang="de-DE"/>
        </a:p>
      </dgm:t>
    </dgm:pt>
    <dgm:pt modelId="{F68FB52B-DB33-47E6-AF66-BBD326892938}" type="parTrans" cxnId="{30AB6394-C1B3-4989-BFEE-66E77CEA1BE3}">
      <dgm:prSet/>
      <dgm:spPr/>
      <dgm:t>
        <a:bodyPr/>
        <a:lstStyle/>
        <a:p>
          <a:endParaRPr lang="de-DE"/>
        </a:p>
      </dgm:t>
    </dgm:pt>
    <dgm:pt modelId="{6AF1B591-B1EF-41CA-B6AD-9C877F7FD1A1}" type="sibTrans" cxnId="{30AB6394-C1B3-4989-BFEE-66E77CEA1BE3}">
      <dgm:prSet/>
      <dgm:spPr/>
      <dgm:t>
        <a:bodyPr/>
        <a:lstStyle/>
        <a:p>
          <a:endParaRPr lang="de-DE"/>
        </a:p>
      </dgm:t>
    </dgm:pt>
    <dgm:pt modelId="{F9F56C65-CAF8-4C42-A587-4169BFAE4B28}">
      <dgm:prSet/>
      <dgm:spPr/>
      <dgm:t>
        <a:bodyPr/>
        <a:lstStyle/>
        <a:p>
          <a:r>
            <a:rPr lang="de-DE"/>
            <a:t>Capture </a:t>
          </a:r>
          <a:r>
            <a:rPr lang="de-DE" err="1"/>
            <a:t>flight</a:t>
          </a:r>
          <a:r>
            <a:rPr lang="de-DE"/>
            <a:t> </a:t>
          </a:r>
          <a:r>
            <a:rPr lang="de-DE" err="1"/>
            <a:t>nr</a:t>
          </a:r>
          <a:r>
            <a:rPr lang="de-DE"/>
            <a:t> and date </a:t>
          </a:r>
        </a:p>
      </dgm:t>
    </dgm:pt>
    <dgm:pt modelId="{AE95BDA4-4855-4D7D-83E5-C8177DC5967C}" type="parTrans" cxnId="{9C4C1344-31D1-4A2B-8022-8E1BE776FD36}">
      <dgm:prSet/>
      <dgm:spPr/>
      <dgm:t>
        <a:bodyPr/>
        <a:lstStyle/>
        <a:p>
          <a:endParaRPr lang="de-DE"/>
        </a:p>
      </dgm:t>
    </dgm:pt>
    <dgm:pt modelId="{A2885CA3-EBCC-4DD3-AC57-A5E53F733834}" type="sibTrans" cxnId="{9C4C1344-31D1-4A2B-8022-8E1BE776FD36}">
      <dgm:prSet/>
      <dgm:spPr/>
      <dgm:t>
        <a:bodyPr/>
        <a:lstStyle/>
        <a:p>
          <a:endParaRPr lang="de-DE"/>
        </a:p>
      </dgm:t>
    </dgm:pt>
    <dgm:pt modelId="{5914ED45-9183-48F5-B7F6-4523FB71C391}">
      <dgm:prSet/>
      <dgm:spPr/>
      <dgm:t>
        <a:bodyPr/>
        <a:lstStyle/>
        <a:p>
          <a:r>
            <a:rPr lang="de-DE"/>
            <a:t>Capture passenger </a:t>
          </a:r>
          <a:r>
            <a:rPr lang="de-DE" err="1"/>
            <a:t>addresses</a:t>
          </a:r>
          <a:r>
            <a:rPr lang="de-DE"/>
            <a:t> / </a:t>
          </a:r>
          <a:r>
            <a:rPr lang="de-DE" err="1"/>
            <a:t>contact</a:t>
          </a:r>
          <a:r>
            <a:rPr lang="de-DE"/>
            <a:t> </a:t>
          </a:r>
          <a:r>
            <a:rPr lang="de-DE" err="1"/>
            <a:t>details</a:t>
          </a:r>
          <a:endParaRPr lang="de-DE"/>
        </a:p>
      </dgm:t>
    </dgm:pt>
    <dgm:pt modelId="{1505C9FD-C577-4DB2-A76F-E3485CAAF71B}" type="parTrans" cxnId="{314249DF-1B24-4F8C-8714-5D538510F089}">
      <dgm:prSet/>
      <dgm:spPr/>
      <dgm:t>
        <a:bodyPr/>
        <a:lstStyle/>
        <a:p>
          <a:endParaRPr lang="de-DE"/>
        </a:p>
      </dgm:t>
    </dgm:pt>
    <dgm:pt modelId="{64B5F70E-40EB-43B9-9A29-C1EDD71252B9}" type="sibTrans" cxnId="{314249DF-1B24-4F8C-8714-5D538510F089}">
      <dgm:prSet/>
      <dgm:spPr/>
      <dgm:t>
        <a:bodyPr/>
        <a:lstStyle/>
        <a:p>
          <a:endParaRPr lang="de-DE"/>
        </a:p>
      </dgm:t>
    </dgm:pt>
    <dgm:pt modelId="{EB0A67AF-4832-4FE9-8D7C-53F115850443}">
      <dgm:prSet/>
      <dgm:spPr/>
      <dgm:t>
        <a:bodyPr/>
        <a:lstStyle/>
        <a:p>
          <a:r>
            <a:rPr lang="de-DE"/>
            <a:t>Generate PDF </a:t>
          </a:r>
        </a:p>
      </dgm:t>
    </dgm:pt>
    <dgm:pt modelId="{AC293B6D-D588-4586-ABB4-414ECC9C821C}" type="parTrans" cxnId="{E5B9A17E-DECE-4276-AF5A-51646DA688FE}">
      <dgm:prSet/>
      <dgm:spPr/>
      <dgm:t>
        <a:bodyPr/>
        <a:lstStyle/>
        <a:p>
          <a:endParaRPr lang="de-DE"/>
        </a:p>
      </dgm:t>
    </dgm:pt>
    <dgm:pt modelId="{8B4A0D51-4D35-446C-99FC-D8AAE0AC0201}" type="sibTrans" cxnId="{E5B9A17E-DECE-4276-AF5A-51646DA688FE}">
      <dgm:prSet/>
      <dgm:spPr/>
      <dgm:t>
        <a:bodyPr/>
        <a:lstStyle/>
        <a:p>
          <a:endParaRPr lang="de-DE"/>
        </a:p>
      </dgm:t>
    </dgm:pt>
    <dgm:pt modelId="{57088494-A3E7-42FB-8CD9-27B3AB4FABD0}">
      <dgm:prSet/>
      <dgm:spPr/>
      <dgm:t>
        <a:bodyPr/>
        <a:lstStyle/>
        <a:p>
          <a:r>
            <a:rPr lang="de-DE"/>
            <a:t>Send email </a:t>
          </a:r>
          <a:r>
            <a:rPr lang="de-DE" err="1"/>
            <a:t>with</a:t>
          </a:r>
          <a:r>
            <a:rPr lang="de-DE"/>
            <a:t> </a:t>
          </a:r>
          <a:r>
            <a:rPr lang="de-DE" err="1"/>
            <a:t>user</a:t>
          </a:r>
          <a:r>
            <a:rPr lang="de-DE"/>
            <a:t> </a:t>
          </a:r>
          <a:r>
            <a:rPr lang="de-DE" err="1"/>
            <a:t>details</a:t>
          </a:r>
          <a:r>
            <a:rPr lang="de-DE"/>
            <a:t>, </a:t>
          </a:r>
          <a:r>
            <a:rPr lang="de-DE" err="1"/>
            <a:t>contract</a:t>
          </a:r>
          <a:r>
            <a:rPr lang="de-DE"/>
            <a:t> and CTA </a:t>
          </a:r>
        </a:p>
      </dgm:t>
    </dgm:pt>
    <dgm:pt modelId="{3FDACFF3-995E-441F-8A5A-16607FC6FD26}" type="parTrans" cxnId="{A9BD0760-05E0-44EE-A0C8-B5616AF99F81}">
      <dgm:prSet/>
      <dgm:spPr/>
      <dgm:t>
        <a:bodyPr/>
        <a:lstStyle/>
        <a:p>
          <a:endParaRPr lang="de-DE"/>
        </a:p>
      </dgm:t>
    </dgm:pt>
    <dgm:pt modelId="{0BC6FEBD-63D2-4C8D-AA44-2A5A54E9A411}" type="sibTrans" cxnId="{A9BD0760-05E0-44EE-A0C8-B5616AF99F81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1125F2B-6953-4AC4-A2E6-3B2921EB92E7}" type="pres">
      <dgm:prSet presAssocID="{B9F3DCC6-B383-456D-9910-E85893C5A668}" presName="Accent7" presStyleCnt="0"/>
      <dgm:spPr/>
    </dgm:pt>
    <dgm:pt modelId="{58AE5524-D878-4369-A017-5552D38E253A}" type="pres">
      <dgm:prSet presAssocID="{B9F3DCC6-B383-456D-9910-E85893C5A668}" presName="Accent" presStyleLbl="node1" presStyleIdx="0" presStyleCnt="7"/>
      <dgm:spPr/>
    </dgm:pt>
    <dgm:pt modelId="{BCA4AC07-9191-4E0B-B364-AAF162821BBB}" type="pres">
      <dgm:prSet presAssocID="{B9F3DCC6-B383-456D-9910-E85893C5A668}" presName="ParentBackground7" presStyleCnt="0"/>
      <dgm:spPr/>
    </dgm:pt>
    <dgm:pt modelId="{1BBAE622-4659-4CF4-8096-CCF9FDB0F522}" type="pres">
      <dgm:prSet presAssocID="{B9F3DCC6-B383-456D-9910-E85893C5A668}" presName="ParentBackground" presStyleLbl="fgAcc1" presStyleIdx="0" presStyleCnt="7"/>
      <dgm:spPr/>
    </dgm:pt>
    <dgm:pt modelId="{BA550CEB-2F40-4171-A50D-9C4AC9477547}" type="pres">
      <dgm:prSet presAssocID="{B9F3DCC6-B383-456D-9910-E85893C5A668}" presName="Child7" presStyleLbl="revTx" presStyleIdx="0" presStyleCnt="7">
        <dgm:presLayoutVars>
          <dgm:chMax val="0"/>
          <dgm:chPref val="0"/>
          <dgm:bulletEnabled val="1"/>
        </dgm:presLayoutVars>
      </dgm:prSet>
      <dgm:spPr/>
    </dgm:pt>
    <dgm:pt modelId="{C0354D40-91F0-4861-8130-E7DA4D4EA4F0}" type="pres">
      <dgm:prSet presAssocID="{B9F3DCC6-B383-456D-9910-E85893C5A668}" presName="Parent7" presStyleLbl="revTx" presStyleIdx="0" presStyleCnt="7">
        <dgm:presLayoutVars>
          <dgm:chMax val="1"/>
          <dgm:chPref val="1"/>
          <dgm:bulletEnabled val="1"/>
        </dgm:presLayoutVars>
      </dgm:prSet>
      <dgm:spPr/>
    </dgm:pt>
    <dgm:pt modelId="{188AA372-D903-40B7-BEA1-392F8D877058}" type="pres">
      <dgm:prSet presAssocID="{5EE54794-F3B9-4421-A568-EEE570E6E441}" presName="Accent6" presStyleCnt="0"/>
      <dgm:spPr/>
    </dgm:pt>
    <dgm:pt modelId="{25E5E569-94A5-4F76-8619-243CCCB6AF10}" type="pres">
      <dgm:prSet presAssocID="{5EE54794-F3B9-4421-A568-EEE570E6E441}" presName="Accent" presStyleLbl="node1" presStyleIdx="1" presStyleCnt="7"/>
      <dgm:spPr/>
    </dgm:pt>
    <dgm:pt modelId="{F1039782-F3D7-44EE-958C-4532119EF227}" type="pres">
      <dgm:prSet presAssocID="{5EE54794-F3B9-4421-A568-EEE570E6E441}" presName="ParentBackground6" presStyleCnt="0"/>
      <dgm:spPr/>
    </dgm:pt>
    <dgm:pt modelId="{12A899B2-BF1D-491D-BEB9-39FE7B5E55D9}" type="pres">
      <dgm:prSet presAssocID="{5EE54794-F3B9-4421-A568-EEE570E6E441}" presName="ParentBackground" presStyleLbl="fgAcc1" presStyleIdx="1" presStyleCnt="7"/>
      <dgm:spPr/>
    </dgm:pt>
    <dgm:pt modelId="{B2520E41-EA81-44D0-8C50-150FF4729EE9}" type="pres">
      <dgm:prSet presAssocID="{5EE54794-F3B9-4421-A568-EEE570E6E441}" presName="Child6" presStyleLbl="revTx" presStyleIdx="1" presStyleCnt="7">
        <dgm:presLayoutVars>
          <dgm:chMax val="0"/>
          <dgm:chPref val="0"/>
          <dgm:bulletEnabled val="1"/>
        </dgm:presLayoutVars>
      </dgm:prSet>
      <dgm:spPr/>
    </dgm:pt>
    <dgm:pt modelId="{9CD4D338-55D2-4065-B4C0-98BEA675125E}" type="pres">
      <dgm:prSet presAssocID="{5EE54794-F3B9-4421-A568-EEE570E6E441}" presName="Parent6" presStyleLbl="revTx" presStyleIdx="1" presStyleCnt="7">
        <dgm:presLayoutVars>
          <dgm:chMax val="1"/>
          <dgm:chPref val="1"/>
          <dgm:bulletEnabled val="1"/>
        </dgm:presLayoutVars>
      </dgm:prSet>
      <dgm:spPr/>
    </dgm:pt>
    <dgm:pt modelId="{63FE58F6-B616-4DE8-9CD0-C8F5FB54419A}" type="pres">
      <dgm:prSet presAssocID="{716A0B7F-83DD-4322-9651-DF6CBAB881D3}" presName="Accent5" presStyleCnt="0"/>
      <dgm:spPr/>
    </dgm:pt>
    <dgm:pt modelId="{D5E48EE8-7A17-4F79-B075-99F1F79400D2}" type="pres">
      <dgm:prSet presAssocID="{716A0B7F-83DD-4322-9651-DF6CBAB881D3}" presName="Accent" presStyleLbl="node1" presStyleIdx="2" presStyleCnt="7"/>
      <dgm:spPr/>
    </dgm:pt>
    <dgm:pt modelId="{2CD283DB-BF2F-4E8F-88A6-7A71A87E08A2}" type="pres">
      <dgm:prSet presAssocID="{716A0B7F-83DD-4322-9651-DF6CBAB881D3}" presName="ParentBackground5" presStyleCnt="0"/>
      <dgm:spPr/>
    </dgm:pt>
    <dgm:pt modelId="{ED758634-274F-4425-8C3A-6545FF4155E4}" type="pres">
      <dgm:prSet presAssocID="{716A0B7F-83DD-4322-9651-DF6CBAB881D3}" presName="ParentBackground" presStyleLbl="fgAcc1" presStyleIdx="2" presStyleCnt="7"/>
      <dgm:spPr/>
    </dgm:pt>
    <dgm:pt modelId="{FCE8BFFF-C4D8-4D09-BF19-8A80EDE012B7}" type="pres">
      <dgm:prSet presAssocID="{716A0B7F-83DD-4322-9651-DF6CBAB881D3}" presName="Child5" presStyleLbl="revTx" presStyleIdx="2" presStyleCnt="7">
        <dgm:presLayoutVars>
          <dgm:chMax val="0"/>
          <dgm:chPref val="0"/>
          <dgm:bulletEnabled val="1"/>
        </dgm:presLayoutVars>
      </dgm:prSet>
      <dgm:spPr/>
    </dgm:pt>
    <dgm:pt modelId="{0879E896-97B8-4381-A530-5EA20C75DD9C}" type="pres">
      <dgm:prSet presAssocID="{716A0B7F-83DD-4322-9651-DF6CBAB881D3}" presName="Parent5" presStyleLbl="revTx" presStyleIdx="2" presStyleCnt="7">
        <dgm:presLayoutVars>
          <dgm:chMax val="1"/>
          <dgm:chPref val="1"/>
          <dgm:bulletEnabled val="1"/>
        </dgm:presLayoutVars>
      </dgm:prSet>
      <dgm:spPr/>
    </dgm:pt>
    <dgm:pt modelId="{5767305E-9425-4DDE-9BF3-CC69E5F23277}" type="pres">
      <dgm:prSet presAssocID="{2AFB5665-47E9-4C03-83A0-A5A7F65C39B7}" presName="Accent4" presStyleCnt="0"/>
      <dgm:spPr/>
    </dgm:pt>
    <dgm:pt modelId="{6CBCB8AA-64CE-4D46-9AD2-28BEF1323A4F}" type="pres">
      <dgm:prSet presAssocID="{2AFB5665-47E9-4C03-83A0-A5A7F65C39B7}" presName="Accent" presStyleLbl="node1" presStyleIdx="3" presStyleCnt="7"/>
      <dgm:spPr/>
    </dgm:pt>
    <dgm:pt modelId="{FD0BBFEE-5A2F-44C3-9205-9253BDE63734}" type="pres">
      <dgm:prSet presAssocID="{2AFB5665-47E9-4C03-83A0-A5A7F65C39B7}" presName="ParentBackground4" presStyleCnt="0"/>
      <dgm:spPr/>
    </dgm:pt>
    <dgm:pt modelId="{8AC99988-1114-4571-9A0A-B59698522294}" type="pres">
      <dgm:prSet presAssocID="{2AFB5665-47E9-4C03-83A0-A5A7F65C39B7}" presName="ParentBackground" presStyleLbl="fgAcc1" presStyleIdx="3" presStyleCnt="7"/>
      <dgm:spPr/>
    </dgm:pt>
    <dgm:pt modelId="{8050D6DD-CF86-421E-97A0-3690742C02D7}" type="pres">
      <dgm:prSet presAssocID="{2AFB5665-47E9-4C03-83A0-A5A7F65C39B7}" presName="Child4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72949EEF-E70E-4E19-81D0-B0E4644FCE96}" type="pres">
      <dgm:prSet presAssocID="{2AFB5665-47E9-4C03-83A0-A5A7F65C39B7}" presName="Parent4" presStyleLbl="revTx" presStyleIdx="3" presStyleCnt="7">
        <dgm:presLayoutVars>
          <dgm:chMax val="1"/>
          <dgm:chPref val="1"/>
          <dgm:bulletEnabled val="1"/>
        </dgm:presLayoutVars>
      </dgm:prSet>
      <dgm:spPr/>
    </dgm:pt>
    <dgm:pt modelId="{3924FE6C-A42E-4A43-973A-14C51813C573}" type="pres">
      <dgm:prSet presAssocID="{204882BF-9587-48E9-816B-8AE1D596D313}" presName="Accent3" presStyleCnt="0"/>
      <dgm:spPr/>
    </dgm:pt>
    <dgm:pt modelId="{E96606EC-E5AF-4820-98C8-A8B7CA13B7D0}" type="pres">
      <dgm:prSet presAssocID="{204882BF-9587-48E9-816B-8AE1D596D313}" presName="Accent" presStyleLbl="node1" presStyleIdx="4" presStyleCnt="7"/>
      <dgm:spPr/>
    </dgm:pt>
    <dgm:pt modelId="{598296DA-D6D4-492D-A807-3336F3EF4443}" type="pres">
      <dgm:prSet presAssocID="{204882BF-9587-48E9-816B-8AE1D596D313}" presName="ParentBackground3" presStyleCnt="0"/>
      <dgm:spPr/>
    </dgm:pt>
    <dgm:pt modelId="{119CCD83-65DB-4C65-9388-B4F88C581B08}" type="pres">
      <dgm:prSet presAssocID="{204882BF-9587-48E9-816B-8AE1D596D313}" presName="ParentBackground" presStyleLbl="fgAcc1" presStyleIdx="4" presStyleCnt="7"/>
      <dgm:spPr/>
    </dgm:pt>
    <dgm:pt modelId="{20C5D387-AD28-45A5-ABAC-86FB9350A9D5}" type="pres">
      <dgm:prSet presAssocID="{204882BF-9587-48E9-816B-8AE1D596D313}" presName="Child3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610691B8-AC92-4DC1-A412-28AB876BF001}" type="pres">
      <dgm:prSet presAssocID="{204882BF-9587-48E9-816B-8AE1D596D313}" presName="Parent3" presStyleLbl="revTx" presStyleIdx="4" presStyleCnt="7">
        <dgm:presLayoutVars>
          <dgm:chMax val="1"/>
          <dgm:chPref val="1"/>
          <dgm:bulletEnabled val="1"/>
        </dgm:presLayoutVars>
      </dgm:prSet>
      <dgm:spPr/>
    </dgm:pt>
    <dgm:pt modelId="{DC5385CA-60A7-4839-B26D-D9B8D00FE554}" type="pres">
      <dgm:prSet presAssocID="{A2459BEC-E48A-46C6-9D5A-7B82D09B2813}" presName="Accent2" presStyleCnt="0"/>
      <dgm:spPr/>
    </dgm:pt>
    <dgm:pt modelId="{1765BADE-19C8-4C50-B942-5244CC1E47F9}" type="pres">
      <dgm:prSet presAssocID="{A2459BEC-E48A-46C6-9D5A-7B82D09B2813}" presName="Accent" presStyleLbl="node1" presStyleIdx="5" presStyleCnt="7"/>
      <dgm:spPr/>
    </dgm:pt>
    <dgm:pt modelId="{F41DE7B1-C762-4E38-9885-EF6B8EA89381}" type="pres">
      <dgm:prSet presAssocID="{A2459BEC-E48A-46C6-9D5A-7B82D09B2813}" presName="ParentBackground2" presStyleCnt="0"/>
      <dgm:spPr/>
    </dgm:pt>
    <dgm:pt modelId="{2DB82A63-5863-4150-95A0-6067D616E8AF}" type="pres">
      <dgm:prSet presAssocID="{A2459BEC-E48A-46C6-9D5A-7B82D09B2813}" presName="ParentBackground" presStyleLbl="fgAcc1" presStyleIdx="5" presStyleCnt="7"/>
      <dgm:spPr/>
    </dgm:pt>
    <dgm:pt modelId="{90F8B9B7-378D-459E-8880-C1037BEEEA3D}" type="pres">
      <dgm:prSet presAssocID="{A2459BEC-E48A-46C6-9D5A-7B82D09B2813}" presName="Child2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B3468499-3824-4FB6-96B6-70C0B841BE25}" type="pres">
      <dgm:prSet presAssocID="{A2459BEC-E48A-46C6-9D5A-7B82D09B2813}" presName="Parent2" presStyleLbl="revTx" presStyleIdx="5" presStyleCnt="7">
        <dgm:presLayoutVars>
          <dgm:chMax val="1"/>
          <dgm:chPref val="1"/>
          <dgm:bulletEnabled val="1"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6" presStyleCnt="7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6" presStyleCnt="7"/>
      <dgm:spPr/>
    </dgm:pt>
    <dgm:pt modelId="{5B8EAFF4-0B4E-4CEA-8576-B75743700877}" type="pres">
      <dgm:prSet presAssocID="{841FA46C-349C-4C2A-BE51-334DC3D890CC}" presName="Child1" presStyleLbl="revTx" presStyleIdx="6" presStyleCnt="7">
        <dgm:presLayoutVars>
          <dgm:chMax val="0"/>
          <dgm:chPref val="0"/>
          <dgm:bulletEnabled val="1"/>
        </dgm:presLayoutVars>
      </dgm:prSet>
      <dgm:spPr/>
    </dgm:pt>
    <dgm:pt modelId="{61BEECF3-0457-48AE-AD79-2A6289A8221E}" type="pres">
      <dgm:prSet presAssocID="{841FA46C-349C-4C2A-BE51-334DC3D890CC}" presName="Parent1" presStyleLbl="revTx" presStyleIdx="6" presStyleCnt="7">
        <dgm:presLayoutVars>
          <dgm:chMax val="1"/>
          <dgm:chPref val="1"/>
          <dgm:bulletEnabled val="1"/>
        </dgm:presLayoutVars>
      </dgm:prSet>
      <dgm:spPr/>
    </dgm:pt>
  </dgm:ptLst>
  <dgm:cxnLst>
    <dgm:cxn modelId="{5ECD3804-A323-4961-8676-694F4E502868}" type="presOf" srcId="{7148D035-32F4-42E2-ABAD-BC9EBAA99ABF}" destId="{90F8B9B7-378D-459E-8880-C1037BEEEA3D}" srcOrd="0" destOrd="0" presId="urn:microsoft.com/office/officeart/2011/layout/CircleProcess"/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4154CB10-B4B3-4331-8F1C-04B6C1DE99A6}" srcId="{841FA46C-349C-4C2A-BE51-334DC3D890CC}" destId="{ED704707-9E4A-4B4A-836F-0E3827082813}" srcOrd="1" destOrd="0" parTransId="{770D511F-275C-453E-BCBF-C31049C75FF1}" sibTransId="{165C638E-E2A5-4545-B495-305D212AF21D}"/>
    <dgm:cxn modelId="{37067215-0506-4215-BD19-5A7D66AC5EC4}" type="presOf" srcId="{E67ABF44-5A57-4871-89DF-7B7BECD79B6A}" destId="{90F8B9B7-378D-459E-8880-C1037BEEEA3D}" srcOrd="0" destOrd="2" presId="urn:microsoft.com/office/officeart/2011/layout/CircleProcess"/>
    <dgm:cxn modelId="{8FC63A17-FA21-439F-BE7E-ECD1FF7DBA72}" srcId="{121632BA-6F47-4794-B93D-D59F35DFE472}" destId="{A2459BEC-E48A-46C6-9D5A-7B82D09B2813}" srcOrd="1" destOrd="0" parTransId="{422D90D2-010B-47C0-B1DE-35EBAEA01B97}" sibTransId="{0AC5B934-381F-4C31-8277-263BC618B6B9}"/>
    <dgm:cxn modelId="{42A23A18-D591-4D5F-B249-54A3BCC6106C}" type="presOf" srcId="{204882BF-9587-48E9-816B-8AE1D596D313}" destId="{610691B8-AC92-4DC1-A412-28AB876BF001}" srcOrd="1" destOrd="0" presId="urn:microsoft.com/office/officeart/2011/layout/CircleProcess"/>
    <dgm:cxn modelId="{5FABF01C-0503-4935-9F8D-D66B8AA8CE0E}" type="presOf" srcId="{2AFB5665-47E9-4C03-83A0-A5A7F65C39B7}" destId="{8AC99988-1114-4571-9A0A-B59698522294}" srcOrd="0" destOrd="0" presId="urn:microsoft.com/office/officeart/2011/layout/CircleProcess"/>
    <dgm:cxn modelId="{5B795D1E-DCE1-42DA-AFF6-47FD933C7D89}" srcId="{2AFB5665-47E9-4C03-83A0-A5A7F65C39B7}" destId="{387EC6A7-A917-44AD-B154-837523FDA648}" srcOrd="0" destOrd="0" parTransId="{903347E7-77C5-423F-9BD6-F0F05F306967}" sibTransId="{4BA05A03-C155-4E27-9DEB-8B2980ECDA33}"/>
    <dgm:cxn modelId="{9532C61F-EE96-4419-8EB7-7D6452F9AC7A}" type="presOf" srcId="{204882BF-9587-48E9-816B-8AE1D596D313}" destId="{119CCD83-65DB-4C65-9388-B4F88C581B08}" srcOrd="0" destOrd="0" presId="urn:microsoft.com/office/officeart/2011/layout/CircleProcess"/>
    <dgm:cxn modelId="{73877428-25F9-4E9F-96D7-6CFB4D7A60ED}" srcId="{204882BF-9587-48E9-816B-8AE1D596D313}" destId="{0E6F678A-ABAA-410C-B7BF-6BAA958D636E}" srcOrd="1" destOrd="0" parTransId="{36BB7851-4D54-42BB-87CC-8C90951D61F8}" sibTransId="{3B052495-2737-405F-8FBA-4F60B9A94AA3}"/>
    <dgm:cxn modelId="{5741FE2C-D095-4519-86BD-E358EA420B34}" type="presOf" srcId="{716A0B7F-83DD-4322-9651-DF6CBAB881D3}" destId="{0879E896-97B8-4381-A530-5EA20C75DD9C}" srcOrd="1" destOrd="0" presId="urn:microsoft.com/office/officeart/2011/layout/CircleProcess"/>
    <dgm:cxn modelId="{A9BD0760-05E0-44EE-A0C8-B5616AF99F81}" srcId="{B9F3DCC6-B383-456D-9910-E85893C5A668}" destId="{57088494-A3E7-42FB-8CD9-27B3AB4FABD0}" srcOrd="1" destOrd="0" parTransId="{3FDACFF3-995E-441F-8A5A-16607FC6FD26}" sibTransId="{0BC6FEBD-63D2-4C8D-AA44-2A5A54E9A411}"/>
    <dgm:cxn modelId="{6EF8B441-9D3A-4664-8D2D-61DAF2455809}" srcId="{204882BF-9587-48E9-816B-8AE1D596D313}" destId="{21CEF7A1-E712-4D67-859E-A479213D641B}" srcOrd="0" destOrd="0" parTransId="{E15E80FA-A880-41F2-84AF-C0B750E0D810}" sibTransId="{1F16D14B-C1AB-4C45-85DC-9CC20317A8A2}"/>
    <dgm:cxn modelId="{9C4C1344-31D1-4A2B-8022-8E1BE776FD36}" srcId="{716A0B7F-83DD-4322-9651-DF6CBAB881D3}" destId="{F9F56C65-CAF8-4C42-A587-4169BFAE4B28}" srcOrd="0" destOrd="0" parTransId="{AE95BDA4-4855-4D7D-83E5-C8177DC5967C}" sibTransId="{A2885CA3-EBCC-4DD3-AC57-A5E53F733834}"/>
    <dgm:cxn modelId="{B1155765-2FDB-42F7-92C1-289E23D89636}" type="presOf" srcId="{5914ED45-9183-48F5-B7F6-4523FB71C391}" destId="{B2520E41-EA81-44D0-8C50-150FF4729EE9}" srcOrd="0" destOrd="0" presId="urn:microsoft.com/office/officeart/2011/layout/CircleProcess"/>
    <dgm:cxn modelId="{F17B4467-4B5E-49D0-BF92-D21158D67DDB}" type="presOf" srcId="{716A0B7F-83DD-4322-9651-DF6CBAB881D3}" destId="{ED758634-274F-4425-8C3A-6545FF4155E4}" srcOrd="0" destOrd="0" presId="urn:microsoft.com/office/officeart/2011/layout/CircleProcess"/>
    <dgm:cxn modelId="{B752BE47-D503-470C-A9D9-6B9F5B6A316F}" srcId="{A2459BEC-E48A-46C6-9D5A-7B82D09B2813}" destId="{E67ABF44-5A57-4871-89DF-7B7BECD79B6A}" srcOrd="2" destOrd="0" parTransId="{5836A549-E8FF-4C71-8934-661FE7076C78}" sibTransId="{724D495D-799C-499C-BF24-51AEB7C60789}"/>
    <dgm:cxn modelId="{43437B48-B8C9-4C64-8F51-A3431DEE8518}" type="presOf" srcId="{57088494-A3E7-42FB-8CD9-27B3AB4FABD0}" destId="{BA550CEB-2F40-4171-A50D-9C4AC9477547}" srcOrd="0" destOrd="1" presId="urn:microsoft.com/office/officeart/2011/layout/CircleProcess"/>
    <dgm:cxn modelId="{00C6165A-1A39-4E34-BD42-30D2E1C03706}" type="presOf" srcId="{A2459BEC-E48A-46C6-9D5A-7B82D09B2813}" destId="{B3468499-3824-4FB6-96B6-70C0B841BE25}" srcOrd="1" destOrd="0" presId="urn:microsoft.com/office/officeart/2011/layout/CircleProcess"/>
    <dgm:cxn modelId="{E5B9A17E-DECE-4276-AF5A-51646DA688FE}" srcId="{B9F3DCC6-B383-456D-9910-E85893C5A668}" destId="{EB0A67AF-4832-4FE9-8D7C-53F115850443}" srcOrd="0" destOrd="0" parTransId="{AC293B6D-D588-4586-ABB4-414ECC9C821C}" sibTransId="{8B4A0D51-4D35-446C-99FC-D8AAE0AC0201}"/>
    <dgm:cxn modelId="{BA69677F-FF36-42C1-99A6-A9849A5BE978}" srcId="{121632BA-6F47-4794-B93D-D59F35DFE472}" destId="{2AFB5665-47E9-4C03-83A0-A5A7F65C39B7}" srcOrd="3" destOrd="0" parTransId="{4C4C3E67-F44D-42C2-9196-D0160ABB4807}" sibTransId="{BBCF19DF-50DE-4057-B82D-DE2F94BA2907}"/>
    <dgm:cxn modelId="{45F24283-7620-41FA-9A18-31432764E14F}" type="presOf" srcId="{F9F56C65-CAF8-4C42-A587-4169BFAE4B28}" destId="{FCE8BFFF-C4D8-4D09-BF19-8A80EDE012B7}" srcOrd="0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5D4D9289-A539-4EA3-B362-4682019A0671}" type="presOf" srcId="{EB0A67AF-4832-4FE9-8D7C-53F115850443}" destId="{BA550CEB-2F40-4171-A50D-9C4AC9477547}" srcOrd="0" destOrd="0" presId="urn:microsoft.com/office/officeart/2011/layout/CircleProcess"/>
    <dgm:cxn modelId="{BFB63D8C-FE3D-4EA9-83D4-D6DCA1BB4C74}" type="presOf" srcId="{2AFB5665-47E9-4C03-83A0-A5A7F65C39B7}" destId="{72949EEF-E70E-4E19-81D0-B0E4644FCE96}" srcOrd="1" destOrd="0" presId="urn:microsoft.com/office/officeart/2011/layout/CircleProcess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30AB6394-C1B3-4989-BFEE-66E77CEA1BE3}" srcId="{2AFB5665-47E9-4C03-83A0-A5A7F65C39B7}" destId="{1566E89E-CA94-4A3E-A759-E23E099DDCEB}" srcOrd="1" destOrd="0" parTransId="{F68FB52B-DB33-47E6-AF66-BBD326892938}" sibTransId="{6AF1B591-B1EF-41CA-B6AD-9C877F7FD1A1}"/>
    <dgm:cxn modelId="{8D763BA4-D21E-4206-9E6D-49EB370F68B8}" srcId="{121632BA-6F47-4794-B93D-D59F35DFE472}" destId="{B9F3DCC6-B383-456D-9910-E85893C5A668}" srcOrd="6" destOrd="0" parTransId="{46B8EB1B-AD70-4059-BC4D-C5BDFA31AA0C}" sibTransId="{9D6D8BBA-1D4D-44F8-BDF6-81FF4042BF7C}"/>
    <dgm:cxn modelId="{2FB281A5-CDF6-4BDA-953B-D38D3F2EEA9D}" type="presOf" srcId="{5EE54794-F3B9-4421-A568-EEE570E6E441}" destId="{12A899B2-BF1D-491D-BEB9-39FE7B5E55D9}" srcOrd="0" destOrd="0" presId="urn:microsoft.com/office/officeart/2011/layout/CircleProcess"/>
    <dgm:cxn modelId="{1C0A1BA8-5E5B-4391-98D5-DEA9D76A45FD}" type="presOf" srcId="{CD871954-5980-4BB3-9F81-B4FCF9D80CF2}" destId="{90F8B9B7-378D-459E-8880-C1037BEEEA3D}" srcOrd="0" destOrd="1" presId="urn:microsoft.com/office/officeart/2011/layout/CircleProcess"/>
    <dgm:cxn modelId="{AB6A20B7-130A-46DC-81E0-4A714A8EE775}" srcId="{121632BA-6F47-4794-B93D-D59F35DFE472}" destId="{204882BF-9587-48E9-816B-8AE1D596D313}" srcOrd="2" destOrd="0" parTransId="{66A7DE7E-A271-4175-8ACB-A61CBC0B1736}" sibTransId="{57B0A944-A8B1-48C7-AFDE-0D1F414EAB90}"/>
    <dgm:cxn modelId="{8E788EBC-D844-4BD0-9440-891C58FA1103}" type="presOf" srcId="{1566E89E-CA94-4A3E-A759-E23E099DDCEB}" destId="{8050D6DD-CF86-421E-97A0-3690742C02D7}" srcOrd="0" destOrd="1" presId="urn:microsoft.com/office/officeart/2011/layout/CircleProcess"/>
    <dgm:cxn modelId="{3D67B0BE-AC8E-499C-804F-6ACA6F3A7FD3}" srcId="{121632BA-6F47-4794-B93D-D59F35DFE472}" destId="{716A0B7F-83DD-4322-9651-DF6CBAB881D3}" srcOrd="4" destOrd="0" parTransId="{464FB9F1-95DC-4B36-97A5-3FECEDE6E0CD}" sibTransId="{1D4BE2D6-A1D7-4DF4-9014-F792DBB6B692}"/>
    <dgm:cxn modelId="{B1F13EC5-4120-4D5E-B13D-97BA7A906D1F}" type="presOf" srcId="{B9F3DCC6-B383-456D-9910-E85893C5A668}" destId="{1BBAE622-4659-4CF4-8096-CCF9FDB0F522}" srcOrd="0" destOrd="0" presId="urn:microsoft.com/office/officeart/2011/layout/CircleProcess"/>
    <dgm:cxn modelId="{CEE8A8C5-27F4-4AC7-B948-F042782F7B29}" type="presOf" srcId="{5EE54794-F3B9-4421-A568-EEE570E6E441}" destId="{9CD4D338-55D2-4065-B4C0-98BEA675125E}" srcOrd="1" destOrd="0" presId="urn:microsoft.com/office/officeart/2011/layout/CircleProcess"/>
    <dgm:cxn modelId="{1EA5A0C7-273E-43CA-BD0A-B98ED1D8929F}" type="presOf" srcId="{B9F3DCC6-B383-456D-9910-E85893C5A668}" destId="{C0354D40-91F0-4861-8130-E7DA4D4EA4F0}" srcOrd="1" destOrd="0" presId="urn:microsoft.com/office/officeart/2011/layout/CircleProcess"/>
    <dgm:cxn modelId="{6578FAC8-E67A-43E7-91AA-8448D1EFC912}" srcId="{A2459BEC-E48A-46C6-9D5A-7B82D09B2813}" destId="{7148D035-32F4-42E2-ABAD-BC9EBAA99ABF}" srcOrd="0" destOrd="0" parTransId="{EEC67565-3B3D-4126-ACDC-06D9F4B135EC}" sibTransId="{6D6EC9A5-0786-4E7A-A38A-CF0EEFC16F2F}"/>
    <dgm:cxn modelId="{72BDC7CB-12B0-4554-B457-805A531135B7}" srcId="{121632BA-6F47-4794-B93D-D59F35DFE472}" destId="{5EE54794-F3B9-4421-A568-EEE570E6E441}" srcOrd="5" destOrd="0" parTransId="{76ACA959-D8D8-46F4-9316-71856BEF77F8}" sibTransId="{2DB49D66-DC5F-44C1-8C88-1F15D9FCB0A0}"/>
    <dgm:cxn modelId="{E4FF6FD6-6D08-4F1C-860A-4DA422892F62}" srcId="{A2459BEC-E48A-46C6-9D5A-7B82D09B2813}" destId="{CD871954-5980-4BB3-9F81-B4FCF9D80CF2}" srcOrd="1" destOrd="0" parTransId="{6AADE61A-E362-42B8-9DA7-F32C7ED0E4D7}" sibTransId="{DE078732-49F5-4C02-9AB5-9E3A776D8767}"/>
    <dgm:cxn modelId="{A31C2DDA-D2F3-432C-B535-B2E426062BFB}" type="presOf" srcId="{ED704707-9E4A-4B4A-836F-0E3827082813}" destId="{5B8EAFF4-0B4E-4CEA-8576-B75743700877}" srcOrd="0" destOrd="1" presId="urn:microsoft.com/office/officeart/2011/layout/CircleProcess"/>
    <dgm:cxn modelId="{314249DF-1B24-4F8C-8714-5D538510F089}" srcId="{5EE54794-F3B9-4421-A568-EEE570E6E441}" destId="{5914ED45-9183-48F5-B7F6-4523FB71C391}" srcOrd="0" destOrd="0" parTransId="{1505C9FD-C577-4DB2-A76F-E3485CAAF71B}" sibTransId="{64B5F70E-40EB-43B9-9A29-C1EDD71252B9}"/>
    <dgm:cxn modelId="{06BFD8E3-5972-49BB-8AD4-2100DC6D1424}" type="presOf" srcId="{A3F28A46-8B8E-4A1B-89DD-97E1E8298CE5}" destId="{5B8EAFF4-0B4E-4CEA-8576-B75743700877}" srcOrd="0" destOrd="0" presId="urn:microsoft.com/office/officeart/2011/layout/CircleProcess"/>
    <dgm:cxn modelId="{ED09DAE7-9A36-47EE-8B88-54AD9B592679}" type="presOf" srcId="{21CEF7A1-E712-4D67-859E-A479213D641B}" destId="{20C5D387-AD28-45A5-ABAC-86FB9350A9D5}" srcOrd="0" destOrd="0" presId="urn:microsoft.com/office/officeart/2011/layout/CircleProcess"/>
    <dgm:cxn modelId="{DC870EE9-43FD-4A55-B2C8-1FAEE909A24F}" type="presOf" srcId="{0E6F678A-ABAA-410C-B7BF-6BAA958D636E}" destId="{20C5D387-AD28-45A5-ABAC-86FB9350A9D5}" srcOrd="0" destOrd="1" presId="urn:microsoft.com/office/officeart/2011/layout/CircleProcess"/>
    <dgm:cxn modelId="{61D166ED-CBA7-45BA-8378-89D1AFE28380}" type="presOf" srcId="{A2459BEC-E48A-46C6-9D5A-7B82D09B2813}" destId="{2DB82A63-5863-4150-95A0-6067D616E8AF}" srcOrd="0" destOrd="0" presId="urn:microsoft.com/office/officeart/2011/layout/CircleProcess"/>
    <dgm:cxn modelId="{948D8CF4-20FD-4233-88B9-D66C8AF6C31D}" type="presOf" srcId="{387EC6A7-A917-44AD-B154-837523FDA648}" destId="{8050D6DD-CF86-421E-97A0-3690742C02D7}" srcOrd="0" destOrd="0" presId="urn:microsoft.com/office/officeart/2011/layout/CircleProcess"/>
    <dgm:cxn modelId="{48BF2FF9-67BE-488C-9E7B-5A76D1846A1E}" srcId="{841FA46C-349C-4C2A-BE51-334DC3D890CC}" destId="{A3F28A46-8B8E-4A1B-89DD-97E1E8298CE5}" srcOrd="0" destOrd="0" parTransId="{36D7274D-63C9-4814-AB47-75064A05C97C}" sibTransId="{FAF5416C-E4D6-4135-8E9D-BD415F572F9F}"/>
    <dgm:cxn modelId="{B2EDDD66-55EB-4996-9B77-947EB38F1AEB}" type="presParOf" srcId="{DAC65229-2F8F-41B9-8B47-E2BB5ECF834B}" destId="{E1125F2B-6953-4AC4-A2E6-3B2921EB92E7}" srcOrd="0" destOrd="0" presId="urn:microsoft.com/office/officeart/2011/layout/CircleProcess"/>
    <dgm:cxn modelId="{ED25CB84-135E-44DD-A5AE-2284ED34A9A3}" type="presParOf" srcId="{E1125F2B-6953-4AC4-A2E6-3B2921EB92E7}" destId="{58AE5524-D878-4369-A017-5552D38E253A}" srcOrd="0" destOrd="0" presId="urn:microsoft.com/office/officeart/2011/layout/CircleProcess"/>
    <dgm:cxn modelId="{E02068E8-7A0B-4C5A-A943-FEA22779395F}" type="presParOf" srcId="{DAC65229-2F8F-41B9-8B47-E2BB5ECF834B}" destId="{BCA4AC07-9191-4E0B-B364-AAF162821BBB}" srcOrd="1" destOrd="0" presId="urn:microsoft.com/office/officeart/2011/layout/CircleProcess"/>
    <dgm:cxn modelId="{A76B39B9-07D0-4499-A510-9B7777E80AC4}" type="presParOf" srcId="{BCA4AC07-9191-4E0B-B364-AAF162821BBB}" destId="{1BBAE622-4659-4CF4-8096-CCF9FDB0F522}" srcOrd="0" destOrd="0" presId="urn:microsoft.com/office/officeart/2011/layout/CircleProcess"/>
    <dgm:cxn modelId="{0065CE79-4470-4C34-A4AD-7FCA661F26B0}" type="presParOf" srcId="{DAC65229-2F8F-41B9-8B47-E2BB5ECF834B}" destId="{BA550CEB-2F40-4171-A50D-9C4AC9477547}" srcOrd="2" destOrd="0" presId="urn:microsoft.com/office/officeart/2011/layout/CircleProcess"/>
    <dgm:cxn modelId="{77E307C7-8E75-4A9F-B49B-6BC19DE918B9}" type="presParOf" srcId="{DAC65229-2F8F-41B9-8B47-E2BB5ECF834B}" destId="{C0354D40-91F0-4861-8130-E7DA4D4EA4F0}" srcOrd="3" destOrd="0" presId="urn:microsoft.com/office/officeart/2011/layout/CircleProcess"/>
    <dgm:cxn modelId="{CA3B03B1-9ADD-415D-A11E-6288790A2BCD}" type="presParOf" srcId="{DAC65229-2F8F-41B9-8B47-E2BB5ECF834B}" destId="{188AA372-D903-40B7-BEA1-392F8D877058}" srcOrd="4" destOrd="0" presId="urn:microsoft.com/office/officeart/2011/layout/CircleProcess"/>
    <dgm:cxn modelId="{B0F14DD4-C124-4BD6-9601-E1E5C7994E25}" type="presParOf" srcId="{188AA372-D903-40B7-BEA1-392F8D877058}" destId="{25E5E569-94A5-4F76-8619-243CCCB6AF10}" srcOrd="0" destOrd="0" presId="urn:microsoft.com/office/officeart/2011/layout/CircleProcess"/>
    <dgm:cxn modelId="{D2A71A77-60F8-4C2C-819A-E48FFE6A9CC4}" type="presParOf" srcId="{DAC65229-2F8F-41B9-8B47-E2BB5ECF834B}" destId="{F1039782-F3D7-44EE-958C-4532119EF227}" srcOrd="5" destOrd="0" presId="urn:microsoft.com/office/officeart/2011/layout/CircleProcess"/>
    <dgm:cxn modelId="{0DC8CBD2-F325-4243-9684-DE2C19DEA98F}" type="presParOf" srcId="{F1039782-F3D7-44EE-958C-4532119EF227}" destId="{12A899B2-BF1D-491D-BEB9-39FE7B5E55D9}" srcOrd="0" destOrd="0" presId="urn:microsoft.com/office/officeart/2011/layout/CircleProcess"/>
    <dgm:cxn modelId="{29E089A1-4D21-4132-9CB5-C90099A62A43}" type="presParOf" srcId="{DAC65229-2F8F-41B9-8B47-E2BB5ECF834B}" destId="{B2520E41-EA81-44D0-8C50-150FF4729EE9}" srcOrd="6" destOrd="0" presId="urn:microsoft.com/office/officeart/2011/layout/CircleProcess"/>
    <dgm:cxn modelId="{535EA6A1-9489-44A9-AB23-BCE2B585F638}" type="presParOf" srcId="{DAC65229-2F8F-41B9-8B47-E2BB5ECF834B}" destId="{9CD4D338-55D2-4065-B4C0-98BEA675125E}" srcOrd="7" destOrd="0" presId="urn:microsoft.com/office/officeart/2011/layout/CircleProcess"/>
    <dgm:cxn modelId="{1EBE931B-9013-4C34-938C-CC9BBF3E3B53}" type="presParOf" srcId="{DAC65229-2F8F-41B9-8B47-E2BB5ECF834B}" destId="{63FE58F6-B616-4DE8-9CD0-C8F5FB54419A}" srcOrd="8" destOrd="0" presId="urn:microsoft.com/office/officeart/2011/layout/CircleProcess"/>
    <dgm:cxn modelId="{4FF21924-9E54-4995-96CB-A53B7AB66704}" type="presParOf" srcId="{63FE58F6-B616-4DE8-9CD0-C8F5FB54419A}" destId="{D5E48EE8-7A17-4F79-B075-99F1F79400D2}" srcOrd="0" destOrd="0" presId="urn:microsoft.com/office/officeart/2011/layout/CircleProcess"/>
    <dgm:cxn modelId="{7B1161D1-79CC-4627-85C8-B44C161D7FBB}" type="presParOf" srcId="{DAC65229-2F8F-41B9-8B47-E2BB5ECF834B}" destId="{2CD283DB-BF2F-4E8F-88A6-7A71A87E08A2}" srcOrd="9" destOrd="0" presId="urn:microsoft.com/office/officeart/2011/layout/CircleProcess"/>
    <dgm:cxn modelId="{42B20273-9BD2-4CD5-A44B-98CC75EED969}" type="presParOf" srcId="{2CD283DB-BF2F-4E8F-88A6-7A71A87E08A2}" destId="{ED758634-274F-4425-8C3A-6545FF4155E4}" srcOrd="0" destOrd="0" presId="urn:microsoft.com/office/officeart/2011/layout/CircleProcess"/>
    <dgm:cxn modelId="{E97C849A-3F21-4464-BF4D-A828CCD2AC21}" type="presParOf" srcId="{DAC65229-2F8F-41B9-8B47-E2BB5ECF834B}" destId="{FCE8BFFF-C4D8-4D09-BF19-8A80EDE012B7}" srcOrd="10" destOrd="0" presId="urn:microsoft.com/office/officeart/2011/layout/CircleProcess"/>
    <dgm:cxn modelId="{C227C448-DC35-48F1-AD18-7301487DD026}" type="presParOf" srcId="{DAC65229-2F8F-41B9-8B47-E2BB5ECF834B}" destId="{0879E896-97B8-4381-A530-5EA20C75DD9C}" srcOrd="11" destOrd="0" presId="urn:microsoft.com/office/officeart/2011/layout/CircleProcess"/>
    <dgm:cxn modelId="{C0A1F986-D218-4488-9970-FBAC5600603B}" type="presParOf" srcId="{DAC65229-2F8F-41B9-8B47-E2BB5ECF834B}" destId="{5767305E-9425-4DDE-9BF3-CC69E5F23277}" srcOrd="12" destOrd="0" presId="urn:microsoft.com/office/officeart/2011/layout/CircleProcess"/>
    <dgm:cxn modelId="{67DEA0A6-1DD2-45AE-9D50-E78ABCD48446}" type="presParOf" srcId="{5767305E-9425-4DDE-9BF3-CC69E5F23277}" destId="{6CBCB8AA-64CE-4D46-9AD2-28BEF1323A4F}" srcOrd="0" destOrd="0" presId="urn:microsoft.com/office/officeart/2011/layout/CircleProcess"/>
    <dgm:cxn modelId="{D42FAA57-A002-4043-9FB4-1F54145FA9A2}" type="presParOf" srcId="{DAC65229-2F8F-41B9-8B47-E2BB5ECF834B}" destId="{FD0BBFEE-5A2F-44C3-9205-9253BDE63734}" srcOrd="13" destOrd="0" presId="urn:microsoft.com/office/officeart/2011/layout/CircleProcess"/>
    <dgm:cxn modelId="{1E946F39-7649-47D7-8DC9-EEC4271B703E}" type="presParOf" srcId="{FD0BBFEE-5A2F-44C3-9205-9253BDE63734}" destId="{8AC99988-1114-4571-9A0A-B59698522294}" srcOrd="0" destOrd="0" presId="urn:microsoft.com/office/officeart/2011/layout/CircleProcess"/>
    <dgm:cxn modelId="{D0382262-87B5-4D28-A1E3-DD277A912CF5}" type="presParOf" srcId="{DAC65229-2F8F-41B9-8B47-E2BB5ECF834B}" destId="{8050D6DD-CF86-421E-97A0-3690742C02D7}" srcOrd="14" destOrd="0" presId="urn:microsoft.com/office/officeart/2011/layout/CircleProcess"/>
    <dgm:cxn modelId="{FF81557E-DB38-4B93-8ECE-3ACF5B4AD88F}" type="presParOf" srcId="{DAC65229-2F8F-41B9-8B47-E2BB5ECF834B}" destId="{72949EEF-E70E-4E19-81D0-B0E4644FCE96}" srcOrd="15" destOrd="0" presId="urn:microsoft.com/office/officeart/2011/layout/CircleProcess"/>
    <dgm:cxn modelId="{B711090E-5695-42AA-B2E5-7ADD24F1C2EA}" type="presParOf" srcId="{DAC65229-2F8F-41B9-8B47-E2BB5ECF834B}" destId="{3924FE6C-A42E-4A43-973A-14C51813C573}" srcOrd="16" destOrd="0" presId="urn:microsoft.com/office/officeart/2011/layout/CircleProcess"/>
    <dgm:cxn modelId="{3F827D65-BE58-47CD-BAA9-468A0861F8B3}" type="presParOf" srcId="{3924FE6C-A42E-4A43-973A-14C51813C573}" destId="{E96606EC-E5AF-4820-98C8-A8B7CA13B7D0}" srcOrd="0" destOrd="0" presId="urn:microsoft.com/office/officeart/2011/layout/CircleProcess"/>
    <dgm:cxn modelId="{F400B964-3FE8-4722-84AA-8D9C0C6F360B}" type="presParOf" srcId="{DAC65229-2F8F-41B9-8B47-E2BB5ECF834B}" destId="{598296DA-D6D4-492D-A807-3336F3EF4443}" srcOrd="17" destOrd="0" presId="urn:microsoft.com/office/officeart/2011/layout/CircleProcess"/>
    <dgm:cxn modelId="{21DCA40E-466D-4BF4-8C73-E80353193A27}" type="presParOf" srcId="{598296DA-D6D4-492D-A807-3336F3EF4443}" destId="{119CCD83-65DB-4C65-9388-B4F88C581B08}" srcOrd="0" destOrd="0" presId="urn:microsoft.com/office/officeart/2011/layout/CircleProcess"/>
    <dgm:cxn modelId="{09A28F61-141C-441E-AB46-89051BBB7CE5}" type="presParOf" srcId="{DAC65229-2F8F-41B9-8B47-E2BB5ECF834B}" destId="{20C5D387-AD28-45A5-ABAC-86FB9350A9D5}" srcOrd="18" destOrd="0" presId="urn:microsoft.com/office/officeart/2011/layout/CircleProcess"/>
    <dgm:cxn modelId="{F3D27911-F5B7-4D4A-9537-C75A3CB74037}" type="presParOf" srcId="{DAC65229-2F8F-41B9-8B47-E2BB5ECF834B}" destId="{610691B8-AC92-4DC1-A412-28AB876BF001}" srcOrd="19" destOrd="0" presId="urn:microsoft.com/office/officeart/2011/layout/CircleProcess"/>
    <dgm:cxn modelId="{EE9662AA-5E04-4916-B5E4-B63E745506A9}" type="presParOf" srcId="{DAC65229-2F8F-41B9-8B47-E2BB5ECF834B}" destId="{DC5385CA-60A7-4839-B26D-D9B8D00FE554}" srcOrd="20" destOrd="0" presId="urn:microsoft.com/office/officeart/2011/layout/CircleProcess"/>
    <dgm:cxn modelId="{A33267E2-47BE-4E67-9736-C6516F000D6F}" type="presParOf" srcId="{DC5385CA-60A7-4839-B26D-D9B8D00FE554}" destId="{1765BADE-19C8-4C50-B942-5244CC1E47F9}" srcOrd="0" destOrd="0" presId="urn:microsoft.com/office/officeart/2011/layout/CircleProcess"/>
    <dgm:cxn modelId="{BA50383C-F072-40EB-9BB6-1B63262876BD}" type="presParOf" srcId="{DAC65229-2F8F-41B9-8B47-E2BB5ECF834B}" destId="{F41DE7B1-C762-4E38-9885-EF6B8EA89381}" srcOrd="21" destOrd="0" presId="urn:microsoft.com/office/officeart/2011/layout/CircleProcess"/>
    <dgm:cxn modelId="{91DD05D2-9265-4EF5-97A9-CAEB2DD39D75}" type="presParOf" srcId="{F41DE7B1-C762-4E38-9885-EF6B8EA89381}" destId="{2DB82A63-5863-4150-95A0-6067D616E8AF}" srcOrd="0" destOrd="0" presId="urn:microsoft.com/office/officeart/2011/layout/CircleProcess"/>
    <dgm:cxn modelId="{0E3FC363-DD30-448E-9F37-2589F333AD66}" type="presParOf" srcId="{DAC65229-2F8F-41B9-8B47-E2BB5ECF834B}" destId="{90F8B9B7-378D-459E-8880-C1037BEEEA3D}" srcOrd="22" destOrd="0" presId="urn:microsoft.com/office/officeart/2011/layout/CircleProcess"/>
    <dgm:cxn modelId="{C3686CD1-F22C-4A5C-B4CF-520269F2B042}" type="presParOf" srcId="{DAC65229-2F8F-41B9-8B47-E2BB5ECF834B}" destId="{B3468499-3824-4FB6-96B6-70C0B841BE25}" srcOrd="23" destOrd="0" presId="urn:microsoft.com/office/officeart/2011/layout/CircleProcess"/>
    <dgm:cxn modelId="{5A69195E-50C5-428C-8FA5-E9F6F37FCB4C}" type="presParOf" srcId="{DAC65229-2F8F-41B9-8B47-E2BB5ECF834B}" destId="{96079B4C-3C3C-4116-BDA7-34322C36A4C6}" srcOrd="24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25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78A70D6C-4C13-49CF-9B24-5AC7E972ABFC}" type="presParOf" srcId="{DAC65229-2F8F-41B9-8B47-E2BB5ECF834B}" destId="{5B8EAFF4-0B4E-4CEA-8576-B75743700877}" srcOrd="26" destOrd="0" presId="urn:microsoft.com/office/officeart/2011/layout/CircleProcess"/>
    <dgm:cxn modelId="{D99BC41C-56A2-41C1-8E73-984A510B7175}" type="presParOf" srcId="{DAC65229-2F8F-41B9-8B47-E2BB5ECF834B}" destId="{61BEECF3-0457-48AE-AD79-2A6289A8221E}" srcOrd="2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/>
      <dgm:spPr/>
      <dgm:t>
        <a:bodyPr/>
        <a:lstStyle/>
        <a:p>
          <a:r>
            <a:rPr lang="en-US">
              <a:effectLst/>
            </a:rPr>
            <a:t>Flight itinerary</a:t>
          </a:r>
          <a:endParaRPr lang="de-DE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0" presStyleCnt="1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0" presStyleCnt="1"/>
      <dgm:spPr/>
    </dgm:pt>
    <dgm:pt modelId="{61BEECF3-0457-48AE-AD79-2A6289A8221E}" type="pres">
      <dgm:prSet presAssocID="{841FA46C-349C-4C2A-BE51-334DC3D890C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5A69195E-50C5-428C-8FA5-E9F6F37FCB4C}" type="presParOf" srcId="{DAC65229-2F8F-41B9-8B47-E2BB5ECF834B}" destId="{96079B4C-3C3C-4116-BDA7-34322C36A4C6}" srcOrd="0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1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D99BC41C-56A2-41C1-8E73-984A510B7175}" type="presParOf" srcId="{DAC65229-2F8F-41B9-8B47-E2BB5ECF834B}" destId="{61BEECF3-0457-48AE-AD79-2A6289A8221E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/>
      <dgm:spPr/>
      <dgm:t>
        <a:bodyPr/>
        <a:lstStyle/>
        <a:p>
          <a:r>
            <a:rPr lang="en-US">
              <a:effectLst/>
            </a:rPr>
            <a:t>Disruption details</a:t>
          </a:r>
          <a:endParaRPr lang="de-DE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0" presStyleCnt="1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0" presStyleCnt="1"/>
      <dgm:spPr/>
    </dgm:pt>
    <dgm:pt modelId="{61BEECF3-0457-48AE-AD79-2A6289A8221E}" type="pres">
      <dgm:prSet presAssocID="{841FA46C-349C-4C2A-BE51-334DC3D890C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5A69195E-50C5-428C-8FA5-E9F6F37FCB4C}" type="presParOf" srcId="{DAC65229-2F8F-41B9-8B47-E2BB5ECF834B}" destId="{96079B4C-3C3C-4116-BDA7-34322C36A4C6}" srcOrd="0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1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D99BC41C-56A2-41C1-8E73-984A510B7175}" type="presParOf" srcId="{DAC65229-2F8F-41B9-8B47-E2BB5ECF834B}" destId="{61BEECF3-0457-48AE-AD79-2A6289A8221E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/>
      <dgm:spPr/>
      <dgm:t>
        <a:bodyPr/>
        <a:lstStyle/>
        <a:p>
          <a:r>
            <a:rPr lang="en-US">
              <a:effectLst/>
            </a:rPr>
            <a:t>Disruption motive</a:t>
          </a:r>
          <a:endParaRPr lang="de-DE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0" presStyleCnt="1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0" presStyleCnt="1"/>
      <dgm:spPr/>
    </dgm:pt>
    <dgm:pt modelId="{61BEECF3-0457-48AE-AD79-2A6289A8221E}" type="pres">
      <dgm:prSet presAssocID="{841FA46C-349C-4C2A-BE51-334DC3D890C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5A69195E-50C5-428C-8FA5-E9F6F37FCB4C}" type="presParOf" srcId="{DAC65229-2F8F-41B9-8B47-E2BB5ECF834B}" destId="{96079B4C-3C3C-4116-BDA7-34322C36A4C6}" srcOrd="0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1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D99BC41C-56A2-41C1-8E73-984A510B7175}" type="presParOf" srcId="{DAC65229-2F8F-41B9-8B47-E2BB5ECF834B}" destId="{61BEECF3-0457-48AE-AD79-2A6289A8221E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 phldr="0"/>
      <dgm:spPr/>
      <dgm:t>
        <a:bodyPr/>
        <a:lstStyle/>
        <a:p>
          <a:pPr rtl="0"/>
          <a:r>
            <a:rPr lang="de-DE" sz="1100">
              <a:latin typeface="Calibri"/>
            </a:rPr>
            <a:t>Request email &amp; </a:t>
          </a:r>
          <a:r>
            <a:rPr lang="de-DE" sz="1100" err="1">
              <a:latin typeface="Calibri"/>
            </a:rPr>
            <a:t>compliance</a:t>
          </a:r>
          <a:endParaRPr lang="en-US" err="1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0" presStyleCnt="1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0" presStyleCnt="1"/>
      <dgm:spPr/>
    </dgm:pt>
    <dgm:pt modelId="{61BEECF3-0457-48AE-AD79-2A6289A8221E}" type="pres">
      <dgm:prSet presAssocID="{841FA46C-349C-4C2A-BE51-334DC3D890C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5A69195E-50C5-428C-8FA5-E9F6F37FCB4C}" type="presParOf" srcId="{DAC65229-2F8F-41B9-8B47-E2BB5ECF834B}" destId="{96079B4C-3C3C-4116-BDA7-34322C36A4C6}" srcOrd="0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1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D99BC41C-56A2-41C1-8E73-984A510B7175}" type="presParOf" srcId="{DAC65229-2F8F-41B9-8B47-E2BB5ECF834B}" destId="{61BEECF3-0457-48AE-AD79-2A6289A8221E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 phldr="0"/>
      <dgm:spPr/>
      <dgm:t>
        <a:bodyPr/>
        <a:lstStyle/>
        <a:p>
          <a:pPr rtl="0"/>
          <a:r>
            <a:rPr lang="de-DE" sz="1100">
              <a:latin typeface="Calibri"/>
            </a:rPr>
            <a:t>Flight details</a:t>
          </a:r>
          <a:endParaRPr lang="en-US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0" presStyleCnt="1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0" presStyleCnt="1"/>
      <dgm:spPr/>
    </dgm:pt>
    <dgm:pt modelId="{61BEECF3-0457-48AE-AD79-2A6289A8221E}" type="pres">
      <dgm:prSet presAssocID="{841FA46C-349C-4C2A-BE51-334DC3D890C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5A69195E-50C5-428C-8FA5-E9F6F37FCB4C}" type="presParOf" srcId="{DAC65229-2F8F-41B9-8B47-E2BB5ECF834B}" destId="{96079B4C-3C3C-4116-BDA7-34322C36A4C6}" srcOrd="0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1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D99BC41C-56A2-41C1-8E73-984A510B7175}" type="presParOf" srcId="{DAC65229-2F8F-41B9-8B47-E2BB5ECF834B}" destId="{61BEECF3-0457-48AE-AD79-2A6289A8221E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 phldr="0"/>
      <dgm:spPr/>
      <dgm:t>
        <a:bodyPr/>
        <a:lstStyle/>
        <a:p>
          <a:pPr rtl="0"/>
          <a:r>
            <a:rPr lang="de-DE" sz="1100">
              <a:latin typeface="Calibri"/>
            </a:rPr>
            <a:t>Passenger details</a:t>
          </a:r>
          <a:endParaRPr lang="en-US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0" presStyleCnt="1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0" presStyleCnt="1"/>
      <dgm:spPr/>
    </dgm:pt>
    <dgm:pt modelId="{61BEECF3-0457-48AE-AD79-2A6289A8221E}" type="pres">
      <dgm:prSet presAssocID="{841FA46C-349C-4C2A-BE51-334DC3D890C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5A69195E-50C5-428C-8FA5-E9F6F37FCB4C}" type="presParOf" srcId="{DAC65229-2F8F-41B9-8B47-E2BB5ECF834B}" destId="{96079B4C-3C3C-4116-BDA7-34322C36A4C6}" srcOrd="0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1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D99BC41C-56A2-41C1-8E73-984A510B7175}" type="presParOf" srcId="{DAC65229-2F8F-41B9-8B47-E2BB5ECF834B}" destId="{61BEECF3-0457-48AE-AD79-2A6289A8221E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1632BA-6F47-4794-B93D-D59F35DFE472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41FA46C-349C-4C2A-BE51-334DC3D890CC}">
      <dgm:prSet phldrT="[Text]" phldr="0"/>
      <dgm:spPr/>
      <dgm:t>
        <a:bodyPr/>
        <a:lstStyle/>
        <a:p>
          <a:r>
            <a:rPr lang="de-DE" sz="1100"/>
            <a:t>Generate </a:t>
          </a:r>
          <a:r>
            <a:rPr lang="de-DE" sz="1100" err="1"/>
            <a:t>case</a:t>
          </a:r>
          <a:r>
            <a:rPr lang="de-DE" sz="1100"/>
            <a:t>, PDF, email </a:t>
          </a:r>
          <a:endParaRPr lang="en-US"/>
        </a:p>
      </dgm:t>
    </dgm:pt>
    <dgm:pt modelId="{1C289A41-6708-44AC-8128-9C0D71E3B794}" type="parTrans" cxnId="{DFAC4E88-4D15-498F-A67F-5D745496DD9E}">
      <dgm:prSet/>
      <dgm:spPr/>
      <dgm:t>
        <a:bodyPr/>
        <a:lstStyle/>
        <a:p>
          <a:endParaRPr lang="de-DE"/>
        </a:p>
      </dgm:t>
    </dgm:pt>
    <dgm:pt modelId="{4E762AE4-6B34-4FF9-B167-6CB3DE41F3B7}" type="sibTrans" cxnId="{DFAC4E88-4D15-498F-A67F-5D745496DD9E}">
      <dgm:prSet/>
      <dgm:spPr/>
      <dgm:t>
        <a:bodyPr/>
        <a:lstStyle/>
        <a:p>
          <a:endParaRPr lang="de-DE"/>
        </a:p>
      </dgm:t>
    </dgm:pt>
    <dgm:pt modelId="{DAC65229-2F8F-41B9-8B47-E2BB5ECF834B}" type="pres">
      <dgm:prSet presAssocID="{121632BA-6F47-4794-B93D-D59F35DFE47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6079B4C-3C3C-4116-BDA7-34322C36A4C6}" type="pres">
      <dgm:prSet presAssocID="{841FA46C-349C-4C2A-BE51-334DC3D890CC}" presName="Accent1" presStyleCnt="0"/>
      <dgm:spPr/>
    </dgm:pt>
    <dgm:pt modelId="{464D83E7-09B9-4CAB-AA05-C1E5C1D239CA}" type="pres">
      <dgm:prSet presAssocID="{841FA46C-349C-4C2A-BE51-334DC3D890CC}" presName="Accent" presStyleLbl="node1" presStyleIdx="0" presStyleCnt="1"/>
      <dgm:spPr/>
    </dgm:pt>
    <dgm:pt modelId="{37AB5C38-097C-4033-B180-15400E473A2A}" type="pres">
      <dgm:prSet presAssocID="{841FA46C-349C-4C2A-BE51-334DC3D890CC}" presName="ParentBackground1" presStyleCnt="0"/>
      <dgm:spPr/>
    </dgm:pt>
    <dgm:pt modelId="{7516239B-7A77-412E-AB41-5158622E4800}" type="pres">
      <dgm:prSet presAssocID="{841FA46C-349C-4C2A-BE51-334DC3D890CC}" presName="ParentBackground" presStyleLbl="fgAcc1" presStyleIdx="0" presStyleCnt="1"/>
      <dgm:spPr/>
    </dgm:pt>
    <dgm:pt modelId="{61BEECF3-0457-48AE-AD79-2A6289A8221E}" type="pres">
      <dgm:prSet presAssocID="{841FA46C-349C-4C2A-BE51-334DC3D890C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CA27805-6DFD-4339-A9B3-2DF86EA610EA}" type="presOf" srcId="{841FA46C-349C-4C2A-BE51-334DC3D890CC}" destId="{61BEECF3-0457-48AE-AD79-2A6289A8221E}" srcOrd="1" destOrd="0" presId="urn:microsoft.com/office/officeart/2011/layout/CircleProcess"/>
    <dgm:cxn modelId="{DFAC4E88-4D15-498F-A67F-5D745496DD9E}" srcId="{121632BA-6F47-4794-B93D-D59F35DFE472}" destId="{841FA46C-349C-4C2A-BE51-334DC3D890CC}" srcOrd="0" destOrd="0" parTransId="{1C289A41-6708-44AC-8128-9C0D71E3B794}" sibTransId="{4E762AE4-6B34-4FF9-B167-6CB3DE41F3B7}"/>
    <dgm:cxn modelId="{6FABFB8D-08C9-4F3B-8436-8B25CBCDE7E5}" type="presOf" srcId="{121632BA-6F47-4794-B93D-D59F35DFE472}" destId="{DAC65229-2F8F-41B9-8B47-E2BB5ECF834B}" srcOrd="0" destOrd="0" presId="urn:microsoft.com/office/officeart/2011/layout/CircleProcess"/>
    <dgm:cxn modelId="{2F5E818F-553D-48E7-9F1B-0AF0D5BEDD1C}" type="presOf" srcId="{841FA46C-349C-4C2A-BE51-334DC3D890CC}" destId="{7516239B-7A77-412E-AB41-5158622E4800}" srcOrd="0" destOrd="0" presId="urn:microsoft.com/office/officeart/2011/layout/CircleProcess"/>
    <dgm:cxn modelId="{5A69195E-50C5-428C-8FA5-E9F6F37FCB4C}" type="presParOf" srcId="{DAC65229-2F8F-41B9-8B47-E2BB5ECF834B}" destId="{96079B4C-3C3C-4116-BDA7-34322C36A4C6}" srcOrd="0" destOrd="0" presId="urn:microsoft.com/office/officeart/2011/layout/CircleProcess"/>
    <dgm:cxn modelId="{05A927C4-B708-48C5-A27D-9BDAFC76DE1A}" type="presParOf" srcId="{96079B4C-3C3C-4116-BDA7-34322C36A4C6}" destId="{464D83E7-09B9-4CAB-AA05-C1E5C1D239CA}" srcOrd="0" destOrd="0" presId="urn:microsoft.com/office/officeart/2011/layout/CircleProcess"/>
    <dgm:cxn modelId="{A147CD76-D28F-41D2-8C49-682D7493074F}" type="presParOf" srcId="{DAC65229-2F8F-41B9-8B47-E2BB5ECF834B}" destId="{37AB5C38-097C-4033-B180-15400E473A2A}" srcOrd="1" destOrd="0" presId="urn:microsoft.com/office/officeart/2011/layout/CircleProcess"/>
    <dgm:cxn modelId="{3C93F4BD-5190-40FD-8509-219979D7FB00}" type="presParOf" srcId="{37AB5C38-097C-4033-B180-15400E473A2A}" destId="{7516239B-7A77-412E-AB41-5158622E4800}" srcOrd="0" destOrd="0" presId="urn:microsoft.com/office/officeart/2011/layout/CircleProcess"/>
    <dgm:cxn modelId="{D99BC41C-56A2-41C1-8E73-984A510B7175}" type="presParOf" srcId="{DAC65229-2F8F-41B9-8B47-E2BB5ECF834B}" destId="{61BEECF3-0457-48AE-AD79-2A6289A8221E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E5524-D878-4369-A017-5552D38E253A}">
      <dsp:nvSpPr>
        <dsp:cNvPr id="0" name=""/>
        <dsp:cNvSpPr/>
      </dsp:nvSpPr>
      <dsp:spPr>
        <a:xfrm>
          <a:off x="9659824" y="323112"/>
          <a:ext cx="1405444" cy="14050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AE622-4659-4CF4-8096-CCF9FDB0F522}">
      <dsp:nvSpPr>
        <dsp:cNvPr id="0" name=""/>
        <dsp:cNvSpPr/>
      </dsp:nvSpPr>
      <dsp:spPr>
        <a:xfrm>
          <a:off x="9707572" y="369954"/>
          <a:ext cx="1310987" cy="13113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effectLst/>
            </a:rPr>
            <a:t>Generate case</a:t>
          </a:r>
          <a:endParaRPr lang="de-DE" sz="1500" kern="1200"/>
        </a:p>
      </dsp:txBody>
      <dsp:txXfrm>
        <a:off x="9894411" y="557322"/>
        <a:ext cx="936271" cy="936594"/>
      </dsp:txXfrm>
    </dsp:sp>
    <dsp:sp modelId="{BA550CEB-2F40-4171-A50D-9C4AC9477547}">
      <dsp:nvSpPr>
        <dsp:cNvPr id="0" name=""/>
        <dsp:cNvSpPr/>
      </dsp:nvSpPr>
      <dsp:spPr>
        <a:xfrm>
          <a:off x="9707572" y="1754013"/>
          <a:ext cx="1310987" cy="77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Generate PDF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Send email </a:t>
          </a:r>
          <a:r>
            <a:rPr lang="de-DE" sz="1100" kern="1200" err="1"/>
            <a:t>with</a:t>
          </a:r>
          <a:r>
            <a:rPr lang="de-DE" sz="1100" kern="1200"/>
            <a:t> </a:t>
          </a:r>
          <a:r>
            <a:rPr lang="de-DE" sz="1100" kern="1200" err="1"/>
            <a:t>user</a:t>
          </a:r>
          <a:r>
            <a:rPr lang="de-DE" sz="1100" kern="1200"/>
            <a:t> </a:t>
          </a:r>
          <a:r>
            <a:rPr lang="de-DE" sz="1100" kern="1200" err="1"/>
            <a:t>details</a:t>
          </a:r>
          <a:r>
            <a:rPr lang="de-DE" sz="1100" kern="1200"/>
            <a:t>, </a:t>
          </a:r>
          <a:r>
            <a:rPr lang="de-DE" sz="1100" kern="1200" err="1"/>
            <a:t>contract</a:t>
          </a:r>
          <a:r>
            <a:rPr lang="de-DE" sz="1100" kern="1200"/>
            <a:t> and CTA </a:t>
          </a:r>
        </a:p>
      </dsp:txBody>
      <dsp:txXfrm>
        <a:off x="9707572" y="1754013"/>
        <a:ext cx="1310987" cy="770181"/>
      </dsp:txXfrm>
    </dsp:sp>
    <dsp:sp modelId="{25E5E569-94A5-4F76-8619-243CCCB6AF10}">
      <dsp:nvSpPr>
        <dsp:cNvPr id="0" name=""/>
        <dsp:cNvSpPr/>
      </dsp:nvSpPr>
      <dsp:spPr>
        <a:xfrm rot="2700000">
          <a:off x="8208369" y="322954"/>
          <a:ext cx="1405083" cy="140508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899B2-BF1D-491D-BEB9-39FE7B5E55D9}">
      <dsp:nvSpPr>
        <dsp:cNvPr id="0" name=""/>
        <dsp:cNvSpPr/>
      </dsp:nvSpPr>
      <dsp:spPr>
        <a:xfrm>
          <a:off x="8255417" y="369954"/>
          <a:ext cx="1310987" cy="13113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effectLst/>
            </a:rPr>
            <a:t>Passenger details</a:t>
          </a:r>
          <a:endParaRPr lang="de-DE" sz="1500" kern="1200"/>
        </a:p>
      </dsp:txBody>
      <dsp:txXfrm>
        <a:off x="8442256" y="557322"/>
        <a:ext cx="936271" cy="936594"/>
      </dsp:txXfrm>
    </dsp:sp>
    <dsp:sp modelId="{B2520E41-EA81-44D0-8C50-150FF4729EE9}">
      <dsp:nvSpPr>
        <dsp:cNvPr id="0" name=""/>
        <dsp:cNvSpPr/>
      </dsp:nvSpPr>
      <dsp:spPr>
        <a:xfrm>
          <a:off x="8255417" y="1754013"/>
          <a:ext cx="1310987" cy="77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Capture passenger </a:t>
          </a:r>
          <a:r>
            <a:rPr lang="de-DE" sz="1100" kern="1200" err="1"/>
            <a:t>addresses</a:t>
          </a:r>
          <a:r>
            <a:rPr lang="de-DE" sz="1100" kern="1200"/>
            <a:t> / </a:t>
          </a:r>
          <a:r>
            <a:rPr lang="de-DE" sz="1100" kern="1200" err="1"/>
            <a:t>contact</a:t>
          </a:r>
          <a:r>
            <a:rPr lang="de-DE" sz="1100" kern="1200"/>
            <a:t> </a:t>
          </a:r>
          <a:r>
            <a:rPr lang="de-DE" sz="1100" kern="1200" err="1"/>
            <a:t>details</a:t>
          </a:r>
          <a:endParaRPr lang="de-DE" sz="1100" kern="1200"/>
        </a:p>
      </dsp:txBody>
      <dsp:txXfrm>
        <a:off x="8255417" y="1754013"/>
        <a:ext cx="1310987" cy="770181"/>
      </dsp:txXfrm>
    </dsp:sp>
    <dsp:sp modelId="{D5E48EE8-7A17-4F79-B075-99F1F79400D2}">
      <dsp:nvSpPr>
        <dsp:cNvPr id="0" name=""/>
        <dsp:cNvSpPr/>
      </dsp:nvSpPr>
      <dsp:spPr>
        <a:xfrm rot="2700000">
          <a:off x="6757253" y="322954"/>
          <a:ext cx="1405083" cy="140508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58634-274F-4425-8C3A-6545FF4155E4}">
      <dsp:nvSpPr>
        <dsp:cNvPr id="0" name=""/>
        <dsp:cNvSpPr/>
      </dsp:nvSpPr>
      <dsp:spPr>
        <a:xfrm>
          <a:off x="6803263" y="369954"/>
          <a:ext cx="1310987" cy="13113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effectLst/>
            </a:rPr>
            <a:t>Flight details</a:t>
          </a:r>
          <a:r>
            <a:rPr lang="en-US" sz="1500" b="1" kern="1200">
              <a:effectLst/>
            </a:rPr>
            <a:t> </a:t>
          </a:r>
          <a:endParaRPr lang="de-DE" sz="1500" kern="1200"/>
        </a:p>
      </dsp:txBody>
      <dsp:txXfrm>
        <a:off x="6991140" y="557322"/>
        <a:ext cx="936271" cy="936594"/>
      </dsp:txXfrm>
    </dsp:sp>
    <dsp:sp modelId="{FCE8BFFF-C4D8-4D09-BF19-8A80EDE012B7}">
      <dsp:nvSpPr>
        <dsp:cNvPr id="0" name=""/>
        <dsp:cNvSpPr/>
      </dsp:nvSpPr>
      <dsp:spPr>
        <a:xfrm>
          <a:off x="6803263" y="1754013"/>
          <a:ext cx="1310987" cy="77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Capture </a:t>
          </a:r>
          <a:r>
            <a:rPr lang="de-DE" sz="1100" kern="1200" err="1"/>
            <a:t>flight</a:t>
          </a:r>
          <a:r>
            <a:rPr lang="de-DE" sz="1100" kern="1200"/>
            <a:t> </a:t>
          </a:r>
          <a:r>
            <a:rPr lang="de-DE" sz="1100" kern="1200" err="1"/>
            <a:t>nr</a:t>
          </a:r>
          <a:r>
            <a:rPr lang="de-DE" sz="1100" kern="1200"/>
            <a:t> and date </a:t>
          </a:r>
        </a:p>
      </dsp:txBody>
      <dsp:txXfrm>
        <a:off x="6803263" y="1754013"/>
        <a:ext cx="1310987" cy="770181"/>
      </dsp:txXfrm>
    </dsp:sp>
    <dsp:sp modelId="{6CBCB8AA-64CE-4D46-9AD2-28BEF1323A4F}">
      <dsp:nvSpPr>
        <dsp:cNvPr id="0" name=""/>
        <dsp:cNvSpPr/>
      </dsp:nvSpPr>
      <dsp:spPr>
        <a:xfrm rot="2700000">
          <a:off x="5305098" y="322954"/>
          <a:ext cx="1405083" cy="140508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99988-1114-4571-9A0A-B59698522294}">
      <dsp:nvSpPr>
        <dsp:cNvPr id="0" name=""/>
        <dsp:cNvSpPr/>
      </dsp:nvSpPr>
      <dsp:spPr>
        <a:xfrm>
          <a:off x="5352146" y="369954"/>
          <a:ext cx="1310987" cy="13113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Request email &amp; </a:t>
          </a:r>
          <a:r>
            <a:rPr lang="de-DE" sz="1500" kern="1200" err="1"/>
            <a:t>compliance</a:t>
          </a:r>
          <a:endParaRPr lang="de-DE" sz="1500" kern="1200"/>
        </a:p>
      </dsp:txBody>
      <dsp:txXfrm>
        <a:off x="5538985" y="557322"/>
        <a:ext cx="936271" cy="936594"/>
      </dsp:txXfrm>
    </dsp:sp>
    <dsp:sp modelId="{8050D6DD-CF86-421E-97A0-3690742C02D7}">
      <dsp:nvSpPr>
        <dsp:cNvPr id="0" name=""/>
        <dsp:cNvSpPr/>
      </dsp:nvSpPr>
      <dsp:spPr>
        <a:xfrm>
          <a:off x="5352146" y="1754013"/>
          <a:ext cx="1310987" cy="77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Capture email </a:t>
          </a:r>
          <a:r>
            <a:rPr lang="de-DE" sz="1100" kern="1200" err="1">
              <a:latin typeface="Calibri"/>
            </a:rPr>
            <a:t>address</a:t>
          </a:r>
          <a:r>
            <a:rPr lang="de-DE" sz="1100" kern="1200"/>
            <a:t>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GDPR and T&amp;C </a:t>
          </a:r>
          <a:r>
            <a:rPr lang="de-DE" sz="1100" kern="1200" err="1"/>
            <a:t>acceptance</a:t>
          </a:r>
          <a:endParaRPr lang="de-DE" sz="1100" kern="1200"/>
        </a:p>
      </dsp:txBody>
      <dsp:txXfrm>
        <a:off x="5352146" y="1754013"/>
        <a:ext cx="1310987" cy="770181"/>
      </dsp:txXfrm>
    </dsp:sp>
    <dsp:sp modelId="{E96606EC-E5AF-4820-98C8-A8B7CA13B7D0}">
      <dsp:nvSpPr>
        <dsp:cNvPr id="0" name=""/>
        <dsp:cNvSpPr/>
      </dsp:nvSpPr>
      <dsp:spPr>
        <a:xfrm rot="2700000">
          <a:off x="3852943" y="322954"/>
          <a:ext cx="1405083" cy="140508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CCD83-65DB-4C65-9388-B4F88C581B08}">
      <dsp:nvSpPr>
        <dsp:cNvPr id="0" name=""/>
        <dsp:cNvSpPr/>
      </dsp:nvSpPr>
      <dsp:spPr>
        <a:xfrm>
          <a:off x="3899992" y="369954"/>
          <a:ext cx="1310987" cy="13113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effectLst/>
            </a:rPr>
            <a:t>Disruption motive</a:t>
          </a:r>
          <a:endParaRPr lang="de-DE" sz="1500" kern="1200"/>
        </a:p>
      </dsp:txBody>
      <dsp:txXfrm>
        <a:off x="4086831" y="557322"/>
        <a:ext cx="936271" cy="936594"/>
      </dsp:txXfrm>
    </dsp:sp>
    <dsp:sp modelId="{20C5D387-AD28-45A5-ABAC-86FB9350A9D5}">
      <dsp:nvSpPr>
        <dsp:cNvPr id="0" name=""/>
        <dsp:cNvSpPr/>
      </dsp:nvSpPr>
      <dsp:spPr>
        <a:xfrm>
          <a:off x="3899992" y="1754013"/>
          <a:ext cx="1310987" cy="77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err="1"/>
            <a:t>What</a:t>
          </a:r>
          <a:r>
            <a:rPr lang="de-DE" sz="1100" kern="1200"/>
            <a:t> was the </a:t>
          </a:r>
          <a:r>
            <a:rPr lang="de-DE" sz="1100" kern="1200" err="1"/>
            <a:t>reason</a:t>
          </a:r>
          <a:r>
            <a:rPr lang="de-DE" sz="1100" kern="1200"/>
            <a:t>?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err="1"/>
            <a:t>Selection</a:t>
          </a:r>
          <a:r>
            <a:rPr lang="de-DE" sz="1100" kern="1200"/>
            <a:t> and Tex </a:t>
          </a:r>
          <a:r>
            <a:rPr lang="de-DE" sz="1100" kern="1200" err="1"/>
            <a:t>fields</a:t>
          </a:r>
          <a:endParaRPr lang="de-DE" sz="1100" kern="1200"/>
        </a:p>
      </dsp:txBody>
      <dsp:txXfrm>
        <a:off x="3899992" y="1754013"/>
        <a:ext cx="1310987" cy="770181"/>
      </dsp:txXfrm>
    </dsp:sp>
    <dsp:sp modelId="{1765BADE-19C8-4C50-B942-5244CC1E47F9}">
      <dsp:nvSpPr>
        <dsp:cNvPr id="0" name=""/>
        <dsp:cNvSpPr/>
      </dsp:nvSpPr>
      <dsp:spPr>
        <a:xfrm rot="2700000">
          <a:off x="2401827" y="322954"/>
          <a:ext cx="1405083" cy="140508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82A63-5863-4150-95A0-6067D616E8AF}">
      <dsp:nvSpPr>
        <dsp:cNvPr id="0" name=""/>
        <dsp:cNvSpPr/>
      </dsp:nvSpPr>
      <dsp:spPr>
        <a:xfrm>
          <a:off x="2447837" y="369954"/>
          <a:ext cx="1310987" cy="13113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effectLst/>
            </a:rPr>
            <a:t>Disruption details</a:t>
          </a:r>
          <a:endParaRPr lang="de-DE" sz="1500" kern="1200"/>
        </a:p>
      </dsp:txBody>
      <dsp:txXfrm>
        <a:off x="2635714" y="557322"/>
        <a:ext cx="936271" cy="936594"/>
      </dsp:txXfrm>
    </dsp:sp>
    <dsp:sp modelId="{90F8B9B7-378D-459E-8880-C1037BEEEA3D}">
      <dsp:nvSpPr>
        <dsp:cNvPr id="0" name=""/>
        <dsp:cNvSpPr/>
      </dsp:nvSpPr>
      <dsp:spPr>
        <a:xfrm>
          <a:off x="2447837" y="1754013"/>
          <a:ext cx="1310987" cy="77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err="1"/>
            <a:t>Cancellation</a:t>
          </a:r>
          <a:endParaRPr lang="de-DE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Delay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err="1"/>
            <a:t>Denied</a:t>
          </a:r>
          <a:r>
            <a:rPr lang="de-DE" sz="1100" kern="1200"/>
            <a:t> </a:t>
          </a:r>
          <a:r>
            <a:rPr lang="de-DE" sz="1100" kern="1200" err="1"/>
            <a:t>boarding</a:t>
          </a:r>
          <a:endParaRPr lang="de-DE" sz="1100" kern="1200"/>
        </a:p>
      </dsp:txBody>
      <dsp:txXfrm>
        <a:off x="2447837" y="1754013"/>
        <a:ext cx="1310987" cy="770181"/>
      </dsp:txXfrm>
    </dsp:sp>
    <dsp:sp modelId="{464D83E7-09B9-4CAB-AA05-C1E5C1D239CA}">
      <dsp:nvSpPr>
        <dsp:cNvPr id="0" name=""/>
        <dsp:cNvSpPr/>
      </dsp:nvSpPr>
      <dsp:spPr>
        <a:xfrm rot="2700000">
          <a:off x="949672" y="322954"/>
          <a:ext cx="1405083" cy="140508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996720" y="369954"/>
          <a:ext cx="1310987" cy="13113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effectLst/>
            </a:rPr>
            <a:t>Flight itinerary</a:t>
          </a:r>
          <a:endParaRPr lang="de-DE" sz="1500" kern="1200"/>
        </a:p>
      </dsp:txBody>
      <dsp:txXfrm>
        <a:off x="1183560" y="557322"/>
        <a:ext cx="936271" cy="936594"/>
      </dsp:txXfrm>
    </dsp:sp>
    <dsp:sp modelId="{5B8EAFF4-0B4E-4CEA-8576-B75743700877}">
      <dsp:nvSpPr>
        <dsp:cNvPr id="0" name=""/>
        <dsp:cNvSpPr/>
      </dsp:nvSpPr>
      <dsp:spPr>
        <a:xfrm>
          <a:off x="996720" y="1754013"/>
          <a:ext cx="1310987" cy="77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err="1"/>
            <a:t>Starting</a:t>
          </a:r>
          <a:r>
            <a:rPr lang="de-DE" sz="1100" kern="1200"/>
            <a:t> and final </a:t>
          </a:r>
          <a:r>
            <a:rPr lang="de-DE" sz="1100" kern="1200" err="1"/>
            <a:t>airport</a:t>
          </a:r>
          <a:endParaRPr lang="de-DE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And </a:t>
          </a:r>
          <a:r>
            <a:rPr lang="de-DE" sz="1100" kern="1200" err="1"/>
            <a:t>connecting</a:t>
          </a:r>
          <a:r>
            <a:rPr lang="de-DE" sz="1100" kern="1200"/>
            <a:t> </a:t>
          </a:r>
          <a:r>
            <a:rPr lang="de-DE" sz="1100" kern="1200" err="1"/>
            <a:t>flights</a:t>
          </a:r>
          <a:endParaRPr lang="de-DE" sz="1100" kern="1200"/>
        </a:p>
      </dsp:txBody>
      <dsp:txXfrm>
        <a:off x="996720" y="1754013"/>
        <a:ext cx="1310987" cy="7701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83E7-09B9-4CAB-AA05-C1E5C1D239CA}">
      <dsp:nvSpPr>
        <dsp:cNvPr id="0" name=""/>
        <dsp:cNvSpPr/>
      </dsp:nvSpPr>
      <dsp:spPr>
        <a:xfrm>
          <a:off x="381351" y="348353"/>
          <a:ext cx="1229494" cy="1229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422294" y="389381"/>
          <a:ext cx="1147486" cy="11474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effectLst/>
            </a:rPr>
            <a:t>Flight itinerary</a:t>
          </a:r>
          <a:endParaRPr lang="de-DE" sz="1700" kern="1200"/>
        </a:p>
      </dsp:txBody>
      <dsp:txXfrm>
        <a:off x="586308" y="553301"/>
        <a:ext cx="819703" cy="8195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83E7-09B9-4CAB-AA05-C1E5C1D239CA}">
      <dsp:nvSpPr>
        <dsp:cNvPr id="0" name=""/>
        <dsp:cNvSpPr/>
      </dsp:nvSpPr>
      <dsp:spPr>
        <a:xfrm>
          <a:off x="381351" y="348353"/>
          <a:ext cx="1229494" cy="1229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422294" y="389381"/>
          <a:ext cx="1147486" cy="11474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effectLst/>
            </a:rPr>
            <a:t>Disruption details</a:t>
          </a:r>
          <a:endParaRPr lang="de-DE" sz="1400" kern="1200"/>
        </a:p>
      </dsp:txBody>
      <dsp:txXfrm>
        <a:off x="586308" y="553301"/>
        <a:ext cx="819703" cy="8195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83E7-09B9-4CAB-AA05-C1E5C1D239CA}">
      <dsp:nvSpPr>
        <dsp:cNvPr id="0" name=""/>
        <dsp:cNvSpPr/>
      </dsp:nvSpPr>
      <dsp:spPr>
        <a:xfrm>
          <a:off x="381351" y="348353"/>
          <a:ext cx="1229494" cy="1229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422294" y="389381"/>
          <a:ext cx="1147486" cy="11474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effectLst/>
            </a:rPr>
            <a:t>Disruption motive</a:t>
          </a:r>
          <a:endParaRPr lang="de-DE" sz="1400" kern="1200"/>
        </a:p>
      </dsp:txBody>
      <dsp:txXfrm>
        <a:off x="586308" y="553301"/>
        <a:ext cx="819703" cy="8195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83E7-09B9-4CAB-AA05-C1E5C1D239CA}">
      <dsp:nvSpPr>
        <dsp:cNvPr id="0" name=""/>
        <dsp:cNvSpPr/>
      </dsp:nvSpPr>
      <dsp:spPr>
        <a:xfrm>
          <a:off x="381351" y="348353"/>
          <a:ext cx="1229494" cy="1229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422294" y="389381"/>
          <a:ext cx="1147486" cy="11474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>
              <a:latin typeface="Calibri"/>
            </a:rPr>
            <a:t>Request email &amp; </a:t>
          </a:r>
          <a:r>
            <a:rPr lang="de-DE" sz="1300" kern="1200" err="1">
              <a:latin typeface="Calibri"/>
            </a:rPr>
            <a:t>compliance</a:t>
          </a:r>
          <a:endParaRPr lang="en-US" sz="1300" kern="1200" err="1"/>
        </a:p>
      </dsp:txBody>
      <dsp:txXfrm>
        <a:off x="586308" y="553301"/>
        <a:ext cx="819703" cy="8195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83E7-09B9-4CAB-AA05-C1E5C1D239CA}">
      <dsp:nvSpPr>
        <dsp:cNvPr id="0" name=""/>
        <dsp:cNvSpPr/>
      </dsp:nvSpPr>
      <dsp:spPr>
        <a:xfrm>
          <a:off x="381351" y="348353"/>
          <a:ext cx="1229494" cy="1229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422294" y="389381"/>
          <a:ext cx="1147486" cy="11474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>
              <a:latin typeface="Calibri"/>
            </a:rPr>
            <a:t>Flight details</a:t>
          </a:r>
          <a:endParaRPr lang="en-US" sz="2200" kern="1200"/>
        </a:p>
      </dsp:txBody>
      <dsp:txXfrm>
        <a:off x="586308" y="553301"/>
        <a:ext cx="819703" cy="8195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83E7-09B9-4CAB-AA05-C1E5C1D239CA}">
      <dsp:nvSpPr>
        <dsp:cNvPr id="0" name=""/>
        <dsp:cNvSpPr/>
      </dsp:nvSpPr>
      <dsp:spPr>
        <a:xfrm>
          <a:off x="381351" y="348353"/>
          <a:ext cx="1229494" cy="1229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422294" y="389381"/>
          <a:ext cx="1147486" cy="11474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>
              <a:latin typeface="Calibri"/>
            </a:rPr>
            <a:t>Passenger details</a:t>
          </a:r>
          <a:endParaRPr lang="en-US" sz="1500" kern="1200"/>
        </a:p>
      </dsp:txBody>
      <dsp:txXfrm>
        <a:off x="586308" y="553301"/>
        <a:ext cx="819703" cy="8195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D83E7-09B9-4CAB-AA05-C1E5C1D239CA}">
      <dsp:nvSpPr>
        <dsp:cNvPr id="0" name=""/>
        <dsp:cNvSpPr/>
      </dsp:nvSpPr>
      <dsp:spPr>
        <a:xfrm>
          <a:off x="381351" y="348353"/>
          <a:ext cx="1229494" cy="12294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6239B-7A77-412E-AB41-5158622E4800}">
      <dsp:nvSpPr>
        <dsp:cNvPr id="0" name=""/>
        <dsp:cNvSpPr/>
      </dsp:nvSpPr>
      <dsp:spPr>
        <a:xfrm>
          <a:off x="422294" y="389381"/>
          <a:ext cx="1147486" cy="11474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Generate </a:t>
          </a:r>
          <a:r>
            <a:rPr lang="de-DE" sz="1500" kern="1200" err="1"/>
            <a:t>case</a:t>
          </a:r>
          <a:r>
            <a:rPr lang="de-DE" sz="1500" kern="1200"/>
            <a:t>, PDF, email </a:t>
          </a:r>
          <a:endParaRPr lang="en-US" sz="1500" kern="1200"/>
        </a:p>
      </dsp:txBody>
      <dsp:txXfrm>
        <a:off x="586308" y="553301"/>
        <a:ext cx="819703" cy="819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6CCC16E-228D-43D2-8390-31111086EB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045F98-938A-49AC-BE05-5688D63C2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53045-7CB0-45FC-B08A-AB6ECF2A2C91}" type="datetimeFigureOut">
              <a:rPr lang="de-DE" sz="1000" smtClean="0">
                <a:solidFill>
                  <a:schemeClr val="tx2"/>
                </a:solidFill>
              </a:rPr>
              <a:t>23.07.2026</a:t>
            </a:fld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83A03F-57E6-4F67-AAE5-AA325AAE3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2D2B52-0026-41B5-AD45-1FB521DB5D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0D932-A563-4BE9-A9BD-2FD44D180931}" type="slidenum">
              <a:rPr lang="de-DE" sz="1000" smtClean="0">
                <a:solidFill>
                  <a:schemeClr val="tx2"/>
                </a:solidFill>
              </a:rPr>
              <a:t>‹#›</a:t>
            </a:fld>
            <a:endParaRPr lang="de-DE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36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33C12E-3F61-468E-BC90-EC3528E23546}" type="datetimeFigureOut">
              <a:rPr lang="de-DE" smtClean="0"/>
              <a:pPr/>
              <a:t>23.07.2026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</a:pPr>
            <a:r>
              <a:rPr lang="de-DE"/>
              <a:t>Mastertextformat bearbeiten</a:t>
            </a:r>
          </a:p>
          <a:p>
            <a:pPr marL="144000" lvl="1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540000" lvl="2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900000" lvl="3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1260000" lvl="4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EA03A34-464E-4330-B842-BE15B10045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86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4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0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07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654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999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22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4428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7543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Regen enthält.&#10;&#10;Automatisch generierte Beschreibung">
            <a:extLst>
              <a:ext uri="{FF2B5EF4-FFF2-40B4-BE49-F238E27FC236}">
                <a16:creationId xmlns:a16="http://schemas.microsoft.com/office/drawing/2014/main" id="{04C80BBB-DCAC-A9D3-5F83-FB7438FFF9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" y="0"/>
            <a:ext cx="48006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172" y="1544750"/>
            <a:ext cx="6601865" cy="1656000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800" y="3290400"/>
            <a:ext cx="5400675" cy="225126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,2024 | Präsentationstitel | Sensitivity Label (z.B. intern)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B974FE2-1329-0F21-FE83-477094006FD7}"/>
              </a:ext>
            </a:extLst>
          </p:cNvPr>
          <p:cNvGrpSpPr/>
          <p:nvPr/>
        </p:nvGrpSpPr>
        <p:grpSpPr>
          <a:xfrm>
            <a:off x="3396790" y="2351922"/>
            <a:ext cx="2828793" cy="2825579"/>
            <a:chOff x="1663317" y="1196546"/>
            <a:chExt cx="2828793" cy="2825579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00B6D4E5-64C2-B50D-8957-FB8094BCF6B9}"/>
                </a:ext>
              </a:extLst>
            </p:cNvPr>
            <p:cNvSpPr/>
            <p:nvPr/>
          </p:nvSpPr>
          <p:spPr>
            <a:xfrm rot="16200000">
              <a:off x="1666531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54648925-2C76-F0D6-D7FB-BABA3A55484D}"/>
                </a:ext>
              </a:extLst>
            </p:cNvPr>
            <p:cNvSpPr/>
            <p:nvPr/>
          </p:nvSpPr>
          <p:spPr>
            <a:xfrm rot="16200000" flipH="1">
              <a:off x="1666532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EB539A37-99A2-413A-A411-2307FC2D3BCE}"/>
                </a:ext>
              </a:extLst>
            </p:cNvPr>
            <p:cNvSpPr/>
            <p:nvPr/>
          </p:nvSpPr>
          <p:spPr>
            <a:xfrm rot="5400000">
              <a:off x="1663317" y="1196546"/>
              <a:ext cx="2825578" cy="2825578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016214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,2024 | Präsentationstitel | Sensitivity Label (z.B. intern)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‹#›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69572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3200" y="6782400"/>
            <a:ext cx="36000" cy="36000"/>
          </a:xfrm>
        </p:spPr>
        <p:txBody>
          <a:bodyPr wrap="square">
            <a:noAutofit/>
          </a:bodyPr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.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,2024 | Präsentationstitel | Sensitivity Label (z.B. intern)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 systems ag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140F1F6F-876F-47F9-A72C-F77E1CCDF59A}"/>
              </a:ext>
            </a:extLst>
          </p:cNvPr>
          <p:cNvSpPr txBox="1"/>
          <p:nvPr/>
        </p:nvSpPr>
        <p:spPr>
          <a:xfrm>
            <a:off x="841200" y="343488"/>
            <a:ext cx="2408801" cy="96488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de-DE" sz="6000">
                <a:solidFill>
                  <a:schemeClr val="bg1"/>
                </a:solidFill>
              </a:rPr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75721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sfolie,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55D7B-5235-4377-85BB-80387F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err="1"/>
              <a:t>msg</a:t>
            </a:r>
            <a:r>
              <a:rPr lang="de-DE"/>
              <a:t> </a:t>
            </a:r>
            <a:r>
              <a:rPr lang="de-DE" err="1"/>
              <a:t>systems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8F26C7-AB39-4845-A04C-9384DE5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B98F7A2-B9DD-4222-9586-DA5BD25097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D233B9-C21F-4FBC-808D-8CA7DEBE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423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Regen enthält.&#10;&#10;Automatisch generierte Beschreibung">
            <a:extLst>
              <a:ext uri="{FF2B5EF4-FFF2-40B4-BE49-F238E27FC236}">
                <a16:creationId xmlns:a16="http://schemas.microsoft.com/office/drawing/2014/main" id="{04C80BBB-DCAC-A9D3-5F83-FB7438FFF9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" y="0"/>
            <a:ext cx="48006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172" y="1544750"/>
            <a:ext cx="6601865" cy="1656000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800" y="3290400"/>
            <a:ext cx="5400675" cy="225126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A673B3-52C9-4C18-9059-1380E56D3401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B974FE2-1329-0F21-FE83-477094006FD7}"/>
              </a:ext>
            </a:extLst>
          </p:cNvPr>
          <p:cNvGrpSpPr/>
          <p:nvPr/>
        </p:nvGrpSpPr>
        <p:grpSpPr>
          <a:xfrm>
            <a:off x="3396790" y="2351922"/>
            <a:ext cx="2828793" cy="2825579"/>
            <a:chOff x="1663317" y="1196546"/>
            <a:chExt cx="2828793" cy="2825579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00B6D4E5-64C2-B50D-8957-FB8094BCF6B9}"/>
                </a:ext>
              </a:extLst>
            </p:cNvPr>
            <p:cNvSpPr/>
            <p:nvPr/>
          </p:nvSpPr>
          <p:spPr>
            <a:xfrm rot="16200000">
              <a:off x="1666531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54648925-2C76-F0D6-D7FB-BABA3A55484D}"/>
                </a:ext>
              </a:extLst>
            </p:cNvPr>
            <p:cNvSpPr/>
            <p:nvPr/>
          </p:nvSpPr>
          <p:spPr>
            <a:xfrm rot="16200000" flipH="1">
              <a:off x="1666532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EB539A37-99A2-413A-A411-2307FC2D3BCE}"/>
                </a:ext>
              </a:extLst>
            </p:cNvPr>
            <p:cNvSpPr/>
            <p:nvPr/>
          </p:nvSpPr>
          <p:spPr>
            <a:xfrm rot="5400000">
              <a:off x="1663317" y="1196546"/>
              <a:ext cx="2825578" cy="2825578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24541806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673B3-52C9-4C18-9059-1380E56D340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9414326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3200" y="6782400"/>
            <a:ext cx="36000" cy="36000"/>
          </a:xfrm>
        </p:spPr>
        <p:txBody>
          <a:bodyPr wrap="square">
            <a:noAutofit/>
          </a:bodyPr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.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673B3-52C9-4C18-9059-1380E56D340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 systems ag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140F1F6F-876F-47F9-A72C-F77E1CCDF59A}"/>
              </a:ext>
            </a:extLst>
          </p:cNvPr>
          <p:cNvSpPr txBox="1"/>
          <p:nvPr/>
        </p:nvSpPr>
        <p:spPr>
          <a:xfrm>
            <a:off x="841200" y="343488"/>
            <a:ext cx="2408801" cy="96488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de-DE" sz="6000">
                <a:solidFill>
                  <a:schemeClr val="bg1"/>
                </a:solidFill>
              </a:rPr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399795163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,2024 | Präsentationstitel | Sensitivity Label (z.B. intern)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70356" y="405148"/>
            <a:ext cx="1386682" cy="435208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408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50" r:id="rId2"/>
    <p:sldLayoutId id="2147483687" r:id="rId3"/>
    <p:sldLayoutId id="2147483689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067" userDrawn="1">
          <p15:clr>
            <a:srgbClr val="F26B43"/>
          </p15:clr>
        </p15:guide>
        <p15:guide id="4" pos="7151" userDrawn="1">
          <p15:clr>
            <a:srgbClr val="F26B43"/>
          </p15:clr>
        </p15:guide>
        <p15:guide id="5" pos="7469" userDrawn="1">
          <p15:clr>
            <a:srgbClr val="F26B43"/>
          </p15:clr>
        </p15:guide>
        <p15:guide id="6" orient="horz" pos="464" userDrawn="1">
          <p15:clr>
            <a:srgbClr val="F26B43"/>
          </p15:clr>
        </p15:guide>
        <p15:guide id="7" orient="horz" pos="800" userDrawn="1">
          <p15:clr>
            <a:srgbClr val="F26B43"/>
          </p15:clr>
        </p15:guide>
        <p15:guide id="8" orient="horz" pos="1163" userDrawn="1">
          <p15:clr>
            <a:srgbClr val="F26B43"/>
          </p15:clr>
        </p15:guide>
        <p15:guide id="9" orient="horz" pos="1481" userDrawn="1">
          <p15:clr>
            <a:srgbClr val="F26B43"/>
          </p15:clr>
        </p15:guide>
        <p15:guide id="10" orient="horz" pos="1797" userDrawn="1">
          <p15:clr>
            <a:srgbClr val="F26B43"/>
          </p15:clr>
        </p15:guide>
        <p15:guide id="11" orient="horz" pos="2024" userDrawn="1">
          <p15:clr>
            <a:srgbClr val="F26B43"/>
          </p15:clr>
        </p15:guide>
        <p15:guide id="12" orient="horz" pos="3884" userDrawn="1">
          <p15:clr>
            <a:srgbClr val="F26B43"/>
          </p15:clr>
        </p15:guide>
        <p15:guide id="13" orient="horz" pos="3974" userDrawn="1">
          <p15:clr>
            <a:srgbClr val="F26B43"/>
          </p15:clr>
        </p15:guide>
        <p15:guide id="14" orient="horz" pos="420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EEA673B3-52C9-4C18-9059-1380E56D3401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70356" y="405148"/>
            <a:ext cx="1386682" cy="435208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526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>
          <p15:clr>
            <a:srgbClr val="F26B43"/>
          </p15:clr>
        </p15:guide>
        <p15:guide id="2" pos="3840">
          <p15:clr>
            <a:srgbClr val="F26B43"/>
          </p15:clr>
        </p15:guide>
        <p15:guide id="3" pos="4067">
          <p15:clr>
            <a:srgbClr val="F26B43"/>
          </p15:clr>
        </p15:guide>
        <p15:guide id="4" pos="7151">
          <p15:clr>
            <a:srgbClr val="F26B43"/>
          </p15:clr>
        </p15:guide>
        <p15:guide id="5" pos="7469">
          <p15:clr>
            <a:srgbClr val="F26B43"/>
          </p15:clr>
        </p15:guide>
        <p15:guide id="6" orient="horz" pos="464">
          <p15:clr>
            <a:srgbClr val="F26B43"/>
          </p15:clr>
        </p15:guide>
        <p15:guide id="7" orient="horz" pos="800">
          <p15:clr>
            <a:srgbClr val="F26B43"/>
          </p15:clr>
        </p15:guide>
        <p15:guide id="8" orient="horz" pos="1163">
          <p15:clr>
            <a:srgbClr val="F26B43"/>
          </p15:clr>
        </p15:guide>
        <p15:guide id="9" orient="horz" pos="1481">
          <p15:clr>
            <a:srgbClr val="F26B43"/>
          </p15:clr>
        </p15:guide>
        <p15:guide id="10" orient="horz" pos="1797">
          <p15:clr>
            <a:srgbClr val="F26B43"/>
          </p15:clr>
        </p15:guide>
        <p15:guide id="11" orient="horz" pos="2024">
          <p15:clr>
            <a:srgbClr val="F26B43"/>
          </p15:clr>
        </p15:guide>
        <p15:guide id="12" orient="horz" pos="3884">
          <p15:clr>
            <a:srgbClr val="F26B43"/>
          </p15:clr>
        </p15:guide>
        <p15:guide id="13" orient="horz" pos="3974">
          <p15:clr>
            <a:srgbClr val="F26B43"/>
          </p15:clr>
        </p15:guide>
        <p15:guide id="14" orient="horz" pos="42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tinmind.com/usernote/tests/17386057/17386059/41068977/index.html#/screens/d12245cc-1680-458d-89dd-4f0d7fb2272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png"/><Relationship Id="rId9" Type="http://schemas.microsoft.com/office/2007/relationships/diagramDrawing" Target="../diagrams/drawin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29E3023-CE8B-4519-ACE7-D9919F930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624" y="1931996"/>
            <a:ext cx="6601865" cy="1656000"/>
          </a:xfrm>
        </p:spPr>
        <p:txBody>
          <a:bodyPr/>
          <a:lstStyle/>
          <a:p>
            <a:r>
              <a:rPr lang="de-DE" err="1"/>
              <a:t>Proiect</a:t>
            </a:r>
            <a:r>
              <a:rPr lang="de-DE"/>
              <a:t> Python Training</a:t>
            </a:r>
            <a:br>
              <a:rPr lang="de-DE"/>
            </a:br>
            <a:r>
              <a:rPr lang="de-DE" b="1" err="1"/>
              <a:t>AirAssist</a:t>
            </a:r>
            <a:endParaRPr lang="de-DE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8961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F92F66-BB84-4E42-926B-78B31DD8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2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A81B468-A55B-492C-9811-9823067CFC2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err="1"/>
              <a:t>Propunere</a:t>
            </a:r>
            <a:r>
              <a:rPr lang="de-DE"/>
              <a:t> </a:t>
            </a:r>
            <a:r>
              <a:rPr lang="de-DE" err="1"/>
              <a:t>aplica</a:t>
            </a:r>
            <a:r>
              <a:rPr lang="ro-RO"/>
              <a:t>ț</a:t>
            </a:r>
            <a:r>
              <a:rPr lang="de-DE"/>
              <a:t>ie | Java Training2024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EAFA8C2-1150-4CC4-AF99-3D003686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Aplica</a:t>
            </a:r>
            <a:r>
              <a:rPr lang="ro-RO"/>
              <a:t>ț</a:t>
            </a:r>
            <a:r>
              <a:rPr lang="en-US" err="1"/>
              <a:t>ie</a:t>
            </a:r>
            <a:r>
              <a:rPr lang="en-US"/>
              <a:t> de Claim Management</a:t>
            </a:r>
            <a:r>
              <a:rPr lang="ro-RO"/>
              <a:t> – Conform EU261/2004</a:t>
            </a:r>
            <a:br>
              <a:rPr lang="ro-RO"/>
            </a:br>
            <a:r>
              <a:rPr lang="ro-RO" sz="2800" b="1"/>
              <a:t>AIR-ASSIST</a:t>
            </a:r>
            <a:endParaRPr lang="de-DE" b="1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012986C-3214-44BA-AE56-E496E86E6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3052938"/>
            <a:ext cx="845263" cy="845263"/>
          </a:xfrm>
          <a:prstGeom prst="rect">
            <a:avLst/>
          </a:prstGeom>
        </p:spPr>
      </p:pic>
      <p:cxnSp>
        <p:nvCxnSpPr>
          <p:cNvPr id="18" name="Gerade Verbindung 40">
            <a:extLst>
              <a:ext uri="{FF2B5EF4-FFF2-40B4-BE49-F238E27FC236}">
                <a16:creationId xmlns:a16="http://schemas.microsoft.com/office/drawing/2014/main" id="{ED834ABA-297E-4F6D-BC19-D6FFCF2CA7FF}"/>
              </a:ext>
            </a:extLst>
          </p:cNvPr>
          <p:cNvCxnSpPr>
            <a:cxnSpLocks/>
          </p:cNvCxnSpPr>
          <p:nvPr/>
        </p:nvCxnSpPr>
        <p:spPr>
          <a:xfrm rot="5400000">
            <a:off x="6096793" y="-2382482"/>
            <a:ext cx="0" cy="1051083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5DCE8613-0510-4B2C-8B4A-7655D55B17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4258200"/>
            <a:ext cx="845263" cy="845263"/>
          </a:xfrm>
          <a:prstGeom prst="rect">
            <a:avLst/>
          </a:prstGeom>
        </p:spPr>
      </p:pic>
      <p:cxnSp>
        <p:nvCxnSpPr>
          <p:cNvPr id="19" name="Gerade Verbindung 40">
            <a:extLst>
              <a:ext uri="{FF2B5EF4-FFF2-40B4-BE49-F238E27FC236}">
                <a16:creationId xmlns:a16="http://schemas.microsoft.com/office/drawing/2014/main" id="{D84471AE-8733-49AE-8FF3-E7C148005878}"/>
              </a:ext>
            </a:extLst>
          </p:cNvPr>
          <p:cNvCxnSpPr>
            <a:cxnSpLocks/>
          </p:cNvCxnSpPr>
          <p:nvPr/>
        </p:nvCxnSpPr>
        <p:spPr>
          <a:xfrm rot="5400000">
            <a:off x="6096794" y="-1177219"/>
            <a:ext cx="0" cy="1051083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2E058E74-A441-41E8-A1E4-730DBA81A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5463461"/>
            <a:ext cx="845263" cy="845263"/>
          </a:xfrm>
          <a:prstGeom prst="rect">
            <a:avLst/>
          </a:prstGeom>
        </p:spPr>
      </p:pic>
      <p:cxnSp>
        <p:nvCxnSpPr>
          <p:cNvPr id="23" name="Gerade Verbindung 40">
            <a:extLst>
              <a:ext uri="{FF2B5EF4-FFF2-40B4-BE49-F238E27FC236}">
                <a16:creationId xmlns:a16="http://schemas.microsoft.com/office/drawing/2014/main" id="{40F69CD0-AFEF-46C4-9D16-9DF59394F339}"/>
              </a:ext>
            </a:extLst>
          </p:cNvPr>
          <p:cNvCxnSpPr>
            <a:cxnSpLocks/>
          </p:cNvCxnSpPr>
          <p:nvPr/>
        </p:nvCxnSpPr>
        <p:spPr>
          <a:xfrm rot="5400000">
            <a:off x="6096794" y="28043"/>
            <a:ext cx="0" cy="1051083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6F5EB3FA-A38A-4658-9162-79F9FF24A789}"/>
              </a:ext>
            </a:extLst>
          </p:cNvPr>
          <p:cNvSpPr txBox="1">
            <a:spLocks/>
          </p:cNvSpPr>
          <p:nvPr/>
        </p:nvSpPr>
        <p:spPr>
          <a:xfrm>
            <a:off x="2046639" y="1847676"/>
            <a:ext cx="9305574" cy="84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/>
              <a:t>Regulamentul</a:t>
            </a:r>
            <a:r>
              <a:rPr lang="de-DE"/>
              <a:t> (CE) </a:t>
            </a:r>
            <a:r>
              <a:rPr lang="ro-RO"/>
              <a:t>nr. </a:t>
            </a:r>
            <a:r>
              <a:rPr lang="de-DE"/>
              <a:t>261/2004 al </a:t>
            </a:r>
            <a:r>
              <a:rPr lang="ro-RO"/>
              <a:t>Parlamentului European și al Consiliului din 11 februarie 2004 de stabilire a unor norme comune în materie de compensare și de asistență a pasagerilor în eventualitatea refuzului la îmbarcare și anulării sau întârzierii prelungite a zborurilor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E56795FB-0C58-4114-9155-211E7EFABC1E}"/>
              </a:ext>
            </a:extLst>
          </p:cNvPr>
          <p:cNvSpPr txBox="1">
            <a:spLocks/>
          </p:cNvSpPr>
          <p:nvPr/>
        </p:nvSpPr>
        <p:spPr>
          <a:xfrm>
            <a:off x="2046639" y="3052938"/>
            <a:ext cx="9305574" cy="84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/>
              <a:t>Cazuri acoperite:</a:t>
            </a:r>
          </a:p>
          <a:p>
            <a:r>
              <a:rPr lang="ro-RO"/>
              <a:t>- Întârzieri de zbor</a:t>
            </a:r>
          </a:p>
          <a:p>
            <a:r>
              <a:rPr lang="ro-RO"/>
              <a:t>- Anulări de zbor</a:t>
            </a:r>
          </a:p>
          <a:p>
            <a:r>
              <a:rPr lang="ro-RO"/>
              <a:t>- Refuz de îmbarcare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3EA822DD-70A4-480C-8718-F00C0853DF20}"/>
              </a:ext>
            </a:extLst>
          </p:cNvPr>
          <p:cNvSpPr txBox="1">
            <a:spLocks/>
          </p:cNvSpPr>
          <p:nvPr/>
        </p:nvSpPr>
        <p:spPr>
          <a:xfrm>
            <a:off x="2046639" y="4258200"/>
            <a:ext cx="9305574" cy="88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/>
              <a:t>Se aplică la zboruri: </a:t>
            </a:r>
          </a:p>
          <a:p>
            <a:r>
              <a:rPr lang="ro-RO"/>
              <a:t>- EU </a:t>
            </a:r>
            <a:r>
              <a:rPr lang="en-US"/>
              <a:t>&lt;&gt; EU – </a:t>
            </a:r>
            <a:r>
              <a:rPr lang="ro-RO"/>
              <a:t>orice</a:t>
            </a:r>
            <a:r>
              <a:rPr lang="en-US"/>
              <a:t> </a:t>
            </a:r>
            <a:r>
              <a:rPr lang="ro-RO"/>
              <a:t>companie</a:t>
            </a:r>
            <a:r>
              <a:rPr lang="en-US"/>
              <a:t> </a:t>
            </a:r>
            <a:r>
              <a:rPr lang="ro-RO"/>
              <a:t>aeriană</a:t>
            </a:r>
          </a:p>
          <a:p>
            <a:r>
              <a:rPr lang="ro-RO"/>
              <a:t>- EU -</a:t>
            </a:r>
            <a:r>
              <a:rPr lang="en-US"/>
              <a:t>&gt; </a:t>
            </a:r>
            <a:r>
              <a:rPr lang="ro-RO"/>
              <a:t>non-</a:t>
            </a:r>
            <a:r>
              <a:rPr lang="en-US"/>
              <a:t>EU</a:t>
            </a:r>
            <a:r>
              <a:rPr lang="ro-RO"/>
              <a:t> – orice companie aeriană</a:t>
            </a:r>
          </a:p>
          <a:p>
            <a:r>
              <a:rPr lang="ro-RO"/>
              <a:t>- EU </a:t>
            </a:r>
            <a:r>
              <a:rPr lang="en-US"/>
              <a:t>&lt;</a:t>
            </a:r>
            <a:r>
              <a:rPr lang="ro-RO"/>
              <a:t>- non-EU – numai companii aeriene europene</a:t>
            </a:r>
            <a:endParaRPr lang="de-DE"/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77711B0B-16AD-4779-B382-83E93780CE28}"/>
              </a:ext>
            </a:extLst>
          </p:cNvPr>
          <p:cNvSpPr txBox="1">
            <a:spLocks/>
          </p:cNvSpPr>
          <p:nvPr/>
        </p:nvSpPr>
        <p:spPr>
          <a:xfrm>
            <a:off x="2046639" y="5463462"/>
            <a:ext cx="9305574" cy="84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/>
              <a:t>Nivelul de compensație – dacă se datorează din vina companiei aeriene:</a:t>
            </a:r>
          </a:p>
          <a:p>
            <a:r>
              <a:rPr lang="ro-RO"/>
              <a:t>- </a:t>
            </a:r>
            <a:r>
              <a:rPr lang="en-US"/>
              <a:t>&lt;</a:t>
            </a:r>
            <a:r>
              <a:rPr lang="ro-RO"/>
              <a:t>1500km – 250€</a:t>
            </a:r>
          </a:p>
          <a:p>
            <a:r>
              <a:rPr lang="ro-RO"/>
              <a:t>- 1500-3500km – 400€</a:t>
            </a:r>
          </a:p>
          <a:p>
            <a:r>
              <a:rPr lang="ro-RO"/>
              <a:t>- </a:t>
            </a:r>
            <a:r>
              <a:rPr lang="en-US"/>
              <a:t>&gt;</a:t>
            </a:r>
            <a:r>
              <a:rPr lang="ro-RO"/>
              <a:t>3500km – 600€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F618327-BE1F-4555-87C2-C6C3807ED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1847676"/>
            <a:ext cx="845263" cy="84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2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25">
            <a:extLst>
              <a:ext uri="{FF2B5EF4-FFF2-40B4-BE49-F238E27FC236}">
                <a16:creationId xmlns:a16="http://schemas.microsoft.com/office/drawing/2014/main" id="{E36219FD-338A-4682-AA93-D3ADB3C5D3E1}"/>
              </a:ext>
            </a:extLst>
          </p:cNvPr>
          <p:cNvSpPr/>
          <p:nvPr/>
        </p:nvSpPr>
        <p:spPr>
          <a:xfrm>
            <a:off x="-5723" y="1510039"/>
            <a:ext cx="12197723" cy="53479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err="1">
              <a:solidFill>
                <a:schemeClr val="tx1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036986-FD02-43B1-BCA0-285234CC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621C82-0DF6-428A-B511-8AC8E63B122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err="1"/>
              <a:t>Propunere</a:t>
            </a:r>
            <a:r>
              <a:rPr lang="de-DE"/>
              <a:t> </a:t>
            </a:r>
            <a:r>
              <a:rPr lang="de-DE" err="1"/>
              <a:t>aplica</a:t>
            </a:r>
            <a:r>
              <a:rPr lang="ro-RO"/>
              <a:t>ț</a:t>
            </a:r>
            <a:r>
              <a:rPr lang="de-DE"/>
              <a:t>ie | Java Training2024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63010DE-C577-4559-BD6A-6E2EDC7B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Valoarea adăugată pentru pasager</a:t>
            </a:r>
            <a:endParaRPr lang="de-DE"/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D5CED2D1-51D8-46EF-85A0-18082754B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8300" y="2356061"/>
            <a:ext cx="1473183" cy="147318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o-RO">
                <a:solidFill>
                  <a:schemeClr val="tx1"/>
                </a:solidFill>
              </a:rPr>
              <a:t>Pasager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641AEDFB-387A-4DC4-8A5A-2D30B88307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319" y="4712095"/>
            <a:ext cx="1473183" cy="147318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o-RO">
                <a:solidFill>
                  <a:schemeClr val="tx1"/>
                </a:solidFill>
              </a:rPr>
              <a:t>Avocat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FE4BEAFE-578E-4571-BA33-7C18DD93E3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25282" y="4712095"/>
            <a:ext cx="1473183" cy="147318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o-RO">
                <a:solidFill>
                  <a:schemeClr val="tx1"/>
                </a:solidFill>
              </a:rPr>
              <a:t>Airline</a:t>
            </a:r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F2CA4E4-F8A5-4FC1-AD16-92E8B916535A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2661874" y="3613501"/>
            <a:ext cx="802169" cy="1098594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B88F0F57-A7B2-4211-BE84-75AB38C1DC6A}"/>
              </a:ext>
            </a:extLst>
          </p:cNvPr>
          <p:cNvCxnSpPr>
            <a:cxnSpLocks/>
            <a:stCxn id="7" idx="5"/>
            <a:endCxn id="8" idx="0"/>
          </p:cNvCxnSpPr>
          <p:nvPr/>
        </p:nvCxnSpPr>
        <p:spPr>
          <a:xfrm>
            <a:off x="4505740" y="3613501"/>
            <a:ext cx="802171" cy="1098594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00814B0-E264-463F-8DF9-6A1CDEBFAF4F}"/>
              </a:ext>
            </a:extLst>
          </p:cNvPr>
          <p:cNvCxnSpPr>
            <a:stCxn id="9" idx="6"/>
            <a:endCxn id="8" idx="2"/>
          </p:cNvCxnSpPr>
          <p:nvPr/>
        </p:nvCxnSpPr>
        <p:spPr>
          <a:xfrm>
            <a:off x="3398465" y="5448687"/>
            <a:ext cx="1172854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3">
            <a:extLst>
              <a:ext uri="{FF2B5EF4-FFF2-40B4-BE49-F238E27FC236}">
                <a16:creationId xmlns:a16="http://schemas.microsoft.com/office/drawing/2014/main" id="{2EC7BAB4-31E9-4E9C-BEE8-973C28A92D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7821" y="2356060"/>
            <a:ext cx="1473183" cy="147318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o-RO">
                <a:solidFill>
                  <a:schemeClr val="tx1"/>
                </a:solidFill>
              </a:rPr>
              <a:t>Pasager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A5A1E2B9-016E-B016-4276-8359E82318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7821" y="4717462"/>
            <a:ext cx="1473183" cy="147318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o-RO">
                <a:solidFill>
                  <a:schemeClr val="tx1"/>
                </a:solidFill>
              </a:rPr>
              <a:t>Air-Assist</a:t>
            </a:r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4" name="Gerader Verbinder 10">
            <a:extLst>
              <a:ext uri="{FF2B5EF4-FFF2-40B4-BE49-F238E27FC236}">
                <a16:creationId xmlns:a16="http://schemas.microsoft.com/office/drawing/2014/main" id="{D23B59CE-D6D1-5362-9A52-8FE73238072C}"/>
              </a:ext>
            </a:extLst>
          </p:cNvPr>
          <p:cNvCxnSpPr>
            <a:cxnSpLocks/>
            <a:stCxn id="2" idx="4"/>
          </p:cNvCxnSpPr>
          <p:nvPr/>
        </p:nvCxnSpPr>
        <p:spPr>
          <a:xfrm flipH="1">
            <a:off x="9274412" y="3829243"/>
            <a:ext cx="1" cy="888219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4B7D461-1BE6-A7E2-FB33-D8F0B93DE7BB}"/>
              </a:ext>
            </a:extLst>
          </p:cNvPr>
          <p:cNvSpPr/>
          <p:nvPr/>
        </p:nvSpPr>
        <p:spPr>
          <a:xfrm>
            <a:off x="6249929" y="3848996"/>
            <a:ext cx="1655606" cy="670046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41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" grpId="0" animBg="1"/>
      <p:bldP spid="13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036986-FD02-43B1-BCA0-285234CC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621C82-0DF6-428A-B511-8AC8E63B122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err="1"/>
              <a:t>Propunere</a:t>
            </a:r>
            <a:r>
              <a:rPr lang="de-DE"/>
              <a:t> </a:t>
            </a:r>
            <a:r>
              <a:rPr lang="de-DE" err="1"/>
              <a:t>aplica</a:t>
            </a:r>
            <a:r>
              <a:rPr lang="ro-RO"/>
              <a:t>ț</a:t>
            </a:r>
            <a:r>
              <a:rPr lang="de-DE"/>
              <a:t>ie | Java Training2024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63010DE-C577-4559-BD6A-6E2EDC7B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Cum </a:t>
            </a:r>
            <a:r>
              <a:rPr lang="en-US" err="1"/>
              <a:t>ajunge</a:t>
            </a:r>
            <a:r>
              <a:rPr lang="ro-RO"/>
              <a:t> pasagerul în aplicație</a:t>
            </a:r>
            <a:r>
              <a:rPr lang="en-US"/>
              <a:t> </a:t>
            </a:r>
            <a:endParaRPr lang="de-DE"/>
          </a:p>
        </p:txBody>
      </p:sp>
      <p:sp>
        <p:nvSpPr>
          <p:cNvPr id="2" name="Oval 3">
            <a:extLst>
              <a:ext uri="{FF2B5EF4-FFF2-40B4-BE49-F238E27FC236}">
                <a16:creationId xmlns:a16="http://schemas.microsoft.com/office/drawing/2014/main" id="{2EC7BAB4-31E9-4E9C-BEE8-973C28A92D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295" y="4723039"/>
            <a:ext cx="1473183" cy="147318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o-RO">
                <a:solidFill>
                  <a:schemeClr val="tx1"/>
                </a:solidFill>
              </a:rPr>
              <a:t>Airline </a:t>
            </a:r>
          </a:p>
          <a:p>
            <a:pPr algn="ctr"/>
            <a:r>
              <a:rPr lang="ro-RO">
                <a:solidFill>
                  <a:schemeClr val="tx1"/>
                </a:solidFill>
              </a:rPr>
              <a:t>Passenger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A5A1E2B9-016E-B016-4276-8359E82318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4881" y="4727099"/>
            <a:ext cx="5159895" cy="147318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o-RO">
                <a:solidFill>
                  <a:schemeClr val="tx1"/>
                </a:solidFill>
              </a:rPr>
              <a:t>Air-Assist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9F86F01F-5D3E-64AC-5364-5C00C4D426FA}"/>
              </a:ext>
            </a:extLst>
          </p:cNvPr>
          <p:cNvSpPr/>
          <p:nvPr/>
        </p:nvSpPr>
        <p:spPr>
          <a:xfrm rot="5400000">
            <a:off x="685310" y="2283644"/>
            <a:ext cx="3352210" cy="2290712"/>
          </a:xfrm>
          <a:prstGeom prst="trapezoid">
            <a:avLst>
              <a:gd name="adj" fmla="val 281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23352-0FE4-050B-BA5A-EF5EB03620F7}"/>
              </a:ext>
            </a:extLst>
          </p:cNvPr>
          <p:cNvSpPr txBox="1"/>
          <p:nvPr/>
        </p:nvSpPr>
        <p:spPr>
          <a:xfrm>
            <a:off x="1479966" y="2522534"/>
            <a:ext cx="1960775" cy="1812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ro-RO" b="1">
                <a:solidFill>
                  <a:schemeClr val="accent1"/>
                </a:solidFill>
              </a:rPr>
              <a:t>Marketing Funnel</a:t>
            </a:r>
            <a:endParaRPr lang="ro-RO">
              <a:solidFill>
                <a:schemeClr val="accent1"/>
              </a:solidFill>
            </a:endParaRPr>
          </a:p>
          <a:p>
            <a:pPr algn="l"/>
            <a:r>
              <a:rPr lang="ro-RO"/>
              <a:t>Social Media</a:t>
            </a:r>
          </a:p>
          <a:p>
            <a:pPr algn="l"/>
            <a:r>
              <a:rPr lang="ro-RO"/>
              <a:t>SM Ads</a:t>
            </a:r>
          </a:p>
          <a:p>
            <a:pPr algn="l"/>
            <a:r>
              <a:rPr lang="ro-RO"/>
              <a:t>Google Ads</a:t>
            </a:r>
          </a:p>
          <a:p>
            <a:pPr algn="l"/>
            <a:r>
              <a:rPr lang="ro-RO"/>
              <a:t>Email marketing</a:t>
            </a:r>
          </a:p>
          <a:p>
            <a:r>
              <a:rPr lang="ro-RO"/>
              <a:t>CALL TO ACTION</a:t>
            </a:r>
            <a:endParaRPr lang="de-DE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F1689EC4-CF97-090C-A9DF-6EE741AD37F8}"/>
              </a:ext>
            </a:extLst>
          </p:cNvPr>
          <p:cNvSpPr/>
          <p:nvPr/>
        </p:nvSpPr>
        <p:spPr>
          <a:xfrm rot="5400000">
            <a:off x="3516042" y="2599019"/>
            <a:ext cx="2429176" cy="1659962"/>
          </a:xfrm>
          <a:prstGeom prst="trapezoid">
            <a:avLst>
              <a:gd name="adj" fmla="val 281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D59215-C6F8-F06C-50A9-36E2D8ADAD61}"/>
              </a:ext>
            </a:extLst>
          </p:cNvPr>
          <p:cNvSpPr txBox="1"/>
          <p:nvPr/>
        </p:nvSpPr>
        <p:spPr>
          <a:xfrm>
            <a:off x="3984107" y="2761269"/>
            <a:ext cx="1960775" cy="1508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ro-RO" b="1">
                <a:solidFill>
                  <a:schemeClr val="accent1"/>
                </a:solidFill>
              </a:rPr>
              <a:t>Landing Page</a:t>
            </a:r>
            <a:endParaRPr lang="ro-RO">
              <a:solidFill>
                <a:schemeClr val="accent1"/>
              </a:solidFill>
            </a:endParaRPr>
          </a:p>
          <a:p>
            <a:pPr algn="l"/>
            <a:r>
              <a:rPr lang="ro-RO"/>
              <a:t>Information </a:t>
            </a:r>
          </a:p>
          <a:p>
            <a:pPr algn="l"/>
            <a:r>
              <a:rPr lang="ro-RO"/>
              <a:t>Knowledge </a:t>
            </a:r>
          </a:p>
          <a:p>
            <a:pPr algn="l"/>
            <a:r>
              <a:rPr lang="ro-RO"/>
              <a:t>CALL TO ACTION</a:t>
            </a:r>
          </a:p>
          <a:p>
            <a:pPr algn="l"/>
            <a:endParaRPr lang="de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05A458-F15C-8007-A0BB-EE4B1D3C7181}"/>
              </a:ext>
            </a:extLst>
          </p:cNvPr>
          <p:cNvSpPr/>
          <p:nvPr/>
        </p:nvSpPr>
        <p:spPr>
          <a:xfrm rot="5400000">
            <a:off x="6332384" y="2344849"/>
            <a:ext cx="1406018" cy="2181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DCD09F-EB1A-DE9E-113F-ABF46C5F838B}"/>
              </a:ext>
            </a:extLst>
          </p:cNvPr>
          <p:cNvSpPr txBox="1"/>
          <p:nvPr/>
        </p:nvSpPr>
        <p:spPr>
          <a:xfrm>
            <a:off x="6028340" y="3141563"/>
            <a:ext cx="2097565" cy="59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ro-RO" b="1">
                <a:solidFill>
                  <a:schemeClr val="accent1"/>
                </a:solidFill>
              </a:rPr>
              <a:t>Case verification form</a:t>
            </a:r>
            <a:endParaRPr lang="ro-RO">
              <a:solidFill>
                <a:schemeClr val="accent1"/>
              </a:solidFill>
            </a:endParaRPr>
          </a:p>
          <a:p>
            <a:pPr algn="l"/>
            <a:r>
              <a:rPr lang="ro-RO"/>
              <a:t>Example </a:t>
            </a:r>
            <a:r>
              <a:rPr lang="ro-RO">
                <a:hlinkClick r:id="rId3"/>
              </a:rPr>
              <a:t>HERE</a:t>
            </a:r>
            <a:endParaRPr lang="ro-RO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812129-2105-B7CD-8833-518BA0AE1204}"/>
              </a:ext>
            </a:extLst>
          </p:cNvPr>
          <p:cNvCxnSpPr>
            <a:cxnSpLocks/>
            <a:stCxn id="2" idx="6"/>
            <a:endCxn id="13" idx="2"/>
          </p:cNvCxnSpPr>
          <p:nvPr/>
        </p:nvCxnSpPr>
        <p:spPr>
          <a:xfrm>
            <a:off x="1783478" y="5459631"/>
            <a:ext cx="4161403" cy="4060"/>
          </a:xfrm>
          <a:prstGeom prst="straightConnector1">
            <a:avLst/>
          </a:prstGeom>
          <a:ln>
            <a:solidFill>
              <a:srgbClr val="4A4A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C7ED6DC-FB7A-B000-F8EC-B966CC4838FC}"/>
              </a:ext>
            </a:extLst>
          </p:cNvPr>
          <p:cNvSpPr/>
          <p:nvPr/>
        </p:nvSpPr>
        <p:spPr>
          <a:xfrm rot="5400000">
            <a:off x="9123599" y="2004793"/>
            <a:ext cx="1406017" cy="28611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AFAA04-32A8-1D4D-BC35-9E2139ABBC8B}"/>
              </a:ext>
            </a:extLst>
          </p:cNvPr>
          <p:cNvSpPr txBox="1"/>
          <p:nvPr/>
        </p:nvSpPr>
        <p:spPr>
          <a:xfrm>
            <a:off x="8512404" y="3141563"/>
            <a:ext cx="2592371" cy="898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ro-RO" b="1">
                <a:solidFill>
                  <a:schemeClr val="accent1"/>
                </a:solidFill>
              </a:rPr>
              <a:t>Case management</a:t>
            </a:r>
            <a:endParaRPr lang="ro-RO">
              <a:solidFill>
                <a:schemeClr val="accent1"/>
              </a:solidFill>
            </a:endParaRPr>
          </a:p>
          <a:p>
            <a:pPr algn="l"/>
            <a:r>
              <a:rPr lang="ro-RO"/>
              <a:t>From eligibility verification to case closure</a:t>
            </a:r>
            <a:endParaRPr lang="de-D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811619-2D57-628C-CAAD-5CCE28A112CB}"/>
              </a:ext>
            </a:extLst>
          </p:cNvPr>
          <p:cNvSpPr txBox="1"/>
          <p:nvPr/>
        </p:nvSpPr>
        <p:spPr>
          <a:xfrm>
            <a:off x="6028339" y="2841224"/>
            <a:ext cx="2097565" cy="28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ro-RO" b="1">
                <a:solidFill>
                  <a:srgbClr val="F3B545"/>
                </a:solidFill>
              </a:rPr>
              <a:t>No Sign up</a:t>
            </a:r>
            <a:endParaRPr lang="ro-RO">
              <a:solidFill>
                <a:srgbClr val="F3B545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3BA3B-A6F9-C1E7-1D99-C22F72A01293}"/>
              </a:ext>
            </a:extLst>
          </p:cNvPr>
          <p:cNvSpPr txBox="1"/>
          <p:nvPr/>
        </p:nvSpPr>
        <p:spPr>
          <a:xfrm>
            <a:off x="8510175" y="2841224"/>
            <a:ext cx="2097565" cy="28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ro-RO" b="1">
                <a:solidFill>
                  <a:schemeClr val="accent6"/>
                </a:solidFill>
              </a:rPr>
              <a:t>Signed up</a:t>
            </a:r>
            <a:endParaRPr lang="ro-RO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888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BA05901-EE49-4136-B1A0-A9921F8C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2189" y="5526670"/>
            <a:ext cx="506328" cy="196131"/>
          </a:xfrm>
        </p:spPr>
        <p:txBody>
          <a:bodyPr/>
          <a:lstStyle/>
          <a:p>
            <a:fld id="{B27B0579-4238-4E44-9A9E-134B676F827C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9F0F47-5B64-41F6-A20F-4971F72EAC7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err="1"/>
              <a:t>Propunere</a:t>
            </a:r>
            <a:r>
              <a:rPr lang="de-DE"/>
              <a:t> </a:t>
            </a:r>
            <a:r>
              <a:rPr lang="de-DE" err="1"/>
              <a:t>aplica</a:t>
            </a:r>
            <a:r>
              <a:rPr lang="ro-RO"/>
              <a:t>ț</a:t>
            </a:r>
            <a:r>
              <a:rPr lang="de-DE"/>
              <a:t>ie | Java Training2024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9E60B7E-8098-46C3-B493-71F756AC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Procesul de compensare (conform EC261/2004)</a:t>
            </a:r>
            <a:endParaRPr lang="de-DE"/>
          </a:p>
        </p:txBody>
      </p:sp>
      <p:sp>
        <p:nvSpPr>
          <p:cNvPr id="36" name="AutoShape 16">
            <a:extLst>
              <a:ext uri="{FF2B5EF4-FFF2-40B4-BE49-F238E27FC236}">
                <a16:creationId xmlns:a16="http://schemas.microsoft.com/office/drawing/2014/main" id="{CD36B19B-2C38-41A2-9728-0CC9B7EC2A49}"/>
              </a:ext>
            </a:extLst>
          </p:cNvPr>
          <p:cNvSpPr txBox="1">
            <a:spLocks/>
          </p:cNvSpPr>
          <p:nvPr/>
        </p:nvSpPr>
        <p:spPr bwMode="gray">
          <a:xfrm>
            <a:off x="10839" y="1115965"/>
            <a:ext cx="11568212" cy="1089163"/>
          </a:xfrm>
          <a:prstGeom prst="homePlate">
            <a:avLst>
              <a:gd name="adj" fmla="val 23315"/>
            </a:avLst>
          </a:prstGeom>
          <a:solidFill>
            <a:schemeClr val="bg2"/>
          </a:solidFill>
        </p:spPr>
        <p:txBody>
          <a:bodyPr vert="horz" lIns="84600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1600" b="0" kern="1200">
                <a:solidFill>
                  <a:schemeClr val="tx2"/>
                </a:solidFill>
                <a:latin typeface="+mn-lt"/>
                <a:ea typeface="Open Sans Semibold" panose="020B0706030804020204" pitchFamily="34" charset="0"/>
                <a:cs typeface="Segoe UI" panose="020B0502040204020203" pitchFamily="34" charset="0"/>
              </a:defRPr>
            </a:lvl1pPr>
            <a:lvl2pPr marL="18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36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54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72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90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6pPr>
            <a:lvl7pPr marL="108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7pPr>
            <a:lvl8pPr marL="126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8pPr>
            <a:lvl9pPr marL="144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9pPr>
          </a:lstStyle>
          <a:p>
            <a:endParaRPr lang="de-DE" sz="1800">
              <a:solidFill>
                <a:schemeClr val="bg1"/>
              </a:solidFill>
              <a:cs typeface="Segoe UI Semibold" panose="020B0702040204020203" pitchFamily="34" charset="0"/>
            </a:endParaRPr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41FFBE99-03C0-4745-82DD-A837C762BF36}"/>
              </a:ext>
            </a:extLst>
          </p:cNvPr>
          <p:cNvSpPr txBox="1">
            <a:spLocks/>
          </p:cNvSpPr>
          <p:nvPr/>
        </p:nvSpPr>
        <p:spPr>
          <a:xfrm>
            <a:off x="409374" y="2315355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Pasager/Pers. Aut. 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A3325F55-151E-48BE-9A6A-78801F369921}"/>
              </a:ext>
            </a:extLst>
          </p:cNvPr>
          <p:cNvSpPr txBox="1">
            <a:spLocks/>
          </p:cNvSpPr>
          <p:nvPr/>
        </p:nvSpPr>
        <p:spPr>
          <a:xfrm>
            <a:off x="2815874" y="2323511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Angajat AA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48D409A6-EB3B-4507-9F97-D8B8D1574DC1}"/>
              </a:ext>
            </a:extLst>
          </p:cNvPr>
          <p:cNvSpPr txBox="1">
            <a:spLocks/>
          </p:cNvSpPr>
          <p:nvPr/>
        </p:nvSpPr>
        <p:spPr>
          <a:xfrm>
            <a:off x="4843899" y="2339118"/>
            <a:ext cx="2018784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Angajat AA / Avocat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4E65017B-70F8-4734-830B-3B0F302AC000}"/>
              </a:ext>
            </a:extLst>
          </p:cNvPr>
          <p:cNvSpPr txBox="1">
            <a:spLocks/>
          </p:cNvSpPr>
          <p:nvPr/>
        </p:nvSpPr>
        <p:spPr>
          <a:xfrm>
            <a:off x="7220578" y="2339118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Angajat AA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9099E175-5ED2-4CEF-9DE7-DB2C583A8272}"/>
              </a:ext>
            </a:extLst>
          </p:cNvPr>
          <p:cNvSpPr txBox="1">
            <a:spLocks/>
          </p:cNvSpPr>
          <p:nvPr/>
        </p:nvSpPr>
        <p:spPr>
          <a:xfrm>
            <a:off x="9421255" y="2339118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 AA / Pasager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5AE038BD-548F-41E4-81FE-F7D6FB5FE919}"/>
              </a:ext>
            </a:extLst>
          </p:cNvPr>
          <p:cNvSpPr txBox="1">
            <a:spLocks/>
          </p:cNvSpPr>
          <p:nvPr/>
        </p:nvSpPr>
        <p:spPr>
          <a:xfrm>
            <a:off x="392942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/>
              <a:t>Verificare eligibilitatea formală:</a:t>
            </a:r>
          </a:p>
          <a:p>
            <a:pPr lvl="2"/>
            <a:r>
              <a:rPr lang="ro-RO" sz="1200"/>
              <a:t>Ruta</a:t>
            </a:r>
          </a:p>
          <a:p>
            <a:pPr lvl="2"/>
            <a:r>
              <a:rPr lang="ro-RO" sz="1200"/>
              <a:t>Zborul/data</a:t>
            </a:r>
          </a:p>
          <a:p>
            <a:pPr lvl="2"/>
            <a:r>
              <a:rPr lang="ro-RO" sz="1200"/>
              <a:t>Airline EU/non-EU</a:t>
            </a:r>
          </a:p>
          <a:p>
            <a:pPr lvl="2"/>
            <a:r>
              <a:rPr lang="ro-RO" sz="1200"/>
              <a:t>Tip eveniment</a:t>
            </a:r>
          </a:p>
          <a:p>
            <a:pPr lvl="2"/>
            <a:r>
              <a:rPr lang="ro-RO" sz="1200"/>
              <a:t>Motiv (conf. pasager)</a:t>
            </a:r>
          </a:p>
          <a:p>
            <a:pPr lvl="1"/>
            <a:r>
              <a:rPr lang="ro-RO" sz="1400"/>
              <a:t>Dacă OK – înregistrare caz – generare contract</a:t>
            </a:r>
            <a:r>
              <a:rPr lang="ro-RO" sz="1400">
                <a:solidFill>
                  <a:srgbClr val="FF0000"/>
                </a:solidFill>
              </a:rPr>
              <a:t> PDF / user</a:t>
            </a:r>
          </a:p>
          <a:p>
            <a:pPr lvl="1"/>
            <a:r>
              <a:rPr lang="ro-RO" sz="1400"/>
              <a:t>Cerere documente:</a:t>
            </a:r>
          </a:p>
          <a:p>
            <a:pPr lvl="2"/>
            <a:r>
              <a:rPr lang="ro-RO" sz="1200"/>
              <a:t>Talon îmbarcare</a:t>
            </a:r>
          </a:p>
          <a:p>
            <a:pPr lvl="2"/>
            <a:r>
              <a:rPr lang="ro-RO" sz="1200"/>
              <a:t>Pașaport/ID</a:t>
            </a:r>
          </a:p>
          <a:p>
            <a:pPr lvl="2"/>
            <a:r>
              <a:rPr lang="ro-RO" sz="1200"/>
              <a:t>Corespondență</a:t>
            </a:r>
            <a:endParaRPr lang="de-DE" sz="1200"/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E29EACAE-7D50-40D9-8D38-EAA1484ED7CD}"/>
              </a:ext>
            </a:extLst>
          </p:cNvPr>
          <p:cNvSpPr txBox="1">
            <a:spLocks/>
          </p:cNvSpPr>
          <p:nvPr/>
        </p:nvSpPr>
        <p:spPr>
          <a:xfrm>
            <a:off x="2699659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/>
              <a:t>Verificare </a:t>
            </a:r>
            <a:r>
              <a:rPr lang="en-US" sz="1400"/>
              <a:t>formal</a:t>
            </a:r>
            <a:r>
              <a:rPr lang="ro-RO" sz="1400"/>
              <a:t>ă</a:t>
            </a:r>
          </a:p>
          <a:p>
            <a:pPr lvl="2"/>
            <a:r>
              <a:rPr lang="ro-RO" sz="1200"/>
              <a:t>Anulare (</a:t>
            </a:r>
            <a:r>
              <a:rPr lang="en-US" sz="1200"/>
              <a:t>info&lt;14d)</a:t>
            </a:r>
            <a:endParaRPr lang="ro-RO" sz="1200"/>
          </a:p>
          <a:p>
            <a:pPr lvl="2"/>
            <a:r>
              <a:rPr lang="ro-RO" sz="1200"/>
              <a:t>Întârziere (if </a:t>
            </a:r>
            <a:r>
              <a:rPr lang="en-US" sz="1200"/>
              <a:t>&gt;3h</a:t>
            </a:r>
            <a:r>
              <a:rPr lang="ro-RO" sz="1200"/>
              <a:t>)</a:t>
            </a:r>
          </a:p>
          <a:p>
            <a:pPr lvl="1"/>
            <a:r>
              <a:rPr lang="ro-RO" sz="1400"/>
              <a:t>Verificare eligibilitate motiv: </a:t>
            </a:r>
          </a:p>
          <a:p>
            <a:pPr lvl="2"/>
            <a:r>
              <a:rPr lang="ro-RO" sz="1200"/>
              <a:t>Condiții meteo</a:t>
            </a:r>
          </a:p>
          <a:p>
            <a:pPr lvl="2"/>
            <a:r>
              <a:rPr lang="ro-RO" sz="1200"/>
              <a:t>Eurocontrol </a:t>
            </a:r>
          </a:p>
          <a:p>
            <a:pPr lvl="2"/>
            <a:r>
              <a:rPr lang="ro-RO" sz="1200"/>
              <a:t>Alte surse publice</a:t>
            </a:r>
            <a:endParaRPr lang="de-DE" sz="1200"/>
          </a:p>
          <a:p>
            <a:pPr lvl="1"/>
            <a:r>
              <a:rPr lang="ro-RO" sz="1400"/>
              <a:t>Setare status corespunzător:</a:t>
            </a:r>
          </a:p>
          <a:p>
            <a:pPr lvl="2"/>
            <a:r>
              <a:rPr lang="ro-RO" sz="1200"/>
              <a:t>Eligibil VAA</a:t>
            </a:r>
          </a:p>
          <a:p>
            <a:pPr lvl="2"/>
            <a:r>
              <a:rPr lang="ro-RO" sz="1200"/>
              <a:t>Eligibil CC</a:t>
            </a:r>
          </a:p>
          <a:p>
            <a:pPr lvl="2"/>
            <a:r>
              <a:rPr lang="ro-RO" sz="1200"/>
              <a:t>Neeligibil </a:t>
            </a:r>
          </a:p>
          <a:p>
            <a:pPr lvl="1"/>
            <a:r>
              <a:rPr lang="ro-RO" sz="1400"/>
              <a:t>Flag zbor – eligibil pentru despăgubri:</a:t>
            </a:r>
          </a:p>
          <a:p>
            <a:pPr lvl="2"/>
            <a:r>
              <a:rPr lang="ro-RO" sz="1200"/>
              <a:t>data </a:t>
            </a:r>
          </a:p>
          <a:p>
            <a:pPr lvl="2"/>
            <a:r>
              <a:rPr lang="ro-RO" sz="1200"/>
              <a:t>#zbor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DD79926D-488A-40E2-A4A4-99767B607BFF}"/>
              </a:ext>
            </a:extLst>
          </p:cNvPr>
          <p:cNvSpPr txBox="1">
            <a:spLocks/>
          </p:cNvSpPr>
          <p:nvPr/>
        </p:nvSpPr>
        <p:spPr>
          <a:xfrm>
            <a:off x="4843901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/>
              <a:t>Se generează cererea de despăgubire (</a:t>
            </a:r>
            <a:r>
              <a:rPr lang="ro-RO" sz="1400">
                <a:solidFill>
                  <a:srgbClr val="FF0000"/>
                </a:solidFill>
              </a:rPr>
              <a:t>Word/PDF</a:t>
            </a:r>
            <a:r>
              <a:rPr lang="ro-RO" sz="1400"/>
              <a:t>) adresată companiei aeriene cu toate datele necesare:</a:t>
            </a:r>
          </a:p>
          <a:p>
            <a:pPr lvl="2"/>
            <a:r>
              <a:rPr lang="ro-RO" sz="1100"/>
              <a:t>Distanța – nivel de comp. </a:t>
            </a:r>
          </a:p>
          <a:p>
            <a:pPr lvl="2"/>
            <a:r>
              <a:rPr lang="ro-RO" sz="1100"/>
              <a:t>Motiv – eligibilitate </a:t>
            </a:r>
          </a:p>
          <a:p>
            <a:pPr lvl="2"/>
            <a:r>
              <a:rPr lang="ro-RO" sz="1100"/>
              <a:t>Poate include mai multe pasageri</a:t>
            </a:r>
          </a:p>
          <a:p>
            <a:pPr lvl="1"/>
            <a:r>
              <a:rPr lang="ro-RO" sz="1400"/>
              <a:t>Se înregistrează caz de avocat și se trimite avocatului pentru verificare cererii de despăgubire – avocatul completează/reîncarcă</a:t>
            </a:r>
          </a:p>
          <a:p>
            <a:pPr lvl="1"/>
            <a:endParaRPr lang="de-DE" sz="1400"/>
          </a:p>
          <a:p>
            <a:endParaRPr lang="de-DE"/>
          </a:p>
        </p:txBody>
      </p:sp>
      <p:sp>
        <p:nvSpPr>
          <p:cNvPr id="45" name="TextBox 12">
            <a:extLst>
              <a:ext uri="{FF2B5EF4-FFF2-40B4-BE49-F238E27FC236}">
                <a16:creationId xmlns:a16="http://schemas.microsoft.com/office/drawing/2014/main" id="{E2AA0BA5-279D-4557-9397-E049E4D0B2C1}"/>
              </a:ext>
            </a:extLst>
          </p:cNvPr>
          <p:cNvSpPr txBox="1">
            <a:spLocks/>
          </p:cNvSpPr>
          <p:nvPr/>
        </p:nvSpPr>
        <p:spPr>
          <a:xfrm>
            <a:off x="7220580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/>
              <a:t>Cererea de despăgubire intră în corespondență* cu compania aeriană</a:t>
            </a:r>
            <a:endParaRPr lang="ro-RO" sz="1000"/>
          </a:p>
          <a:p>
            <a:pPr lvl="1"/>
            <a:r>
              <a:rPr lang="ro-RO" sz="1400"/>
              <a:t>Răspunsuri cu nevoia clarificării legale se vor atașa la cazul de avocat deschis</a:t>
            </a:r>
            <a:endParaRPr lang="de-DE" sz="1400"/>
          </a:p>
          <a:p>
            <a:endParaRPr lang="de-DE"/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3D1BF800-E0BF-40E7-A8A6-B40FE6DA134F}"/>
              </a:ext>
            </a:extLst>
          </p:cNvPr>
          <p:cNvSpPr txBox="1">
            <a:spLocks/>
          </p:cNvSpPr>
          <p:nvPr/>
        </p:nvSpPr>
        <p:spPr>
          <a:xfrm>
            <a:off x="9421257" y="2796599"/>
            <a:ext cx="1929367" cy="250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/>
              <a:t>Se închide cazul și se comunică rezultatul </a:t>
            </a:r>
          </a:p>
          <a:p>
            <a:pPr lvl="1"/>
            <a:r>
              <a:rPr lang="ro-RO" sz="1400"/>
              <a:t>În caz de câștig: </a:t>
            </a:r>
          </a:p>
          <a:p>
            <a:pPr lvl="2"/>
            <a:r>
              <a:rPr lang="ro-RO"/>
              <a:t>Cerere detaliilor bancare ale PAX</a:t>
            </a:r>
          </a:p>
          <a:p>
            <a:pPr lvl="2"/>
            <a:r>
              <a:rPr lang="ro-RO"/>
              <a:t>Virament bancar</a:t>
            </a:r>
          </a:p>
          <a:p>
            <a:pPr lvl="2"/>
            <a:r>
              <a:rPr lang="ro-RO"/>
              <a:t>Emitere factură</a:t>
            </a:r>
            <a:endParaRPr lang="de-DE"/>
          </a:p>
          <a:p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9C9A33A-35B2-6902-616A-1AF979159587}"/>
              </a:ext>
            </a:extLst>
          </p:cNvPr>
          <p:cNvSpPr txBox="1">
            <a:spLocks/>
          </p:cNvSpPr>
          <p:nvPr/>
        </p:nvSpPr>
        <p:spPr>
          <a:xfrm>
            <a:off x="392939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1.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CF5FDE26-0AFE-5D4A-09C9-9B7C2B93B780}"/>
              </a:ext>
            </a:extLst>
          </p:cNvPr>
          <p:cNvSpPr txBox="1">
            <a:spLocks/>
          </p:cNvSpPr>
          <p:nvPr/>
        </p:nvSpPr>
        <p:spPr>
          <a:xfrm>
            <a:off x="2699656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2.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AC9ED28-4A2E-9A68-FC76-8A511EAF3EBB}"/>
              </a:ext>
            </a:extLst>
          </p:cNvPr>
          <p:cNvSpPr txBox="1">
            <a:spLocks/>
          </p:cNvSpPr>
          <p:nvPr/>
        </p:nvSpPr>
        <p:spPr>
          <a:xfrm>
            <a:off x="4843898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3.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30EC8D8B-6400-3C36-98DA-BD73D371B637}"/>
              </a:ext>
            </a:extLst>
          </p:cNvPr>
          <p:cNvSpPr txBox="1">
            <a:spLocks/>
          </p:cNvSpPr>
          <p:nvPr/>
        </p:nvSpPr>
        <p:spPr>
          <a:xfrm>
            <a:off x="7220577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4.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99B8B97-70DC-6CC1-D039-FCE81C8D9E5D}"/>
              </a:ext>
            </a:extLst>
          </p:cNvPr>
          <p:cNvSpPr txBox="1">
            <a:spLocks/>
          </p:cNvSpPr>
          <p:nvPr/>
        </p:nvSpPr>
        <p:spPr>
          <a:xfrm>
            <a:off x="9421254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5.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3AE036CB-7B16-0161-CAE1-F8590628A254}"/>
              </a:ext>
            </a:extLst>
          </p:cNvPr>
          <p:cNvSpPr txBox="1">
            <a:spLocks/>
          </p:cNvSpPr>
          <p:nvPr/>
        </p:nvSpPr>
        <p:spPr>
          <a:xfrm>
            <a:off x="625376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Înregistrare caz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60EDE012-4735-CFA7-1FBD-4FA898C61A5D}"/>
              </a:ext>
            </a:extLst>
          </p:cNvPr>
          <p:cNvSpPr txBox="1">
            <a:spLocks/>
          </p:cNvSpPr>
          <p:nvPr/>
        </p:nvSpPr>
        <p:spPr>
          <a:xfrm>
            <a:off x="2932093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Verificare zbor 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81A8616C-2C0E-B18F-F8B9-A553F67EC329}"/>
              </a:ext>
            </a:extLst>
          </p:cNvPr>
          <p:cNvSpPr txBox="1">
            <a:spLocks/>
          </p:cNvSpPr>
          <p:nvPr/>
        </p:nvSpPr>
        <p:spPr>
          <a:xfrm>
            <a:off x="5076335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Verificare Av. 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B605026-19A2-79B5-BBA5-197778B75954}"/>
              </a:ext>
            </a:extLst>
          </p:cNvPr>
          <p:cNvSpPr txBox="1">
            <a:spLocks/>
          </p:cNvSpPr>
          <p:nvPr/>
        </p:nvSpPr>
        <p:spPr>
          <a:xfrm>
            <a:off x="7453014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Airline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BD7A72-158E-E584-9D1D-52E804D69E4F}"/>
              </a:ext>
            </a:extLst>
          </p:cNvPr>
          <p:cNvSpPr txBox="1">
            <a:spLocks/>
          </p:cNvSpPr>
          <p:nvPr/>
        </p:nvSpPr>
        <p:spPr>
          <a:xfrm>
            <a:off x="9653691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Închidere caz</a:t>
            </a:r>
            <a:endParaRPr lang="de-DE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02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BA05901-EE49-4136-B1A0-A9921F8C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2189" y="5526670"/>
            <a:ext cx="506328" cy="196131"/>
          </a:xfrm>
        </p:spPr>
        <p:txBody>
          <a:bodyPr/>
          <a:lstStyle/>
          <a:p>
            <a:fld id="{B27B0579-4238-4E44-9A9E-134B676F827C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9F0F47-5B64-41F6-A20F-4971F72EAC7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err="1"/>
              <a:t>Propunere</a:t>
            </a:r>
            <a:r>
              <a:rPr lang="de-DE"/>
              <a:t> </a:t>
            </a:r>
            <a:r>
              <a:rPr lang="de-DE" err="1"/>
              <a:t>aplica</a:t>
            </a:r>
            <a:r>
              <a:rPr lang="ro-RO"/>
              <a:t>ț</a:t>
            </a:r>
            <a:r>
              <a:rPr lang="de-DE"/>
              <a:t>ie | Java Training2024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9E60B7E-8098-46C3-B493-71F756AC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Procesul de compensare (conform EC261/2004)</a:t>
            </a:r>
            <a:endParaRPr lang="de-DE"/>
          </a:p>
        </p:txBody>
      </p:sp>
      <p:sp>
        <p:nvSpPr>
          <p:cNvPr id="36" name="AutoShape 16">
            <a:extLst>
              <a:ext uri="{FF2B5EF4-FFF2-40B4-BE49-F238E27FC236}">
                <a16:creationId xmlns:a16="http://schemas.microsoft.com/office/drawing/2014/main" id="{CD36B19B-2C38-41A2-9728-0CC9B7EC2A49}"/>
              </a:ext>
            </a:extLst>
          </p:cNvPr>
          <p:cNvSpPr txBox="1">
            <a:spLocks/>
          </p:cNvSpPr>
          <p:nvPr/>
        </p:nvSpPr>
        <p:spPr bwMode="gray">
          <a:xfrm>
            <a:off x="10839" y="1115965"/>
            <a:ext cx="11568212" cy="1089163"/>
          </a:xfrm>
          <a:prstGeom prst="homePlate">
            <a:avLst>
              <a:gd name="adj" fmla="val 23315"/>
            </a:avLst>
          </a:prstGeom>
          <a:solidFill>
            <a:schemeClr val="bg2"/>
          </a:solidFill>
        </p:spPr>
        <p:txBody>
          <a:bodyPr vert="horz" lIns="84600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1600" b="0" kern="1200">
                <a:solidFill>
                  <a:schemeClr val="tx2"/>
                </a:solidFill>
                <a:latin typeface="+mn-lt"/>
                <a:ea typeface="Open Sans Semibold" panose="020B0706030804020204" pitchFamily="34" charset="0"/>
                <a:cs typeface="Segoe UI" panose="020B0502040204020203" pitchFamily="34" charset="0"/>
              </a:defRPr>
            </a:lvl1pPr>
            <a:lvl2pPr marL="18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36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54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72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90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6pPr>
            <a:lvl7pPr marL="108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7pPr>
            <a:lvl8pPr marL="126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8pPr>
            <a:lvl9pPr marL="144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9pPr>
          </a:lstStyle>
          <a:p>
            <a:endParaRPr lang="de-DE" sz="1800">
              <a:solidFill>
                <a:schemeClr val="bg1"/>
              </a:solidFill>
              <a:cs typeface="Segoe UI Semibold" panose="020B0702040204020203" pitchFamily="34" charset="0"/>
            </a:endParaRPr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41FFBE99-03C0-4745-82DD-A837C762BF36}"/>
              </a:ext>
            </a:extLst>
          </p:cNvPr>
          <p:cNvSpPr txBox="1">
            <a:spLocks/>
          </p:cNvSpPr>
          <p:nvPr/>
        </p:nvSpPr>
        <p:spPr>
          <a:xfrm>
            <a:off x="409374" y="2315355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Pasager/Pers. Aut. 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A3325F55-151E-48BE-9A6A-78801F369921}"/>
              </a:ext>
            </a:extLst>
          </p:cNvPr>
          <p:cNvSpPr txBox="1">
            <a:spLocks/>
          </p:cNvSpPr>
          <p:nvPr/>
        </p:nvSpPr>
        <p:spPr>
          <a:xfrm>
            <a:off x="2815874" y="2323511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Angajat AA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48D409A6-EB3B-4507-9F97-D8B8D1574DC1}"/>
              </a:ext>
            </a:extLst>
          </p:cNvPr>
          <p:cNvSpPr txBox="1">
            <a:spLocks/>
          </p:cNvSpPr>
          <p:nvPr/>
        </p:nvSpPr>
        <p:spPr>
          <a:xfrm>
            <a:off x="4843899" y="2339118"/>
            <a:ext cx="2018784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Angajat AA / Avocat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4E65017B-70F8-4734-830B-3B0F302AC000}"/>
              </a:ext>
            </a:extLst>
          </p:cNvPr>
          <p:cNvSpPr txBox="1">
            <a:spLocks/>
          </p:cNvSpPr>
          <p:nvPr/>
        </p:nvSpPr>
        <p:spPr>
          <a:xfrm>
            <a:off x="7220578" y="2339118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Angajat AA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B1A6A7-6901-690E-2469-71FC87DCC0E8}"/>
              </a:ext>
            </a:extLst>
          </p:cNvPr>
          <p:cNvSpPr/>
          <p:nvPr/>
        </p:nvSpPr>
        <p:spPr>
          <a:xfrm>
            <a:off x="2582819" y="2737249"/>
            <a:ext cx="2046205" cy="2913809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9099E175-5ED2-4CEF-9DE7-DB2C583A8272}"/>
              </a:ext>
            </a:extLst>
          </p:cNvPr>
          <p:cNvSpPr txBox="1">
            <a:spLocks/>
          </p:cNvSpPr>
          <p:nvPr/>
        </p:nvSpPr>
        <p:spPr>
          <a:xfrm>
            <a:off x="9421255" y="2339118"/>
            <a:ext cx="1929367" cy="4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accent1"/>
                </a:solidFill>
              </a:rPr>
              <a:t>Angaja AA / Pasager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3AB7327-24AA-FCBA-4869-B247DBB75293}"/>
              </a:ext>
            </a:extLst>
          </p:cNvPr>
          <p:cNvSpPr/>
          <p:nvPr/>
        </p:nvSpPr>
        <p:spPr>
          <a:xfrm>
            <a:off x="4787443" y="2737248"/>
            <a:ext cx="2046205" cy="2192971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5AE038BD-548F-41E4-81FE-F7D6FB5FE919}"/>
              </a:ext>
            </a:extLst>
          </p:cNvPr>
          <p:cNvSpPr txBox="1">
            <a:spLocks/>
          </p:cNvSpPr>
          <p:nvPr/>
        </p:nvSpPr>
        <p:spPr>
          <a:xfrm>
            <a:off x="392942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/>
              <a:t>Verificare eligibilitatea formală:</a:t>
            </a:r>
          </a:p>
          <a:p>
            <a:pPr lvl="2"/>
            <a:r>
              <a:rPr lang="ro-RO" sz="1200"/>
              <a:t>Ruta</a:t>
            </a:r>
          </a:p>
          <a:p>
            <a:pPr lvl="2"/>
            <a:r>
              <a:rPr lang="ro-RO" sz="1200"/>
              <a:t>Zborul/data</a:t>
            </a:r>
          </a:p>
          <a:p>
            <a:pPr lvl="2"/>
            <a:r>
              <a:rPr lang="ro-RO" sz="1200"/>
              <a:t>Airline EU/non-EU</a:t>
            </a:r>
          </a:p>
          <a:p>
            <a:pPr lvl="2"/>
            <a:r>
              <a:rPr lang="ro-RO" sz="1200"/>
              <a:t>Tip eveniment</a:t>
            </a:r>
          </a:p>
          <a:p>
            <a:pPr lvl="2"/>
            <a:r>
              <a:rPr lang="ro-RO" sz="1200"/>
              <a:t>Motiv (conf. pasager)</a:t>
            </a:r>
          </a:p>
          <a:p>
            <a:pPr lvl="1"/>
            <a:r>
              <a:rPr lang="ro-RO" sz="1400"/>
              <a:t>Dacă OK – înregistrare caz – generare contract</a:t>
            </a:r>
            <a:r>
              <a:rPr lang="ro-RO" sz="1400">
                <a:solidFill>
                  <a:srgbClr val="FF0000"/>
                </a:solidFill>
              </a:rPr>
              <a:t> PDF / user</a:t>
            </a:r>
          </a:p>
          <a:p>
            <a:pPr lvl="1"/>
            <a:r>
              <a:rPr lang="ro-RO" sz="1400"/>
              <a:t>Cerere documente:</a:t>
            </a:r>
          </a:p>
          <a:p>
            <a:pPr lvl="2"/>
            <a:r>
              <a:rPr lang="ro-RO" sz="1200"/>
              <a:t>Talon îmbarcare</a:t>
            </a:r>
          </a:p>
          <a:p>
            <a:pPr lvl="2"/>
            <a:r>
              <a:rPr lang="ro-RO" sz="1200"/>
              <a:t>Pașaport/ID</a:t>
            </a:r>
          </a:p>
          <a:p>
            <a:pPr lvl="2"/>
            <a:r>
              <a:rPr lang="ro-RO" sz="1200"/>
              <a:t>Corespondență</a:t>
            </a:r>
            <a:endParaRPr lang="de-DE" sz="1200"/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E29EACAE-7D50-40D9-8D38-EAA1484ED7CD}"/>
              </a:ext>
            </a:extLst>
          </p:cNvPr>
          <p:cNvSpPr txBox="1">
            <a:spLocks/>
          </p:cNvSpPr>
          <p:nvPr/>
        </p:nvSpPr>
        <p:spPr>
          <a:xfrm>
            <a:off x="2699659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>
                <a:solidFill>
                  <a:schemeClr val="bg1"/>
                </a:solidFill>
              </a:rPr>
              <a:t>Verificare </a:t>
            </a:r>
            <a:r>
              <a:rPr lang="en-US" sz="1400">
                <a:solidFill>
                  <a:schemeClr val="bg1"/>
                </a:solidFill>
              </a:rPr>
              <a:t>formal</a:t>
            </a:r>
            <a:r>
              <a:rPr lang="ro-RO" sz="1400">
                <a:solidFill>
                  <a:schemeClr val="bg1"/>
                </a:solidFill>
              </a:rPr>
              <a:t>ă</a:t>
            </a:r>
          </a:p>
          <a:p>
            <a:pPr lvl="2"/>
            <a:r>
              <a:rPr lang="ro-RO" sz="1200">
                <a:solidFill>
                  <a:schemeClr val="bg1"/>
                </a:solidFill>
              </a:rPr>
              <a:t>Anulare (</a:t>
            </a:r>
            <a:r>
              <a:rPr lang="en-US" sz="1200">
                <a:solidFill>
                  <a:schemeClr val="bg1"/>
                </a:solidFill>
              </a:rPr>
              <a:t>info&lt;14d)</a:t>
            </a:r>
            <a:endParaRPr lang="ro-RO" sz="1200">
              <a:solidFill>
                <a:schemeClr val="bg1"/>
              </a:solidFill>
            </a:endParaRPr>
          </a:p>
          <a:p>
            <a:pPr lvl="2"/>
            <a:r>
              <a:rPr lang="ro-RO" sz="1200">
                <a:solidFill>
                  <a:schemeClr val="bg1"/>
                </a:solidFill>
              </a:rPr>
              <a:t>Întârziere (if </a:t>
            </a:r>
            <a:r>
              <a:rPr lang="en-US" sz="1200">
                <a:solidFill>
                  <a:schemeClr val="bg1"/>
                </a:solidFill>
              </a:rPr>
              <a:t>&gt;3h</a:t>
            </a:r>
            <a:r>
              <a:rPr lang="ro-RO" sz="120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o-RO" sz="1400">
                <a:solidFill>
                  <a:schemeClr val="bg1"/>
                </a:solidFill>
              </a:rPr>
              <a:t>Verificare eligibilitate motiv: </a:t>
            </a:r>
          </a:p>
          <a:p>
            <a:pPr lvl="2"/>
            <a:r>
              <a:rPr lang="ro-RO" sz="1200">
                <a:solidFill>
                  <a:schemeClr val="bg1"/>
                </a:solidFill>
              </a:rPr>
              <a:t>Condiții meteo</a:t>
            </a:r>
          </a:p>
          <a:p>
            <a:pPr lvl="2"/>
            <a:r>
              <a:rPr lang="ro-RO" sz="1200">
                <a:solidFill>
                  <a:schemeClr val="bg1"/>
                </a:solidFill>
              </a:rPr>
              <a:t>Eurocontrol </a:t>
            </a:r>
          </a:p>
          <a:p>
            <a:pPr lvl="2"/>
            <a:r>
              <a:rPr lang="ro-RO" sz="1200">
                <a:solidFill>
                  <a:schemeClr val="bg1"/>
                </a:solidFill>
              </a:rPr>
              <a:t>Alte surse publice</a:t>
            </a:r>
            <a:endParaRPr lang="de-DE" sz="1200">
              <a:solidFill>
                <a:schemeClr val="bg1"/>
              </a:solidFill>
            </a:endParaRPr>
          </a:p>
          <a:p>
            <a:pPr lvl="1"/>
            <a:r>
              <a:rPr lang="ro-RO" sz="1400">
                <a:solidFill>
                  <a:schemeClr val="bg1"/>
                </a:solidFill>
              </a:rPr>
              <a:t>Setare status corespunzător:</a:t>
            </a:r>
          </a:p>
          <a:p>
            <a:pPr lvl="2"/>
            <a:r>
              <a:rPr lang="ro-RO" sz="1200">
                <a:solidFill>
                  <a:schemeClr val="bg1"/>
                </a:solidFill>
              </a:rPr>
              <a:t>Eligibil VAA</a:t>
            </a:r>
          </a:p>
          <a:p>
            <a:pPr lvl="2"/>
            <a:r>
              <a:rPr lang="ro-RO" sz="1200">
                <a:solidFill>
                  <a:schemeClr val="bg1"/>
                </a:solidFill>
              </a:rPr>
              <a:t>Eligibil CC</a:t>
            </a:r>
          </a:p>
          <a:p>
            <a:pPr lvl="2"/>
            <a:r>
              <a:rPr lang="ro-RO" sz="1200">
                <a:solidFill>
                  <a:schemeClr val="bg1"/>
                </a:solidFill>
              </a:rPr>
              <a:t>Neeligibil </a:t>
            </a:r>
          </a:p>
          <a:p>
            <a:pPr lvl="1"/>
            <a:r>
              <a:rPr lang="ro-RO" sz="1400"/>
              <a:t>Flag zbor – eligibil pentru despăgubri:</a:t>
            </a:r>
          </a:p>
          <a:p>
            <a:pPr lvl="2"/>
            <a:r>
              <a:rPr lang="ro-RO" sz="1200"/>
              <a:t>data </a:t>
            </a:r>
          </a:p>
          <a:p>
            <a:pPr lvl="2"/>
            <a:r>
              <a:rPr lang="ro-RO" sz="1200"/>
              <a:t>#zbor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DD79926D-488A-40E2-A4A4-99767B607BFF}"/>
              </a:ext>
            </a:extLst>
          </p:cNvPr>
          <p:cNvSpPr txBox="1">
            <a:spLocks/>
          </p:cNvSpPr>
          <p:nvPr/>
        </p:nvSpPr>
        <p:spPr>
          <a:xfrm>
            <a:off x="4843901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>
                <a:solidFill>
                  <a:schemeClr val="bg1"/>
                </a:solidFill>
              </a:rPr>
              <a:t>Se generează cererea de despăgubire (</a:t>
            </a:r>
            <a:r>
              <a:rPr lang="ro-RO" sz="1400">
                <a:solidFill>
                  <a:srgbClr val="FF0000"/>
                </a:solidFill>
              </a:rPr>
              <a:t>Word/PDF</a:t>
            </a:r>
            <a:r>
              <a:rPr lang="ro-RO" sz="1400">
                <a:solidFill>
                  <a:schemeClr val="bg1"/>
                </a:solidFill>
              </a:rPr>
              <a:t>) adresată companiei aeriene cu toate datele necesare:</a:t>
            </a:r>
          </a:p>
          <a:p>
            <a:pPr lvl="2"/>
            <a:r>
              <a:rPr lang="ro-RO" sz="1100">
                <a:solidFill>
                  <a:schemeClr val="bg1"/>
                </a:solidFill>
              </a:rPr>
              <a:t>Distanța – nivel de comp. </a:t>
            </a:r>
          </a:p>
          <a:p>
            <a:pPr lvl="2"/>
            <a:r>
              <a:rPr lang="ro-RO" sz="1100">
                <a:solidFill>
                  <a:schemeClr val="bg1"/>
                </a:solidFill>
              </a:rPr>
              <a:t>Motiv – eligibilitate </a:t>
            </a:r>
          </a:p>
          <a:p>
            <a:pPr lvl="2"/>
            <a:r>
              <a:rPr lang="ro-RO" sz="1100">
                <a:solidFill>
                  <a:schemeClr val="bg1"/>
                </a:solidFill>
              </a:rPr>
              <a:t>Poate include mai multe pasageri</a:t>
            </a:r>
          </a:p>
          <a:p>
            <a:pPr lvl="1"/>
            <a:r>
              <a:rPr lang="ro-RO" sz="1400"/>
              <a:t>Se înregistrează caz de avocat și se trimite avocatului pentru verificare cererii de despăgubire – avocatul completează/reîncarcă</a:t>
            </a:r>
          </a:p>
          <a:p>
            <a:pPr lvl="1"/>
            <a:endParaRPr lang="de-DE" sz="1400"/>
          </a:p>
          <a:p>
            <a:endParaRPr lang="de-D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204164-4964-E62E-9534-8CD6C8AB56A9}"/>
              </a:ext>
            </a:extLst>
          </p:cNvPr>
          <p:cNvSpPr/>
          <p:nvPr/>
        </p:nvSpPr>
        <p:spPr>
          <a:xfrm>
            <a:off x="7170338" y="2737247"/>
            <a:ext cx="2046205" cy="2192971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TextBox 12">
            <a:extLst>
              <a:ext uri="{FF2B5EF4-FFF2-40B4-BE49-F238E27FC236}">
                <a16:creationId xmlns:a16="http://schemas.microsoft.com/office/drawing/2014/main" id="{E2AA0BA5-279D-4557-9397-E049E4D0B2C1}"/>
              </a:ext>
            </a:extLst>
          </p:cNvPr>
          <p:cNvSpPr txBox="1">
            <a:spLocks/>
          </p:cNvSpPr>
          <p:nvPr/>
        </p:nvSpPr>
        <p:spPr>
          <a:xfrm>
            <a:off x="7220580" y="2796599"/>
            <a:ext cx="1929367" cy="36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>
                <a:solidFill>
                  <a:schemeClr val="bg1"/>
                </a:solidFill>
              </a:rPr>
              <a:t>Cererea de despăgubire intră în corespondență* cu compania aeriană</a:t>
            </a:r>
            <a:endParaRPr lang="ro-RO" sz="1000">
              <a:solidFill>
                <a:schemeClr val="bg1"/>
              </a:solidFill>
            </a:endParaRPr>
          </a:p>
          <a:p>
            <a:pPr lvl="1"/>
            <a:r>
              <a:rPr lang="ro-RO" sz="1400">
                <a:solidFill>
                  <a:schemeClr val="bg1"/>
                </a:solidFill>
              </a:rPr>
              <a:t>Răspunsuri cu nevoia clarificării legale se vor atașa la cazul de avocat deschis</a:t>
            </a:r>
            <a:endParaRPr lang="de-DE" sz="1400">
              <a:solidFill>
                <a:schemeClr val="bg1"/>
              </a:solidFill>
            </a:endParaRPr>
          </a:p>
          <a:p>
            <a:endParaRPr lang="de-DE"/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3D1BF800-E0BF-40E7-A8A6-B40FE6DA134F}"/>
              </a:ext>
            </a:extLst>
          </p:cNvPr>
          <p:cNvSpPr txBox="1">
            <a:spLocks/>
          </p:cNvSpPr>
          <p:nvPr/>
        </p:nvSpPr>
        <p:spPr>
          <a:xfrm>
            <a:off x="9421257" y="2796599"/>
            <a:ext cx="1929367" cy="250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o-RO" sz="1400"/>
              <a:t>Se închide cazul și se comunică rezultatul </a:t>
            </a:r>
          </a:p>
          <a:p>
            <a:pPr lvl="1"/>
            <a:r>
              <a:rPr lang="ro-RO" sz="1400"/>
              <a:t>În caz de câștig: </a:t>
            </a:r>
          </a:p>
          <a:p>
            <a:pPr lvl="2"/>
            <a:r>
              <a:rPr lang="ro-RO"/>
              <a:t>Cerere detaliilor bancare ale PAX</a:t>
            </a:r>
          </a:p>
          <a:p>
            <a:pPr lvl="2"/>
            <a:r>
              <a:rPr lang="ro-RO"/>
              <a:t>Virament bancar</a:t>
            </a:r>
          </a:p>
          <a:p>
            <a:pPr lvl="2"/>
            <a:r>
              <a:rPr lang="ro-RO"/>
              <a:t>Emitere factură</a:t>
            </a:r>
            <a:endParaRPr lang="de-DE"/>
          </a:p>
          <a:p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9C9A33A-35B2-6902-616A-1AF979159587}"/>
              </a:ext>
            </a:extLst>
          </p:cNvPr>
          <p:cNvSpPr txBox="1">
            <a:spLocks/>
          </p:cNvSpPr>
          <p:nvPr/>
        </p:nvSpPr>
        <p:spPr>
          <a:xfrm>
            <a:off x="392939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1.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CF5FDE26-0AFE-5D4A-09C9-9B7C2B93B780}"/>
              </a:ext>
            </a:extLst>
          </p:cNvPr>
          <p:cNvSpPr txBox="1">
            <a:spLocks/>
          </p:cNvSpPr>
          <p:nvPr/>
        </p:nvSpPr>
        <p:spPr>
          <a:xfrm>
            <a:off x="2699656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2.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AC9ED28-4A2E-9A68-FC76-8A511EAF3EBB}"/>
              </a:ext>
            </a:extLst>
          </p:cNvPr>
          <p:cNvSpPr txBox="1">
            <a:spLocks/>
          </p:cNvSpPr>
          <p:nvPr/>
        </p:nvSpPr>
        <p:spPr>
          <a:xfrm>
            <a:off x="4843898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3.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30EC8D8B-6400-3C36-98DA-BD73D371B637}"/>
              </a:ext>
            </a:extLst>
          </p:cNvPr>
          <p:cNvSpPr txBox="1">
            <a:spLocks/>
          </p:cNvSpPr>
          <p:nvPr/>
        </p:nvSpPr>
        <p:spPr>
          <a:xfrm>
            <a:off x="7220577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4.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99B8B97-70DC-6CC1-D039-FCE81C8D9E5D}"/>
              </a:ext>
            </a:extLst>
          </p:cNvPr>
          <p:cNvSpPr txBox="1">
            <a:spLocks/>
          </p:cNvSpPr>
          <p:nvPr/>
        </p:nvSpPr>
        <p:spPr>
          <a:xfrm>
            <a:off x="9421254" y="1402353"/>
            <a:ext cx="232436" cy="38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>
                <a:solidFill>
                  <a:schemeClr val="accent1"/>
                </a:solidFill>
              </a:rPr>
              <a:t>5.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3AE036CB-7B16-0161-CAE1-F8590628A254}"/>
              </a:ext>
            </a:extLst>
          </p:cNvPr>
          <p:cNvSpPr txBox="1">
            <a:spLocks/>
          </p:cNvSpPr>
          <p:nvPr/>
        </p:nvSpPr>
        <p:spPr>
          <a:xfrm>
            <a:off x="625376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Înregistrare caz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60EDE012-4735-CFA7-1FBD-4FA898C61A5D}"/>
              </a:ext>
            </a:extLst>
          </p:cNvPr>
          <p:cNvSpPr txBox="1">
            <a:spLocks/>
          </p:cNvSpPr>
          <p:nvPr/>
        </p:nvSpPr>
        <p:spPr>
          <a:xfrm>
            <a:off x="2932093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Verificare zbor 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81A8616C-2C0E-B18F-F8B9-A553F67EC329}"/>
              </a:ext>
            </a:extLst>
          </p:cNvPr>
          <p:cNvSpPr txBox="1">
            <a:spLocks/>
          </p:cNvSpPr>
          <p:nvPr/>
        </p:nvSpPr>
        <p:spPr>
          <a:xfrm>
            <a:off x="5076335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Verificare Av. 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B605026-19A2-79B5-BBA5-197778B75954}"/>
              </a:ext>
            </a:extLst>
          </p:cNvPr>
          <p:cNvSpPr txBox="1">
            <a:spLocks/>
          </p:cNvSpPr>
          <p:nvPr/>
        </p:nvSpPr>
        <p:spPr>
          <a:xfrm>
            <a:off x="7453014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Airline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BD7A72-158E-E584-9D1D-52E804D69E4F}"/>
              </a:ext>
            </a:extLst>
          </p:cNvPr>
          <p:cNvSpPr txBox="1">
            <a:spLocks/>
          </p:cNvSpPr>
          <p:nvPr/>
        </p:nvSpPr>
        <p:spPr>
          <a:xfrm>
            <a:off x="9653691" y="1468532"/>
            <a:ext cx="1696931" cy="2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>
                <a:solidFill>
                  <a:schemeClr val="tx2"/>
                </a:solidFill>
              </a:rPr>
              <a:t>Închidere caz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9" name="Plus Sign 18">
            <a:extLst>
              <a:ext uri="{FF2B5EF4-FFF2-40B4-BE49-F238E27FC236}">
                <a16:creationId xmlns:a16="http://schemas.microsoft.com/office/drawing/2014/main" id="{41709D94-6EFA-D3D5-6A4A-9EB978E10203}"/>
              </a:ext>
            </a:extLst>
          </p:cNvPr>
          <p:cNvSpPr/>
          <p:nvPr/>
        </p:nvSpPr>
        <p:spPr>
          <a:xfrm>
            <a:off x="2271847" y="2618866"/>
            <a:ext cx="660245" cy="639849"/>
          </a:xfrm>
          <a:prstGeom prst="mathPlu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Plus Sign 19">
            <a:extLst>
              <a:ext uri="{FF2B5EF4-FFF2-40B4-BE49-F238E27FC236}">
                <a16:creationId xmlns:a16="http://schemas.microsoft.com/office/drawing/2014/main" id="{94CBF1A5-A9BB-1DB0-A817-258BE4D2A546}"/>
              </a:ext>
            </a:extLst>
          </p:cNvPr>
          <p:cNvSpPr/>
          <p:nvPr/>
        </p:nvSpPr>
        <p:spPr>
          <a:xfrm>
            <a:off x="4432016" y="2642252"/>
            <a:ext cx="660245" cy="639849"/>
          </a:xfrm>
          <a:prstGeom prst="mathPlu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5108445D-B314-800C-E0ED-D83FB05132D8}"/>
              </a:ext>
            </a:extLst>
          </p:cNvPr>
          <p:cNvSpPr/>
          <p:nvPr/>
        </p:nvSpPr>
        <p:spPr>
          <a:xfrm>
            <a:off x="6849112" y="2662915"/>
            <a:ext cx="660245" cy="639849"/>
          </a:xfrm>
          <a:prstGeom prst="mathPlu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25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7FB1D-FCF8-7E6A-B8B1-F6A663C1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782FE-13BF-5637-25E2-DBF589B8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14000"/>
            <a:ext cx="9360000" cy="780543"/>
          </a:xfrm>
        </p:spPr>
        <p:txBody>
          <a:bodyPr/>
          <a:lstStyle/>
          <a:p>
            <a:r>
              <a:rPr lang="ro-RO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jec</a:t>
            </a:r>
            <a:r>
              <a:rPr lang="ro-RO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br>
              <a:rPr lang="ro-RO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o-RO">
                <a:latin typeface="Arial" panose="020B0604020202020204" pitchFamily="34" charset="0"/>
                <a:cs typeface="Arial" panose="020B0604020202020204" pitchFamily="34" charset="0"/>
              </a:rPr>
              <a:t>Air-Assist.eu C</a:t>
            </a:r>
            <a:r>
              <a:rPr lang="en-US" err="1"/>
              <a:t>laim</a:t>
            </a:r>
            <a:r>
              <a:rPr lang="en-US"/>
              <a:t> Management</a:t>
            </a:r>
            <a:r>
              <a:rPr lang="hu-HU"/>
              <a:t> A</a:t>
            </a:r>
            <a:r>
              <a:rPr lang="de-DE"/>
              <a:t>pp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65F83-D542-76D3-E0A9-232558D0EBC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41375" y="160422"/>
            <a:ext cx="7480624" cy="216000"/>
          </a:xfrm>
        </p:spPr>
        <p:txBody>
          <a:bodyPr/>
          <a:lstStyle/>
          <a:p>
            <a:endParaRPr lang="en-US"/>
          </a:p>
        </p:txBody>
      </p:sp>
      <p:sp>
        <p:nvSpPr>
          <p:cNvPr id="104" name="AutoShape 16">
            <a:extLst>
              <a:ext uri="{FF2B5EF4-FFF2-40B4-BE49-F238E27FC236}">
                <a16:creationId xmlns:a16="http://schemas.microsoft.com/office/drawing/2014/main" id="{52AC01B0-2BAC-B431-A464-EEB7CE9DC59A}"/>
              </a:ext>
            </a:extLst>
          </p:cNvPr>
          <p:cNvSpPr txBox="1">
            <a:spLocks/>
          </p:cNvSpPr>
          <p:nvPr/>
        </p:nvSpPr>
        <p:spPr bwMode="gray">
          <a:xfrm>
            <a:off x="0" y="1242439"/>
            <a:ext cx="11840766" cy="1089163"/>
          </a:xfrm>
          <a:prstGeom prst="homePlate">
            <a:avLst>
              <a:gd name="adj" fmla="val 23315"/>
            </a:avLst>
          </a:prstGeom>
          <a:solidFill>
            <a:schemeClr val="bg2"/>
          </a:solidFill>
        </p:spPr>
        <p:txBody>
          <a:bodyPr vert="horz" lIns="84600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1600" b="0" kern="1200">
                <a:solidFill>
                  <a:schemeClr val="tx2"/>
                </a:solidFill>
                <a:latin typeface="+mn-lt"/>
                <a:ea typeface="Open Sans Semibold" panose="020B0706030804020204" pitchFamily="34" charset="0"/>
                <a:cs typeface="Segoe UI" panose="020B0502040204020203" pitchFamily="34" charset="0"/>
              </a:defRPr>
            </a:lvl1pPr>
            <a:lvl2pPr marL="18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36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54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72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90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6pPr>
            <a:lvl7pPr marL="108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7pPr>
            <a:lvl8pPr marL="126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8pPr>
            <a:lvl9pPr marL="144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Segoe UI Semibold" panose="020B0702040204020203" pitchFamily="34" charset="0"/>
            </a:endParaRPr>
          </a:p>
        </p:txBody>
      </p:sp>
      <p:pic>
        <p:nvPicPr>
          <p:cNvPr id="55" name="Grafik 6">
            <a:extLst>
              <a:ext uri="{FF2B5EF4-FFF2-40B4-BE49-F238E27FC236}">
                <a16:creationId xmlns:a16="http://schemas.microsoft.com/office/drawing/2014/main" id="{AC37C75C-47DD-CC5E-6804-F30E0324E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2670" y="1446153"/>
            <a:ext cx="952500" cy="952500"/>
          </a:xfrm>
          <a:prstGeom prst="rect">
            <a:avLst/>
          </a:prstGeom>
        </p:spPr>
      </p:pic>
      <p:pic>
        <p:nvPicPr>
          <p:cNvPr id="56" name="Grafik 6">
            <a:extLst>
              <a:ext uri="{FF2B5EF4-FFF2-40B4-BE49-F238E27FC236}">
                <a16:creationId xmlns:a16="http://schemas.microsoft.com/office/drawing/2014/main" id="{F3E0101C-53F8-13C9-257E-1552A4E67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4245" y="1446153"/>
            <a:ext cx="952500" cy="952500"/>
          </a:xfrm>
          <a:prstGeom prst="rect">
            <a:avLst/>
          </a:prstGeom>
        </p:spPr>
      </p:pic>
      <p:pic>
        <p:nvPicPr>
          <p:cNvPr id="57" name="Grafik 6">
            <a:extLst>
              <a:ext uri="{FF2B5EF4-FFF2-40B4-BE49-F238E27FC236}">
                <a16:creationId xmlns:a16="http://schemas.microsoft.com/office/drawing/2014/main" id="{D6ADA977-E23E-E50E-69EC-A97989D47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801" y="1446153"/>
            <a:ext cx="952500" cy="952500"/>
          </a:xfrm>
          <a:prstGeom prst="rect">
            <a:avLst/>
          </a:prstGeom>
        </p:spPr>
      </p:pic>
      <p:sp>
        <p:nvSpPr>
          <p:cNvPr id="59" name="Freihandform: Form 16">
            <a:extLst>
              <a:ext uri="{FF2B5EF4-FFF2-40B4-BE49-F238E27FC236}">
                <a16:creationId xmlns:a16="http://schemas.microsoft.com/office/drawing/2014/main" id="{2CE85888-1F07-9D33-74E8-018EF718162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2700000">
            <a:off x="5463910" y="1576597"/>
            <a:ext cx="420771" cy="416217"/>
          </a:xfrm>
          <a:custGeom>
            <a:avLst/>
            <a:gdLst>
              <a:gd name="connsiteX0" fmla="*/ 0 w 420771"/>
              <a:gd name="connsiteY0" fmla="*/ 0 h 416217"/>
              <a:gd name="connsiteX1" fmla="*/ 420771 w 420771"/>
              <a:gd name="connsiteY1" fmla="*/ 0 h 416217"/>
              <a:gd name="connsiteX2" fmla="*/ 420771 w 420771"/>
              <a:gd name="connsiteY2" fmla="*/ 416217 h 416217"/>
              <a:gd name="connsiteX3" fmla="*/ 382077 w 420771"/>
              <a:gd name="connsiteY3" fmla="*/ 416216 h 416217"/>
              <a:gd name="connsiteX4" fmla="*/ 382077 w 420771"/>
              <a:gd name="connsiteY4" fmla="*/ 38694 h 416217"/>
              <a:gd name="connsiteX5" fmla="*/ 0 w 420771"/>
              <a:gd name="connsiteY5" fmla="*/ 38694 h 416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0771" h="416217">
                <a:moveTo>
                  <a:pt x="0" y="0"/>
                </a:moveTo>
                <a:lnTo>
                  <a:pt x="420771" y="0"/>
                </a:lnTo>
                <a:lnTo>
                  <a:pt x="420771" y="416217"/>
                </a:lnTo>
                <a:lnTo>
                  <a:pt x="382077" y="416216"/>
                </a:lnTo>
                <a:lnTo>
                  <a:pt x="382077" y="38694"/>
                </a:lnTo>
                <a:lnTo>
                  <a:pt x="0" y="38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ihandform: Form 16">
            <a:extLst>
              <a:ext uri="{FF2B5EF4-FFF2-40B4-BE49-F238E27FC236}">
                <a16:creationId xmlns:a16="http://schemas.microsoft.com/office/drawing/2014/main" id="{EF3CDD3E-A0C6-C3F3-AAA9-85201C81F21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2700000">
            <a:off x="2107591" y="1573323"/>
            <a:ext cx="420771" cy="416217"/>
          </a:xfrm>
          <a:custGeom>
            <a:avLst/>
            <a:gdLst>
              <a:gd name="connsiteX0" fmla="*/ 0 w 420771"/>
              <a:gd name="connsiteY0" fmla="*/ 0 h 416217"/>
              <a:gd name="connsiteX1" fmla="*/ 420771 w 420771"/>
              <a:gd name="connsiteY1" fmla="*/ 0 h 416217"/>
              <a:gd name="connsiteX2" fmla="*/ 420771 w 420771"/>
              <a:gd name="connsiteY2" fmla="*/ 416217 h 416217"/>
              <a:gd name="connsiteX3" fmla="*/ 382077 w 420771"/>
              <a:gd name="connsiteY3" fmla="*/ 416216 h 416217"/>
              <a:gd name="connsiteX4" fmla="*/ 382077 w 420771"/>
              <a:gd name="connsiteY4" fmla="*/ 38694 h 416217"/>
              <a:gd name="connsiteX5" fmla="*/ 0 w 420771"/>
              <a:gd name="connsiteY5" fmla="*/ 38694 h 416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0771" h="416217">
                <a:moveTo>
                  <a:pt x="0" y="0"/>
                </a:moveTo>
                <a:lnTo>
                  <a:pt x="420771" y="0"/>
                </a:lnTo>
                <a:lnTo>
                  <a:pt x="420771" y="416217"/>
                </a:lnTo>
                <a:lnTo>
                  <a:pt x="382077" y="416216"/>
                </a:lnTo>
                <a:lnTo>
                  <a:pt x="382077" y="38694"/>
                </a:lnTo>
                <a:lnTo>
                  <a:pt x="0" y="38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Freihandform: Form 16">
            <a:extLst>
              <a:ext uri="{FF2B5EF4-FFF2-40B4-BE49-F238E27FC236}">
                <a16:creationId xmlns:a16="http://schemas.microsoft.com/office/drawing/2014/main" id="{4FD6F6B9-BC1E-469E-6908-FD849CBC2FE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2700000">
            <a:off x="8870916" y="1582356"/>
            <a:ext cx="420771" cy="416217"/>
          </a:xfrm>
          <a:custGeom>
            <a:avLst/>
            <a:gdLst>
              <a:gd name="connsiteX0" fmla="*/ 0 w 420771"/>
              <a:gd name="connsiteY0" fmla="*/ 0 h 416217"/>
              <a:gd name="connsiteX1" fmla="*/ 420771 w 420771"/>
              <a:gd name="connsiteY1" fmla="*/ 0 h 416217"/>
              <a:gd name="connsiteX2" fmla="*/ 420771 w 420771"/>
              <a:gd name="connsiteY2" fmla="*/ 416217 h 416217"/>
              <a:gd name="connsiteX3" fmla="*/ 382077 w 420771"/>
              <a:gd name="connsiteY3" fmla="*/ 416216 h 416217"/>
              <a:gd name="connsiteX4" fmla="*/ 382077 w 420771"/>
              <a:gd name="connsiteY4" fmla="*/ 38694 h 416217"/>
              <a:gd name="connsiteX5" fmla="*/ 0 w 420771"/>
              <a:gd name="connsiteY5" fmla="*/ 38694 h 416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0771" h="416217">
                <a:moveTo>
                  <a:pt x="0" y="0"/>
                </a:moveTo>
                <a:lnTo>
                  <a:pt x="420771" y="0"/>
                </a:lnTo>
                <a:lnTo>
                  <a:pt x="420771" y="416217"/>
                </a:lnTo>
                <a:lnTo>
                  <a:pt x="382077" y="416216"/>
                </a:lnTo>
                <a:lnTo>
                  <a:pt x="382077" y="38694"/>
                </a:lnTo>
                <a:lnTo>
                  <a:pt x="0" y="38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E81011B1-9A29-A83C-E95C-5E331DCE40D4}"/>
              </a:ext>
            </a:extLst>
          </p:cNvPr>
          <p:cNvSpPr txBox="1">
            <a:spLocks/>
          </p:cNvSpPr>
          <p:nvPr/>
        </p:nvSpPr>
        <p:spPr>
          <a:xfrm>
            <a:off x="351234" y="1547030"/>
            <a:ext cx="1696931" cy="50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ro-RO" sz="2800" b="1" i="0" u="none" strike="noStrike" kern="1200" cap="none" spc="0" normalizeH="0" baseline="0" noProof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entry</a:t>
            </a:r>
            <a:endParaRPr kumimoji="0" lang="de-DE" sz="2800" b="1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TextBox 14">
            <a:extLst>
              <a:ext uri="{FF2B5EF4-FFF2-40B4-BE49-F238E27FC236}">
                <a16:creationId xmlns:a16="http://schemas.microsoft.com/office/drawing/2014/main" id="{C47C4CB9-2635-4DB8-FC66-17F947453B63}"/>
              </a:ext>
            </a:extLst>
          </p:cNvPr>
          <p:cNvSpPr txBox="1">
            <a:spLocks/>
          </p:cNvSpPr>
          <p:nvPr/>
        </p:nvSpPr>
        <p:spPr>
          <a:xfrm>
            <a:off x="2792361" y="1549663"/>
            <a:ext cx="2447825" cy="50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Eligibility check</a:t>
            </a:r>
          </a:p>
        </p:txBody>
      </p:sp>
      <p:sp>
        <p:nvSpPr>
          <p:cNvPr id="121" name="TextBox 14">
            <a:extLst>
              <a:ext uri="{FF2B5EF4-FFF2-40B4-BE49-F238E27FC236}">
                <a16:creationId xmlns:a16="http://schemas.microsoft.com/office/drawing/2014/main" id="{C7738890-F259-3B16-F556-360581F2BC6C}"/>
              </a:ext>
            </a:extLst>
          </p:cNvPr>
          <p:cNvSpPr txBox="1">
            <a:spLocks/>
          </p:cNvSpPr>
          <p:nvPr/>
        </p:nvSpPr>
        <p:spPr>
          <a:xfrm>
            <a:off x="6080230" y="1547030"/>
            <a:ext cx="2631266" cy="50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Legal proceeding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2D24CEC3-637E-4627-D311-94CCA82B7C33}"/>
              </a:ext>
            </a:extLst>
          </p:cNvPr>
          <p:cNvSpPr txBox="1">
            <a:spLocks/>
          </p:cNvSpPr>
          <p:nvPr/>
        </p:nvSpPr>
        <p:spPr>
          <a:xfrm>
            <a:off x="9438417" y="1550395"/>
            <a:ext cx="2110745" cy="50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72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closure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6A91D5D-15FC-0798-F6DB-E2E306A3346A}"/>
              </a:ext>
            </a:extLst>
          </p:cNvPr>
          <p:cNvGrpSpPr>
            <a:grpSpLocks noChangeAspect="1"/>
          </p:cNvGrpSpPr>
          <p:nvPr/>
        </p:nvGrpSpPr>
        <p:grpSpPr>
          <a:xfrm>
            <a:off x="10968751" y="1775873"/>
            <a:ext cx="531725" cy="341375"/>
            <a:chOff x="5098970" y="2188334"/>
            <a:chExt cx="4012937" cy="2576363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286CBB-08BA-B2BC-A77F-8F71F92435B0}"/>
                </a:ext>
              </a:extLst>
            </p:cNvPr>
            <p:cNvCxnSpPr>
              <a:cxnSpLocks/>
            </p:cNvCxnSpPr>
            <p:nvPr/>
          </p:nvCxnSpPr>
          <p:spPr>
            <a:xfrm>
              <a:off x="5098970" y="3333276"/>
              <a:ext cx="1432885" cy="1430081"/>
            </a:xfrm>
            <a:prstGeom prst="line">
              <a:avLst/>
            </a:prstGeom>
            <a:ln w="50800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1785C4E-7C8F-1989-8CEC-CE07995587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2696" y="2188334"/>
              <a:ext cx="2579211" cy="2576363"/>
            </a:xfrm>
            <a:prstGeom prst="line">
              <a:avLst/>
            </a:prstGeom>
            <a:ln w="50800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10">
            <a:extLst>
              <a:ext uri="{FF2B5EF4-FFF2-40B4-BE49-F238E27FC236}">
                <a16:creationId xmlns:a16="http://schemas.microsoft.com/office/drawing/2014/main" id="{DE4EB14F-E2D4-408F-C1CC-B85F3F8A208A}"/>
              </a:ext>
            </a:extLst>
          </p:cNvPr>
          <p:cNvGrpSpPr/>
          <p:nvPr/>
        </p:nvGrpSpPr>
        <p:grpSpPr>
          <a:xfrm>
            <a:off x="115261" y="2432479"/>
            <a:ext cx="2349909" cy="4096702"/>
            <a:chOff x="5784578" y="2449666"/>
            <a:chExt cx="3265200" cy="4231653"/>
          </a:xfrm>
        </p:grpSpPr>
        <p:sp>
          <p:nvSpPr>
            <p:cNvPr id="16" name="Textplatzhalter 2">
              <a:extLst>
                <a:ext uri="{FF2B5EF4-FFF2-40B4-BE49-F238E27FC236}">
                  <a16:creationId xmlns:a16="http://schemas.microsoft.com/office/drawing/2014/main" id="{BE781B86-980C-C162-A6FB-7D9683E7BC4B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2449666"/>
              <a:ext cx="3265200" cy="477805"/>
            </a:xfrm>
            <a:prstGeom prst="rect">
              <a:avLst/>
            </a:prstGeom>
          </p:spPr>
          <p:txBody>
            <a:bodyPr vert="horz" lIns="0" tIns="0" rIns="0" bIns="14400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Passenger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fills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out </a:t>
              </a:r>
              <a:r>
                <a:rPr kumimoji="0" lang="hu-HU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dynamic 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form</a:t>
              </a:r>
            </a:p>
          </p:txBody>
        </p:sp>
        <p:sp>
          <p:nvSpPr>
            <p:cNvPr id="17" name="Textplatzhalter 2">
              <a:extLst>
                <a:ext uri="{FF2B5EF4-FFF2-40B4-BE49-F238E27FC236}">
                  <a16:creationId xmlns:a16="http://schemas.microsoft.com/office/drawing/2014/main" id="{7E3D2055-D816-FC46-AFC5-A0051F1B59BA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3136244"/>
              <a:ext cx="3265200" cy="354507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+mj-lt"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Formal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validity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is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checked</a:t>
              </a: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If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formal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validity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Inform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about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potential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compensation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Create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id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Create PDF-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contract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Notify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assign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colleague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If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formal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validity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NOK</a:t>
              </a: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Reject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costumer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CTA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new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8" name="Gruppieren 10">
            <a:extLst>
              <a:ext uri="{FF2B5EF4-FFF2-40B4-BE49-F238E27FC236}">
                <a16:creationId xmlns:a16="http://schemas.microsoft.com/office/drawing/2014/main" id="{B349F703-9DDE-E319-3D98-835D19B790A6}"/>
              </a:ext>
            </a:extLst>
          </p:cNvPr>
          <p:cNvGrpSpPr/>
          <p:nvPr/>
        </p:nvGrpSpPr>
        <p:grpSpPr>
          <a:xfrm>
            <a:off x="2890277" y="2410997"/>
            <a:ext cx="2349909" cy="4096702"/>
            <a:chOff x="5784578" y="2449666"/>
            <a:chExt cx="3265200" cy="4231653"/>
          </a:xfrm>
        </p:grpSpPr>
        <p:sp>
          <p:nvSpPr>
            <p:cNvPr id="19" name="Textplatzhalter 2">
              <a:extLst>
                <a:ext uri="{FF2B5EF4-FFF2-40B4-BE49-F238E27FC236}">
                  <a16:creationId xmlns:a16="http://schemas.microsoft.com/office/drawing/2014/main" id="{8E06B01F-D3E6-3CEC-2782-3595C7532CA0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2449666"/>
              <a:ext cx="3265200" cy="477805"/>
            </a:xfrm>
            <a:prstGeom prst="rect">
              <a:avLst/>
            </a:prstGeom>
          </p:spPr>
          <p:txBody>
            <a:bodyPr vert="horz" lIns="0" tIns="0" rIns="0" bIns="14400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Colleague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checks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eligibility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flight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&amp;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20" name="Textplatzhalter 2">
              <a:extLst>
                <a:ext uri="{FF2B5EF4-FFF2-40B4-BE49-F238E27FC236}">
                  <a16:creationId xmlns:a16="http://schemas.microsoft.com/office/drawing/2014/main" id="{62F509CD-965C-2324-E84F-1B637EF8BC3B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3136244"/>
              <a:ext cx="3265200" cy="354507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+mj-lt"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Flight and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eligibility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is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checked</a:t>
              </a: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IF 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–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automatic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request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further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documents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flag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flight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ELIGIBLE</a:t>
              </a: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IF 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NOK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–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automatic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response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passenger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rejection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flag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flight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NON-ELIGIBLE</a:t>
              </a: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endParaRPr kumimoji="0" lang="de-DE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1" name="Gruppieren 10">
            <a:extLst>
              <a:ext uri="{FF2B5EF4-FFF2-40B4-BE49-F238E27FC236}">
                <a16:creationId xmlns:a16="http://schemas.microsoft.com/office/drawing/2014/main" id="{870CEAB3-0548-8285-DB26-B46D1D2871CE}"/>
              </a:ext>
            </a:extLst>
          </p:cNvPr>
          <p:cNvGrpSpPr/>
          <p:nvPr/>
        </p:nvGrpSpPr>
        <p:grpSpPr>
          <a:xfrm>
            <a:off x="5665293" y="2398653"/>
            <a:ext cx="3636430" cy="4096702"/>
            <a:chOff x="5784578" y="2449666"/>
            <a:chExt cx="3265200" cy="4231653"/>
          </a:xfrm>
        </p:grpSpPr>
        <p:sp>
          <p:nvSpPr>
            <p:cNvPr id="22" name="Textplatzhalter 2">
              <a:extLst>
                <a:ext uri="{FF2B5EF4-FFF2-40B4-BE49-F238E27FC236}">
                  <a16:creationId xmlns:a16="http://schemas.microsoft.com/office/drawing/2014/main" id="{E346B0E9-3931-63F0-E7E9-27F3A18A9FD9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2449666"/>
              <a:ext cx="3265200" cy="477805"/>
            </a:xfrm>
            <a:prstGeom prst="rect">
              <a:avLst/>
            </a:prstGeom>
          </p:spPr>
          <p:txBody>
            <a:bodyPr vert="horz" lIns="0" tIns="0" rIns="0" bIns="14400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Create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request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attorney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check +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proceed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with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airlines</a:t>
              </a: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A014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platzhalter 2">
              <a:extLst>
                <a:ext uri="{FF2B5EF4-FFF2-40B4-BE49-F238E27FC236}">
                  <a16:creationId xmlns:a16="http://schemas.microsoft.com/office/drawing/2014/main" id="{439B090E-139C-F7B0-1C7B-C26AAA3CE725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3136244"/>
              <a:ext cx="3265200" cy="354507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+mj-lt"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Create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Mutliple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cases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cand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assigned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IF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: </a:t>
              </a: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+mj-lt"/>
                <a:buAutoNum type="alphaLcParenR"/>
                <a:tabLst/>
                <a:defRPr/>
              </a:pPr>
              <a:r>
                <a:rPr kumimoji="0" lang="de-DE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cases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WITH </a:t>
              </a:r>
              <a:r>
                <a:rPr kumimoji="0" lang="de-DE" sz="11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same </a:t>
              </a:r>
              <a:r>
                <a:rPr kumimoji="0" lang="de-DE" sz="1100" b="0" i="0" u="sng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flight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AND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sng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without</a:t>
              </a:r>
              <a:r>
                <a:rPr kumimoji="0" lang="de-DE" sz="11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sng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connecting</a:t>
              </a:r>
              <a:r>
                <a:rPr kumimoji="0" lang="de-DE" sz="11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sng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flights</a:t>
              </a:r>
              <a:endParaRPr kumimoji="0" lang="de-DE" sz="11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+mj-lt"/>
                <a:buAutoNum type="alphaLcParenR"/>
                <a:tabLst/>
                <a:defRPr/>
              </a:pPr>
              <a:r>
                <a:rPr kumimoji="0" lang="de-DE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cases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WITH </a:t>
              </a:r>
              <a:r>
                <a:rPr kumimoji="0" lang="de-DE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connecting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flights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only</a:t>
              </a: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100" b="0" i="0" u="sng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with</a:t>
              </a:r>
              <a:r>
                <a:rPr kumimoji="0" lang="de-DE" sz="11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same </a:t>
              </a:r>
              <a:r>
                <a:rPr kumimoji="0" lang="de-DE" sz="1100" b="0" i="0" u="sng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reservation</a:t>
              </a:r>
              <a:r>
                <a:rPr kumimoji="0" lang="de-DE" sz="11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code</a:t>
              </a: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ELSE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only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Create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id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Create Word-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payment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request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Assign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attorney</a:t>
              </a: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Notify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and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assign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attornes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Notify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colleague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when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attorney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responded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Proceed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with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airlines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outside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application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486900" marR="0" lvl="1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ruppieren 10">
            <a:extLst>
              <a:ext uri="{FF2B5EF4-FFF2-40B4-BE49-F238E27FC236}">
                <a16:creationId xmlns:a16="http://schemas.microsoft.com/office/drawing/2014/main" id="{D9E51B7B-017C-8888-2ACA-A333A0599B4D}"/>
              </a:ext>
            </a:extLst>
          </p:cNvPr>
          <p:cNvGrpSpPr/>
          <p:nvPr/>
        </p:nvGrpSpPr>
        <p:grpSpPr>
          <a:xfrm>
            <a:off x="9438417" y="2398653"/>
            <a:ext cx="2349909" cy="4096702"/>
            <a:chOff x="5784578" y="2449666"/>
            <a:chExt cx="3265200" cy="4231653"/>
          </a:xfrm>
        </p:grpSpPr>
        <p:sp>
          <p:nvSpPr>
            <p:cNvPr id="25" name="Textplatzhalter 2">
              <a:extLst>
                <a:ext uri="{FF2B5EF4-FFF2-40B4-BE49-F238E27FC236}">
                  <a16:creationId xmlns:a16="http://schemas.microsoft.com/office/drawing/2014/main" id="{7E8008B5-98D2-BA24-56B0-88F1B253723F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2449666"/>
              <a:ext cx="3265200" cy="477805"/>
            </a:xfrm>
            <a:prstGeom prst="rect">
              <a:avLst/>
            </a:prstGeom>
          </p:spPr>
          <p:txBody>
            <a:bodyPr vert="horz" lIns="0" tIns="0" rIns="0" bIns="14400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Colleague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marks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A014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Textplatzhalter 2">
              <a:extLst>
                <a:ext uri="{FF2B5EF4-FFF2-40B4-BE49-F238E27FC236}">
                  <a16:creationId xmlns:a16="http://schemas.microsoft.com/office/drawing/2014/main" id="{89B49990-2671-1D99-3FFE-E0A377BF0A71}"/>
                </a:ext>
              </a:extLst>
            </p:cNvPr>
            <p:cNvSpPr txBox="1">
              <a:spLocks/>
            </p:cNvSpPr>
            <p:nvPr/>
          </p:nvSpPr>
          <p:spPr>
            <a:xfrm>
              <a:off x="5784578" y="3136244"/>
              <a:ext cx="3265200" cy="354507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Tx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0144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+mj-lt"/>
                <a:buAutoNum type="alphaLcParenR"/>
                <a:tabLst/>
                <a:defRPr/>
              </a:pP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Claim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is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marked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accoding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airline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dispute</a:t>
              </a:r>
              <a:r>
                <a: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result</a:t>
              </a: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IF 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WIN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–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automatic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request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payment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infromation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all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passengers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in </a:t>
              </a:r>
              <a:r>
                <a:rPr kumimoji="0" lang="de-DE" sz="12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linked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cases</a:t>
              </a:r>
              <a:endPara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IF </a:t>
              </a: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LOST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–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automatic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response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passenger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rejection</a:t>
              </a:r>
              <a:endPara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882900" marR="0" lvl="2" indent="-34290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A01441"/>
                </a:buClr>
                <a:buSzTx/>
                <a:buFont typeface="Arial" panose="020B0604020202020204" pitchFamily="34" charset="0"/>
                <a:buAutoNum type="arabicPeriod"/>
                <a:tabLst/>
                <a:defRPr/>
              </a:pPr>
              <a:endParaRPr kumimoji="0" lang="de-DE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5D8F3C4-AECA-1C02-C723-82C96302907D}"/>
              </a:ext>
            </a:extLst>
          </p:cNvPr>
          <p:cNvSpPr/>
          <p:nvPr/>
        </p:nvSpPr>
        <p:spPr>
          <a:xfrm>
            <a:off x="79266" y="1242439"/>
            <a:ext cx="5365605" cy="464931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3204C0A0-EE6B-3443-730A-902971E3FF08}"/>
              </a:ext>
            </a:extLst>
          </p:cNvPr>
          <p:cNvSpPr/>
          <p:nvPr/>
        </p:nvSpPr>
        <p:spPr>
          <a:xfrm>
            <a:off x="4568178" y="5076730"/>
            <a:ext cx="876693" cy="857655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9B83C2-E13A-FA10-A626-7E86C753F504}"/>
              </a:ext>
            </a:extLst>
          </p:cNvPr>
          <p:cNvSpPr/>
          <p:nvPr/>
        </p:nvSpPr>
        <p:spPr>
          <a:xfrm>
            <a:off x="5554461" y="1242439"/>
            <a:ext cx="4147622" cy="46493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ECBEF608-7309-807D-BB16-82EBCA7D3C1C}"/>
              </a:ext>
            </a:extLst>
          </p:cNvPr>
          <p:cNvSpPr/>
          <p:nvPr/>
        </p:nvSpPr>
        <p:spPr>
          <a:xfrm>
            <a:off x="8901363" y="5076730"/>
            <a:ext cx="800719" cy="81502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8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E80E10-173E-685E-557D-8F213C7EE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Implementation details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D85FE-898C-B342-87CD-8BCFE4566E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B8B2EE-8D9D-DBD3-F60D-AB3B5185B6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A673B3-52C9-4C18-9059-1380E56D34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7CC2-A8A4-4E5A-59E0-09D37F73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C82547-21CA-9C4A-EAEC-4B7AE5B89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Calibri"/>
                <a:cs typeface="Calibri"/>
              </a:rPr>
              <a:t>Backend with Django Framework (Python) </a:t>
            </a:r>
            <a:endParaRPr lang="en-US"/>
          </a:p>
          <a:p>
            <a:pPr marL="429260" lvl="1" indent="-285750">
              <a:buFont typeface="Courier New"/>
              <a:buChar char="o"/>
            </a:pPr>
            <a:r>
              <a:rPr lang="en-US" sz="2400">
                <a:ea typeface="Calibri"/>
                <a:cs typeface="Calibri"/>
              </a:rPr>
              <a:t>REST framework, authentication, authorization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Calibri"/>
                <a:cs typeface="Calibri"/>
              </a:rPr>
              <a:t>Frontend with React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Calibri"/>
                <a:cs typeface="Calibri"/>
              </a:rPr>
              <a:t>Database is PostgreSQL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A9D05-708B-6B34-AA14-5E779DE1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673B3-52C9-4C18-9059-1380E56D3401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9005F0-43D9-B07C-F1AD-CAB54013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Technologies to use</a:t>
            </a: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2721CA-4995-C938-E1FA-CEECE4F87CA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9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11B2D-35E9-14FB-73F3-C927CA06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1ABA05-EF38-E4D0-F83B-C403773C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USER 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FED0-14E8-22E0-39F6-1725FEE5935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7" name="Grafik 25">
            <a:extLst>
              <a:ext uri="{FF2B5EF4-FFF2-40B4-BE49-F238E27FC236}">
                <a16:creationId xmlns:a16="http://schemas.microsoft.com/office/drawing/2014/main" id="{85908DEC-2F31-90BB-B884-15F6C816E370}"/>
              </a:ext>
            </a:extLst>
          </p:cNvPr>
          <p:cNvGrpSpPr/>
          <p:nvPr/>
        </p:nvGrpSpPr>
        <p:grpSpPr>
          <a:xfrm>
            <a:off x="326516" y="597731"/>
            <a:ext cx="806963" cy="752367"/>
            <a:chOff x="6126759" y="5158627"/>
            <a:chExt cx="301275" cy="280892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309EF34-CDB0-15AE-CAA1-8DD6924D9412}"/>
                </a:ext>
              </a:extLst>
            </p:cNvPr>
            <p:cNvSpPr/>
            <p:nvPr/>
          </p:nvSpPr>
          <p:spPr>
            <a:xfrm>
              <a:off x="6227534" y="5203775"/>
              <a:ext cx="99822" cy="156876"/>
            </a:xfrm>
            <a:custGeom>
              <a:avLst/>
              <a:gdLst>
                <a:gd name="connsiteX0" fmla="*/ 72104 w 99822"/>
                <a:gd name="connsiteY0" fmla="*/ 22384 h 156876"/>
                <a:gd name="connsiteX1" fmla="*/ 49911 w 99822"/>
                <a:gd name="connsiteY1" fmla="*/ 44767 h 156876"/>
                <a:gd name="connsiteX2" fmla="*/ 27718 w 99822"/>
                <a:gd name="connsiteY2" fmla="*/ 22384 h 156876"/>
                <a:gd name="connsiteX3" fmla="*/ 49911 w 99822"/>
                <a:gd name="connsiteY3" fmla="*/ 0 h 156876"/>
                <a:gd name="connsiteX4" fmla="*/ 72104 w 99822"/>
                <a:gd name="connsiteY4" fmla="*/ 22384 h 156876"/>
                <a:gd name="connsiteX5" fmla="*/ 77629 w 99822"/>
                <a:gd name="connsiteY5" fmla="*/ 156877 h 156876"/>
                <a:gd name="connsiteX6" fmla="*/ 99822 w 99822"/>
                <a:gd name="connsiteY6" fmla="*/ 134493 h 156876"/>
                <a:gd name="connsiteX7" fmla="*/ 99822 w 99822"/>
                <a:gd name="connsiteY7" fmla="*/ 78391 h 156876"/>
                <a:gd name="connsiteX8" fmla="*/ 86487 w 99822"/>
                <a:gd name="connsiteY8" fmla="*/ 59722 h 156876"/>
                <a:gd name="connsiteX9" fmla="*/ 72104 w 99822"/>
                <a:gd name="connsiteY9" fmla="*/ 56007 h 156876"/>
                <a:gd name="connsiteX10" fmla="*/ 49911 w 99822"/>
                <a:gd name="connsiteY10" fmla="*/ 78391 h 156876"/>
                <a:gd name="connsiteX11" fmla="*/ 27718 w 99822"/>
                <a:gd name="connsiteY11" fmla="*/ 56007 h 156876"/>
                <a:gd name="connsiteX12" fmla="*/ 13335 w 99822"/>
                <a:gd name="connsiteY12" fmla="*/ 59722 h 156876"/>
                <a:gd name="connsiteX13" fmla="*/ 0 w 99822"/>
                <a:gd name="connsiteY13" fmla="*/ 78391 h 156876"/>
                <a:gd name="connsiteX14" fmla="*/ 0 w 99822"/>
                <a:gd name="connsiteY14" fmla="*/ 134493 h 156876"/>
                <a:gd name="connsiteX15" fmla="*/ 22193 w 99822"/>
                <a:gd name="connsiteY15" fmla="*/ 156877 h 1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9822" h="156876">
                  <a:moveTo>
                    <a:pt x="72104" y="22384"/>
                  </a:moveTo>
                  <a:cubicBezTo>
                    <a:pt x="72104" y="34766"/>
                    <a:pt x="62198" y="44767"/>
                    <a:pt x="49911" y="44767"/>
                  </a:cubicBezTo>
                  <a:cubicBezTo>
                    <a:pt x="37624" y="44767"/>
                    <a:pt x="27718" y="34766"/>
                    <a:pt x="27718" y="22384"/>
                  </a:cubicBezTo>
                  <a:cubicBezTo>
                    <a:pt x="27718" y="10001"/>
                    <a:pt x="37624" y="0"/>
                    <a:pt x="49911" y="0"/>
                  </a:cubicBezTo>
                  <a:cubicBezTo>
                    <a:pt x="62198" y="0"/>
                    <a:pt x="72104" y="10001"/>
                    <a:pt x="72104" y="22384"/>
                  </a:cubicBezTo>
                  <a:close/>
                  <a:moveTo>
                    <a:pt x="77629" y="156877"/>
                  </a:moveTo>
                  <a:cubicBezTo>
                    <a:pt x="89916" y="156877"/>
                    <a:pt x="99822" y="146875"/>
                    <a:pt x="99822" y="134493"/>
                  </a:cubicBezTo>
                  <a:lnTo>
                    <a:pt x="99822" y="78391"/>
                  </a:lnTo>
                  <a:cubicBezTo>
                    <a:pt x="99822" y="69913"/>
                    <a:pt x="94393" y="62294"/>
                    <a:pt x="86487" y="59722"/>
                  </a:cubicBezTo>
                  <a:lnTo>
                    <a:pt x="72104" y="56007"/>
                  </a:lnTo>
                  <a:lnTo>
                    <a:pt x="49911" y="78391"/>
                  </a:lnTo>
                  <a:lnTo>
                    <a:pt x="27718" y="56007"/>
                  </a:lnTo>
                  <a:lnTo>
                    <a:pt x="13335" y="59722"/>
                  </a:lnTo>
                  <a:cubicBezTo>
                    <a:pt x="5334" y="62389"/>
                    <a:pt x="0" y="69913"/>
                    <a:pt x="0" y="78391"/>
                  </a:cubicBezTo>
                  <a:lnTo>
                    <a:pt x="0" y="134493"/>
                  </a:lnTo>
                  <a:cubicBezTo>
                    <a:pt x="0" y="146875"/>
                    <a:pt x="9906" y="156877"/>
                    <a:pt x="22193" y="156877"/>
                  </a:cubicBezTo>
                </a:path>
              </a:pathLst>
            </a:custGeom>
            <a:noFill/>
            <a:ln w="19050" cap="flat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8CF7AC6-F8DA-B90C-F939-93B280BDDCE4}"/>
                </a:ext>
              </a:extLst>
            </p:cNvPr>
            <p:cNvSpPr/>
            <p:nvPr/>
          </p:nvSpPr>
          <p:spPr>
            <a:xfrm>
              <a:off x="6249823" y="5293786"/>
              <a:ext cx="55244" cy="145732"/>
            </a:xfrm>
            <a:custGeom>
              <a:avLst/>
              <a:gdLst>
                <a:gd name="connsiteX0" fmla="*/ 27622 w 55244"/>
                <a:gd name="connsiteY0" fmla="*/ 56007 h 145732"/>
                <a:gd name="connsiteX1" fmla="*/ 27622 w 55244"/>
                <a:gd name="connsiteY1" fmla="*/ 145733 h 145732"/>
                <a:gd name="connsiteX2" fmla="*/ 55245 w 55244"/>
                <a:gd name="connsiteY2" fmla="*/ 0 h 145732"/>
                <a:gd name="connsiteX3" fmla="*/ 55245 w 55244"/>
                <a:gd name="connsiteY3" fmla="*/ 145733 h 145732"/>
                <a:gd name="connsiteX4" fmla="*/ 0 w 55244"/>
                <a:gd name="connsiteY4" fmla="*/ 145733 h 145732"/>
                <a:gd name="connsiteX5" fmla="*/ 0 w 55244"/>
                <a:gd name="connsiteY5" fmla="*/ 0 h 14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44" h="145732">
                  <a:moveTo>
                    <a:pt x="27622" y="56007"/>
                  </a:moveTo>
                  <a:lnTo>
                    <a:pt x="27622" y="145733"/>
                  </a:lnTo>
                  <a:moveTo>
                    <a:pt x="55245" y="0"/>
                  </a:moveTo>
                  <a:lnTo>
                    <a:pt x="55245" y="145733"/>
                  </a:lnTo>
                  <a:lnTo>
                    <a:pt x="0" y="145733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9D5A6F-65BC-5F01-AC24-4E3734520C8F}"/>
                </a:ext>
              </a:extLst>
            </p:cNvPr>
            <p:cNvSpPr/>
            <p:nvPr/>
          </p:nvSpPr>
          <p:spPr>
            <a:xfrm>
              <a:off x="6126759" y="5158627"/>
              <a:ext cx="222980" cy="198500"/>
            </a:xfrm>
            <a:custGeom>
              <a:avLst/>
              <a:gdLst>
                <a:gd name="connsiteX0" fmla="*/ 222980 w 222980"/>
                <a:gd name="connsiteY0" fmla="*/ 22479 h 198500"/>
                <a:gd name="connsiteX1" fmla="*/ 200692 w 222980"/>
                <a:gd name="connsiteY1" fmla="*/ 44958 h 198500"/>
                <a:gd name="connsiteX2" fmla="*/ 178403 w 222980"/>
                <a:gd name="connsiteY2" fmla="*/ 22479 h 198500"/>
                <a:gd name="connsiteX3" fmla="*/ 200692 w 222980"/>
                <a:gd name="connsiteY3" fmla="*/ 0 h 198500"/>
                <a:gd name="connsiteX4" fmla="*/ 222980 w 222980"/>
                <a:gd name="connsiteY4" fmla="*/ 22479 h 198500"/>
                <a:gd name="connsiteX5" fmla="*/ 122682 w 222980"/>
                <a:gd name="connsiteY5" fmla="*/ 22479 h 198500"/>
                <a:gd name="connsiteX6" fmla="*/ 100394 w 222980"/>
                <a:gd name="connsiteY6" fmla="*/ 44958 h 198500"/>
                <a:gd name="connsiteX7" fmla="*/ 78105 w 222980"/>
                <a:gd name="connsiteY7" fmla="*/ 22479 h 198500"/>
                <a:gd name="connsiteX8" fmla="*/ 100394 w 222980"/>
                <a:gd name="connsiteY8" fmla="*/ 0 h 198500"/>
                <a:gd name="connsiteX9" fmla="*/ 122682 w 222980"/>
                <a:gd name="connsiteY9" fmla="*/ 22479 h 198500"/>
                <a:gd name="connsiteX10" fmla="*/ 72485 w 222980"/>
                <a:gd name="connsiteY10" fmla="*/ 67342 h 198500"/>
                <a:gd name="connsiteX11" fmla="*/ 50197 w 222980"/>
                <a:gd name="connsiteY11" fmla="*/ 89821 h 198500"/>
                <a:gd name="connsiteX12" fmla="*/ 27908 w 222980"/>
                <a:gd name="connsiteY12" fmla="*/ 67342 h 198500"/>
                <a:gd name="connsiteX13" fmla="*/ 50197 w 222980"/>
                <a:gd name="connsiteY13" fmla="*/ 44863 h 198500"/>
                <a:gd name="connsiteX14" fmla="*/ 72485 w 222980"/>
                <a:gd name="connsiteY14" fmla="*/ 67342 h 198500"/>
                <a:gd name="connsiteX15" fmla="*/ 90107 w 222980"/>
                <a:gd name="connsiteY15" fmla="*/ 198501 h 198500"/>
                <a:gd name="connsiteX16" fmla="*/ 100394 w 222980"/>
                <a:gd name="connsiteY16" fmla="*/ 179642 h 198500"/>
                <a:gd name="connsiteX17" fmla="*/ 100394 w 222980"/>
                <a:gd name="connsiteY17" fmla="*/ 123539 h 198500"/>
                <a:gd name="connsiteX18" fmla="*/ 86963 w 222980"/>
                <a:gd name="connsiteY18" fmla="*/ 104775 h 198500"/>
                <a:gd name="connsiteX19" fmla="*/ 72485 w 222980"/>
                <a:gd name="connsiteY19" fmla="*/ 101060 h 198500"/>
                <a:gd name="connsiteX20" fmla="*/ 50197 w 222980"/>
                <a:gd name="connsiteY20" fmla="*/ 123539 h 198500"/>
                <a:gd name="connsiteX21" fmla="*/ 27908 w 222980"/>
                <a:gd name="connsiteY21" fmla="*/ 101060 h 198500"/>
                <a:gd name="connsiteX22" fmla="*/ 13430 w 222980"/>
                <a:gd name="connsiteY22" fmla="*/ 104775 h 198500"/>
                <a:gd name="connsiteX23" fmla="*/ 0 w 222980"/>
                <a:gd name="connsiteY23" fmla="*/ 123539 h 198500"/>
                <a:gd name="connsiteX24" fmla="*/ 0 w 222980"/>
                <a:gd name="connsiteY24" fmla="*/ 179642 h 198500"/>
                <a:gd name="connsiteX25" fmla="*/ 6572 w 222980"/>
                <a:gd name="connsiteY25" fmla="*/ 195548 h 198500"/>
                <a:gd name="connsiteX26" fmla="*/ 10001 w 222980"/>
                <a:gd name="connsiteY26" fmla="*/ 198406 h 19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2980" h="198500">
                  <a:moveTo>
                    <a:pt x="222980" y="22479"/>
                  </a:moveTo>
                  <a:cubicBezTo>
                    <a:pt x="222980" y="34861"/>
                    <a:pt x="212979" y="44958"/>
                    <a:pt x="200692" y="44958"/>
                  </a:cubicBezTo>
                  <a:cubicBezTo>
                    <a:pt x="188405" y="44958"/>
                    <a:pt x="178403" y="34957"/>
                    <a:pt x="178403" y="22479"/>
                  </a:cubicBezTo>
                  <a:cubicBezTo>
                    <a:pt x="178403" y="10001"/>
                    <a:pt x="188405" y="0"/>
                    <a:pt x="200692" y="0"/>
                  </a:cubicBezTo>
                  <a:cubicBezTo>
                    <a:pt x="212979" y="0"/>
                    <a:pt x="222980" y="10096"/>
                    <a:pt x="222980" y="22479"/>
                  </a:cubicBezTo>
                  <a:close/>
                  <a:moveTo>
                    <a:pt x="122682" y="22479"/>
                  </a:moveTo>
                  <a:cubicBezTo>
                    <a:pt x="122682" y="34861"/>
                    <a:pt x="112681" y="44958"/>
                    <a:pt x="100394" y="44958"/>
                  </a:cubicBezTo>
                  <a:cubicBezTo>
                    <a:pt x="88106" y="44958"/>
                    <a:pt x="78105" y="34957"/>
                    <a:pt x="78105" y="22479"/>
                  </a:cubicBezTo>
                  <a:cubicBezTo>
                    <a:pt x="78105" y="10001"/>
                    <a:pt x="88106" y="0"/>
                    <a:pt x="100394" y="0"/>
                  </a:cubicBezTo>
                  <a:cubicBezTo>
                    <a:pt x="112681" y="0"/>
                    <a:pt x="122682" y="10096"/>
                    <a:pt x="122682" y="22479"/>
                  </a:cubicBezTo>
                  <a:close/>
                  <a:moveTo>
                    <a:pt x="72485" y="67342"/>
                  </a:moveTo>
                  <a:cubicBezTo>
                    <a:pt x="72485" y="79724"/>
                    <a:pt x="62484" y="89821"/>
                    <a:pt x="50197" y="89821"/>
                  </a:cubicBezTo>
                  <a:cubicBezTo>
                    <a:pt x="37910" y="89821"/>
                    <a:pt x="27908" y="79819"/>
                    <a:pt x="27908" y="67342"/>
                  </a:cubicBezTo>
                  <a:cubicBezTo>
                    <a:pt x="27908" y="54959"/>
                    <a:pt x="37910" y="44863"/>
                    <a:pt x="50197" y="44863"/>
                  </a:cubicBezTo>
                  <a:cubicBezTo>
                    <a:pt x="62579" y="44958"/>
                    <a:pt x="72485" y="54959"/>
                    <a:pt x="72485" y="67342"/>
                  </a:cubicBezTo>
                  <a:close/>
                  <a:moveTo>
                    <a:pt x="90107" y="198501"/>
                  </a:moveTo>
                  <a:cubicBezTo>
                    <a:pt x="96298" y="194500"/>
                    <a:pt x="100394" y="187547"/>
                    <a:pt x="100394" y="179642"/>
                  </a:cubicBezTo>
                  <a:lnTo>
                    <a:pt x="100394" y="123539"/>
                  </a:lnTo>
                  <a:cubicBezTo>
                    <a:pt x="100394" y="115062"/>
                    <a:pt x="94964" y="107442"/>
                    <a:pt x="86963" y="104775"/>
                  </a:cubicBezTo>
                  <a:lnTo>
                    <a:pt x="72485" y="101060"/>
                  </a:lnTo>
                  <a:lnTo>
                    <a:pt x="50197" y="123539"/>
                  </a:lnTo>
                  <a:lnTo>
                    <a:pt x="27908" y="101060"/>
                  </a:lnTo>
                  <a:lnTo>
                    <a:pt x="13430" y="104775"/>
                  </a:lnTo>
                  <a:cubicBezTo>
                    <a:pt x="5429" y="107442"/>
                    <a:pt x="0" y="115062"/>
                    <a:pt x="0" y="123539"/>
                  </a:cubicBezTo>
                  <a:lnTo>
                    <a:pt x="0" y="179642"/>
                  </a:lnTo>
                  <a:cubicBezTo>
                    <a:pt x="0" y="185833"/>
                    <a:pt x="2477" y="191452"/>
                    <a:pt x="6572" y="195548"/>
                  </a:cubicBezTo>
                  <a:cubicBezTo>
                    <a:pt x="7620" y="196596"/>
                    <a:pt x="8763" y="197548"/>
                    <a:pt x="10001" y="198406"/>
                  </a:cubicBezTo>
                </a:path>
              </a:pathLst>
            </a:custGeom>
            <a:noFill/>
            <a:ln w="19050" cap="flat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2C8F11-10D5-00A1-D353-32944993A27E}"/>
                </a:ext>
              </a:extLst>
            </p:cNvPr>
            <p:cNvSpPr/>
            <p:nvPr/>
          </p:nvSpPr>
          <p:spPr>
            <a:xfrm>
              <a:off x="6128950" y="5293786"/>
              <a:ext cx="95726" cy="145732"/>
            </a:xfrm>
            <a:custGeom>
              <a:avLst/>
              <a:gdLst>
                <a:gd name="connsiteX0" fmla="*/ 47815 w 95726"/>
                <a:gd name="connsiteY0" fmla="*/ 96488 h 145732"/>
                <a:gd name="connsiteX1" fmla="*/ 47815 w 95726"/>
                <a:gd name="connsiteY1" fmla="*/ 145637 h 145732"/>
                <a:gd name="connsiteX2" fmla="*/ 75438 w 95726"/>
                <a:gd name="connsiteY2" fmla="*/ 0 h 145732"/>
                <a:gd name="connsiteX3" fmla="*/ 95726 w 95726"/>
                <a:gd name="connsiteY3" fmla="*/ 93250 h 145732"/>
                <a:gd name="connsiteX4" fmla="*/ 75438 w 95726"/>
                <a:gd name="connsiteY4" fmla="*/ 93250 h 145732"/>
                <a:gd name="connsiteX5" fmla="*/ 75438 w 95726"/>
                <a:gd name="connsiteY5" fmla="*/ 145733 h 145732"/>
                <a:gd name="connsiteX6" fmla="*/ 20193 w 95726"/>
                <a:gd name="connsiteY6" fmla="*/ 145733 h 145732"/>
                <a:gd name="connsiteX7" fmla="*/ 20193 w 95726"/>
                <a:gd name="connsiteY7" fmla="*/ 93250 h 145732"/>
                <a:gd name="connsiteX8" fmla="*/ 0 w 95726"/>
                <a:gd name="connsiteY8" fmla="*/ 93250 h 145732"/>
                <a:gd name="connsiteX9" fmla="*/ 20288 w 95726"/>
                <a:gd name="connsiteY9" fmla="*/ 0 h 14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726" h="145732">
                  <a:moveTo>
                    <a:pt x="47815" y="96488"/>
                  </a:moveTo>
                  <a:lnTo>
                    <a:pt x="47815" y="145637"/>
                  </a:lnTo>
                  <a:moveTo>
                    <a:pt x="75438" y="0"/>
                  </a:moveTo>
                  <a:lnTo>
                    <a:pt x="95726" y="93250"/>
                  </a:lnTo>
                  <a:lnTo>
                    <a:pt x="75438" y="93250"/>
                  </a:lnTo>
                  <a:lnTo>
                    <a:pt x="75438" y="145733"/>
                  </a:lnTo>
                  <a:lnTo>
                    <a:pt x="20193" y="145733"/>
                  </a:lnTo>
                  <a:lnTo>
                    <a:pt x="20193" y="93250"/>
                  </a:lnTo>
                  <a:lnTo>
                    <a:pt x="0" y="93250"/>
                  </a:lnTo>
                  <a:lnTo>
                    <a:pt x="20288" y="0"/>
                  </a:lnTo>
                </a:path>
              </a:pathLst>
            </a:custGeom>
            <a:noFill/>
            <a:ln w="19050" cap="rnd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6301683-4834-FFEF-62E8-4AE77DAD435C}"/>
                </a:ext>
              </a:extLst>
            </p:cNvPr>
            <p:cNvSpPr/>
            <p:nvPr/>
          </p:nvSpPr>
          <p:spPr>
            <a:xfrm>
              <a:off x="6328213" y="5203775"/>
              <a:ext cx="99821" cy="156877"/>
            </a:xfrm>
            <a:custGeom>
              <a:avLst/>
              <a:gdLst>
                <a:gd name="connsiteX0" fmla="*/ 72009 w 99821"/>
                <a:gd name="connsiteY0" fmla="*/ 22384 h 156877"/>
                <a:gd name="connsiteX1" fmla="*/ 49816 w 99821"/>
                <a:gd name="connsiteY1" fmla="*/ 44768 h 156877"/>
                <a:gd name="connsiteX2" fmla="*/ 27623 w 99821"/>
                <a:gd name="connsiteY2" fmla="*/ 22384 h 156877"/>
                <a:gd name="connsiteX3" fmla="*/ 49816 w 99821"/>
                <a:gd name="connsiteY3" fmla="*/ 1 h 156877"/>
                <a:gd name="connsiteX4" fmla="*/ 72009 w 99821"/>
                <a:gd name="connsiteY4" fmla="*/ 22384 h 156877"/>
                <a:gd name="connsiteX5" fmla="*/ 77629 w 99821"/>
                <a:gd name="connsiteY5" fmla="*/ 156877 h 156877"/>
                <a:gd name="connsiteX6" fmla="*/ 99822 w 99821"/>
                <a:gd name="connsiteY6" fmla="*/ 134494 h 156877"/>
                <a:gd name="connsiteX7" fmla="*/ 99822 w 99821"/>
                <a:gd name="connsiteY7" fmla="*/ 78391 h 156877"/>
                <a:gd name="connsiteX8" fmla="*/ 86487 w 99821"/>
                <a:gd name="connsiteY8" fmla="*/ 59722 h 156877"/>
                <a:gd name="connsiteX9" fmla="*/ 72104 w 99821"/>
                <a:gd name="connsiteY9" fmla="*/ 56008 h 156877"/>
                <a:gd name="connsiteX10" fmla="*/ 49911 w 99821"/>
                <a:gd name="connsiteY10" fmla="*/ 78391 h 156877"/>
                <a:gd name="connsiteX11" fmla="*/ 27718 w 99821"/>
                <a:gd name="connsiteY11" fmla="*/ 56008 h 156877"/>
                <a:gd name="connsiteX12" fmla="*/ 13335 w 99821"/>
                <a:gd name="connsiteY12" fmla="*/ 59722 h 156877"/>
                <a:gd name="connsiteX13" fmla="*/ 0 w 99821"/>
                <a:gd name="connsiteY13" fmla="*/ 78391 h 156877"/>
                <a:gd name="connsiteX14" fmla="*/ 0 w 99821"/>
                <a:gd name="connsiteY14" fmla="*/ 134494 h 156877"/>
                <a:gd name="connsiteX15" fmla="*/ 22193 w 99821"/>
                <a:gd name="connsiteY15" fmla="*/ 156877 h 156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9821" h="156877">
                  <a:moveTo>
                    <a:pt x="72009" y="22384"/>
                  </a:moveTo>
                  <a:cubicBezTo>
                    <a:pt x="72009" y="34767"/>
                    <a:pt x="62103" y="44768"/>
                    <a:pt x="49816" y="44768"/>
                  </a:cubicBezTo>
                  <a:cubicBezTo>
                    <a:pt x="37529" y="44768"/>
                    <a:pt x="27623" y="34767"/>
                    <a:pt x="27623" y="22384"/>
                  </a:cubicBezTo>
                  <a:cubicBezTo>
                    <a:pt x="27623" y="10002"/>
                    <a:pt x="37529" y="1"/>
                    <a:pt x="49816" y="1"/>
                  </a:cubicBezTo>
                  <a:cubicBezTo>
                    <a:pt x="62103" y="-95"/>
                    <a:pt x="72009" y="10002"/>
                    <a:pt x="72009" y="22384"/>
                  </a:cubicBezTo>
                  <a:close/>
                  <a:moveTo>
                    <a:pt x="77629" y="156877"/>
                  </a:moveTo>
                  <a:cubicBezTo>
                    <a:pt x="89916" y="156877"/>
                    <a:pt x="99822" y="146876"/>
                    <a:pt x="99822" y="134494"/>
                  </a:cubicBezTo>
                  <a:lnTo>
                    <a:pt x="99822" y="78391"/>
                  </a:lnTo>
                  <a:cubicBezTo>
                    <a:pt x="99822" y="69914"/>
                    <a:pt x="94393" y="62294"/>
                    <a:pt x="86487" y="59722"/>
                  </a:cubicBezTo>
                  <a:lnTo>
                    <a:pt x="72104" y="56008"/>
                  </a:lnTo>
                  <a:lnTo>
                    <a:pt x="49911" y="78391"/>
                  </a:lnTo>
                  <a:lnTo>
                    <a:pt x="27718" y="56008"/>
                  </a:lnTo>
                  <a:lnTo>
                    <a:pt x="13335" y="59722"/>
                  </a:lnTo>
                  <a:cubicBezTo>
                    <a:pt x="5334" y="62389"/>
                    <a:pt x="0" y="69914"/>
                    <a:pt x="0" y="78391"/>
                  </a:cubicBezTo>
                  <a:lnTo>
                    <a:pt x="0" y="134494"/>
                  </a:lnTo>
                  <a:cubicBezTo>
                    <a:pt x="0" y="146876"/>
                    <a:pt x="9906" y="156877"/>
                    <a:pt x="22193" y="156877"/>
                  </a:cubicBezTo>
                </a:path>
              </a:pathLst>
            </a:custGeom>
            <a:noFill/>
            <a:ln w="19050" cap="flat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9E1A56D-F650-E4F8-9FB1-1672456091E8}"/>
                </a:ext>
              </a:extLst>
            </p:cNvPr>
            <p:cNvSpPr/>
            <p:nvPr/>
          </p:nvSpPr>
          <p:spPr>
            <a:xfrm>
              <a:off x="6350407" y="5293786"/>
              <a:ext cx="55245" cy="145732"/>
            </a:xfrm>
            <a:custGeom>
              <a:avLst/>
              <a:gdLst>
                <a:gd name="connsiteX0" fmla="*/ 27623 w 55245"/>
                <a:gd name="connsiteY0" fmla="*/ 56007 h 145732"/>
                <a:gd name="connsiteX1" fmla="*/ 27623 w 55245"/>
                <a:gd name="connsiteY1" fmla="*/ 145733 h 145732"/>
                <a:gd name="connsiteX2" fmla="*/ 55245 w 55245"/>
                <a:gd name="connsiteY2" fmla="*/ 0 h 145732"/>
                <a:gd name="connsiteX3" fmla="*/ 55245 w 55245"/>
                <a:gd name="connsiteY3" fmla="*/ 145733 h 145732"/>
                <a:gd name="connsiteX4" fmla="*/ 0 w 55245"/>
                <a:gd name="connsiteY4" fmla="*/ 145733 h 145732"/>
                <a:gd name="connsiteX5" fmla="*/ 0 w 55245"/>
                <a:gd name="connsiteY5" fmla="*/ 93250 h 145732"/>
                <a:gd name="connsiteX6" fmla="*/ 0 w 55245"/>
                <a:gd name="connsiteY6" fmla="*/ 0 h 14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45" h="145732">
                  <a:moveTo>
                    <a:pt x="27623" y="56007"/>
                  </a:moveTo>
                  <a:lnTo>
                    <a:pt x="27623" y="145733"/>
                  </a:lnTo>
                  <a:moveTo>
                    <a:pt x="55245" y="0"/>
                  </a:moveTo>
                  <a:lnTo>
                    <a:pt x="55245" y="145733"/>
                  </a:lnTo>
                  <a:lnTo>
                    <a:pt x="0" y="145733"/>
                  </a:lnTo>
                  <a:lnTo>
                    <a:pt x="0" y="93250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ADE28B-A737-4E42-8538-CFFBC5A55C0B}"/>
              </a:ext>
            </a:extLst>
          </p:cNvPr>
          <p:cNvGrpSpPr/>
          <p:nvPr/>
        </p:nvGrpSpPr>
        <p:grpSpPr>
          <a:xfrm>
            <a:off x="496527" y="1576976"/>
            <a:ext cx="5107859" cy="2438487"/>
            <a:chOff x="460585" y="1434072"/>
            <a:chExt cx="4288648" cy="2438487"/>
          </a:xfrm>
        </p:grpSpPr>
        <p:grpSp>
          <p:nvGrpSpPr>
            <p:cNvPr id="14" name="Gruppieren 8">
              <a:extLst>
                <a:ext uri="{FF2B5EF4-FFF2-40B4-BE49-F238E27FC236}">
                  <a16:creationId xmlns:a16="http://schemas.microsoft.com/office/drawing/2014/main" id="{B8B25DBB-DF4A-0320-1E69-A5DDD935508C}"/>
                </a:ext>
              </a:extLst>
            </p:cNvPr>
            <p:cNvGrpSpPr/>
            <p:nvPr/>
          </p:nvGrpSpPr>
          <p:grpSpPr>
            <a:xfrm>
              <a:off x="460585" y="1434072"/>
              <a:ext cx="4288648" cy="2438487"/>
              <a:chOff x="4133481" y="2342516"/>
              <a:chExt cx="3925043" cy="2152496"/>
            </a:xfrm>
          </p:grpSpPr>
          <p:sp>
            <p:nvSpPr>
              <p:cNvPr id="15" name="Rounded Rectangle 6">
                <a:extLst>
                  <a:ext uri="{FF2B5EF4-FFF2-40B4-BE49-F238E27FC236}">
                    <a16:creationId xmlns:a16="http://schemas.microsoft.com/office/drawing/2014/main" id="{4029E426-A55F-957B-7731-CC8E9DCD88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481" y="2441775"/>
                <a:ext cx="3925043" cy="205323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lIns="720000" tIns="36000" rIns="90000" bIns="4680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44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0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Passenger</a:t>
                </a:r>
                <a:r>
                  <a:rPr kumimoji="0" lang="de-DE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 registered and non-registered</a:t>
                </a: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create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(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both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registered ad non-registered)</a:t>
                </a: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see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past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own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(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only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registered)</a:t>
                </a: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attach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&amp;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download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documents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/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from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own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endPara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comment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–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as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means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of</a:t>
                </a:r>
                <a:r>
                  <a:rPr kumimoji="0" lang="de-DE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4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communication</a:t>
                </a:r>
                <a:endPara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40000" marR="0" lvl="2" indent="-1440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Rounded Rectangle 6">
                <a:extLst>
                  <a:ext uri="{FF2B5EF4-FFF2-40B4-BE49-F238E27FC236}">
                    <a16:creationId xmlns:a16="http://schemas.microsoft.com/office/drawing/2014/main" id="{77281E8C-5AD4-9CF6-2AD7-1C5ADB7D2C1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178094" y="4234832"/>
                <a:ext cx="890843" cy="19872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wrap="square" lIns="0" tIns="0" rIns="0" bIns="0" rtlCol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1pPr>
                <a:lvl2pPr marL="216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432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648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864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4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A0144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Passengers</a:t>
                </a:r>
                <a:endPara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BEDFC5E7-B085-BE06-ABCC-EA7C69B6A3E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140000" flipH="1">
                <a:off x="4140735" y="2342516"/>
                <a:ext cx="309499" cy="847267"/>
              </a:xfrm>
              <a:custGeom>
                <a:avLst/>
                <a:gdLst>
                  <a:gd name="T0" fmla="*/ 0 w 218"/>
                  <a:gd name="T1" fmla="*/ 568 h 602"/>
                  <a:gd name="T2" fmla="*/ 0 w 218"/>
                  <a:gd name="T3" fmla="*/ 144 h 602"/>
                  <a:gd name="T4" fmla="*/ 24 w 218"/>
                  <a:gd name="T5" fmla="*/ 86 h 602"/>
                  <a:gd name="T6" fmla="*/ 85 w 218"/>
                  <a:gd name="T7" fmla="*/ 24 h 602"/>
                  <a:gd name="T8" fmla="*/ 133 w 218"/>
                  <a:gd name="T9" fmla="*/ 24 h 602"/>
                  <a:gd name="T10" fmla="*/ 194 w 218"/>
                  <a:gd name="T11" fmla="*/ 86 h 602"/>
                  <a:gd name="T12" fmla="*/ 218 w 218"/>
                  <a:gd name="T13" fmla="*/ 144 h 602"/>
                  <a:gd name="T14" fmla="*/ 218 w 218"/>
                  <a:gd name="T15" fmla="*/ 544 h 602"/>
                  <a:gd name="T16" fmla="*/ 204 w 218"/>
                  <a:gd name="T17" fmla="*/ 544 h 602"/>
                  <a:gd name="T18" fmla="*/ 204 w 218"/>
                  <a:gd name="T19" fmla="*/ 157 h 602"/>
                  <a:gd name="T20" fmla="*/ 181 w 218"/>
                  <a:gd name="T21" fmla="*/ 98 h 602"/>
                  <a:gd name="T22" fmla="*/ 132 w 218"/>
                  <a:gd name="T23" fmla="*/ 44 h 602"/>
                  <a:gd name="T24" fmla="*/ 86 w 218"/>
                  <a:gd name="T25" fmla="*/ 44 h 602"/>
                  <a:gd name="T26" fmla="*/ 38 w 218"/>
                  <a:gd name="T27" fmla="*/ 98 h 602"/>
                  <a:gd name="T28" fmla="*/ 15 w 218"/>
                  <a:gd name="T29" fmla="*/ 157 h 602"/>
                  <a:gd name="T30" fmla="*/ 15 w 218"/>
                  <a:gd name="T31" fmla="*/ 554 h 602"/>
                  <a:gd name="T32" fmla="*/ 46 w 218"/>
                  <a:gd name="T33" fmla="*/ 588 h 602"/>
                  <a:gd name="T34" fmla="*/ 154 w 218"/>
                  <a:gd name="T35" fmla="*/ 588 h 602"/>
                  <a:gd name="T36" fmla="*/ 180 w 218"/>
                  <a:gd name="T37" fmla="*/ 507 h 602"/>
                  <a:gd name="T38" fmla="*/ 193 w 218"/>
                  <a:gd name="T39" fmla="*/ 507 h 602"/>
                  <a:gd name="T40" fmla="*/ 164 w 218"/>
                  <a:gd name="T41" fmla="*/ 602 h 602"/>
                  <a:gd name="T42" fmla="*/ 34 w 218"/>
                  <a:gd name="T43" fmla="*/ 602 h 602"/>
                  <a:gd name="T44" fmla="*/ 0 w 218"/>
                  <a:gd name="T45" fmla="*/ 568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8" h="602">
                    <a:moveTo>
                      <a:pt x="0" y="568"/>
                    </a:move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10"/>
                      <a:pt x="24" y="86"/>
                      <a:pt x="24" y="86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109" y="0"/>
                      <a:pt x="133" y="24"/>
                      <a:pt x="133" y="24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110"/>
                      <a:pt x="218" y="144"/>
                      <a:pt x="218" y="144"/>
                    </a:cubicBezTo>
                    <a:cubicBezTo>
                      <a:pt x="218" y="544"/>
                      <a:pt x="218" y="544"/>
                      <a:pt x="218" y="544"/>
                    </a:cubicBezTo>
                    <a:cubicBezTo>
                      <a:pt x="204" y="544"/>
                      <a:pt x="204" y="544"/>
                      <a:pt x="204" y="544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04" y="157"/>
                      <a:pt x="204" y="123"/>
                      <a:pt x="181" y="98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32" y="44"/>
                      <a:pt x="109" y="19"/>
                      <a:pt x="86" y="44"/>
                    </a:cubicBezTo>
                    <a:cubicBezTo>
                      <a:pt x="38" y="98"/>
                      <a:pt x="38" y="98"/>
                      <a:pt x="38" y="98"/>
                    </a:cubicBezTo>
                    <a:cubicBezTo>
                      <a:pt x="38" y="98"/>
                      <a:pt x="15" y="123"/>
                      <a:pt x="15" y="157"/>
                    </a:cubicBezTo>
                    <a:cubicBezTo>
                      <a:pt x="15" y="554"/>
                      <a:pt x="15" y="554"/>
                      <a:pt x="15" y="554"/>
                    </a:cubicBezTo>
                    <a:cubicBezTo>
                      <a:pt x="15" y="554"/>
                      <a:pt x="12" y="588"/>
                      <a:pt x="46" y="588"/>
                    </a:cubicBezTo>
                    <a:cubicBezTo>
                      <a:pt x="154" y="588"/>
                      <a:pt x="154" y="588"/>
                      <a:pt x="154" y="588"/>
                    </a:cubicBezTo>
                    <a:cubicBezTo>
                      <a:pt x="185" y="588"/>
                      <a:pt x="180" y="507"/>
                      <a:pt x="180" y="507"/>
                    </a:cubicBezTo>
                    <a:cubicBezTo>
                      <a:pt x="193" y="507"/>
                      <a:pt x="193" y="507"/>
                      <a:pt x="193" y="507"/>
                    </a:cubicBezTo>
                    <a:cubicBezTo>
                      <a:pt x="193" y="507"/>
                      <a:pt x="200" y="602"/>
                      <a:pt x="164" y="602"/>
                    </a:cubicBezTo>
                    <a:cubicBezTo>
                      <a:pt x="34" y="602"/>
                      <a:pt x="34" y="602"/>
                      <a:pt x="34" y="602"/>
                    </a:cubicBezTo>
                    <a:cubicBezTo>
                      <a:pt x="0" y="602"/>
                      <a:pt x="0" y="568"/>
                      <a:pt x="0" y="568"/>
                    </a:cubicBezTo>
                  </a:path>
                </a:pathLst>
              </a:custGeom>
              <a:solidFill>
                <a:schemeClr val="accent2"/>
              </a:solidFill>
              <a:ln w="6350">
                <a:solidFill>
                  <a:schemeClr val="accent2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E58E0B0-C0C7-0053-F31D-B0541537A9B6}"/>
                </a:ext>
              </a:extLst>
            </p:cNvPr>
            <p:cNvSpPr/>
            <p:nvPr/>
          </p:nvSpPr>
          <p:spPr>
            <a:xfrm>
              <a:off x="546795" y="3183812"/>
              <a:ext cx="218693" cy="272129"/>
            </a:xfrm>
            <a:custGeom>
              <a:avLst/>
              <a:gdLst>
                <a:gd name="connsiteX0" fmla="*/ 155353 w 218693"/>
                <a:gd name="connsiteY0" fmla="*/ 167926 h 272129"/>
                <a:gd name="connsiteX1" fmla="*/ 143828 w 218693"/>
                <a:gd name="connsiteY1" fmla="*/ 214217 h 272129"/>
                <a:gd name="connsiteX2" fmla="*/ 109347 w 218693"/>
                <a:gd name="connsiteY2" fmla="*/ 196882 h 272129"/>
                <a:gd name="connsiteX3" fmla="*/ 74867 w 218693"/>
                <a:gd name="connsiteY3" fmla="*/ 214217 h 272129"/>
                <a:gd name="connsiteX4" fmla="*/ 63341 w 218693"/>
                <a:gd name="connsiteY4" fmla="*/ 167926 h 272129"/>
                <a:gd name="connsiteX5" fmla="*/ 120872 w 218693"/>
                <a:gd name="connsiteY5" fmla="*/ 29051 h 272129"/>
                <a:gd name="connsiteX6" fmla="*/ 92107 w 218693"/>
                <a:gd name="connsiteY6" fmla="*/ 58007 h 272129"/>
                <a:gd name="connsiteX7" fmla="*/ 51816 w 218693"/>
                <a:gd name="connsiteY7" fmla="*/ 58007 h 272129"/>
                <a:gd name="connsiteX8" fmla="*/ 109347 w 218693"/>
                <a:gd name="connsiteY8" fmla="*/ 167926 h 272129"/>
                <a:gd name="connsiteX9" fmla="*/ 178403 w 218693"/>
                <a:gd name="connsiteY9" fmla="*/ 167926 h 272129"/>
                <a:gd name="connsiteX10" fmla="*/ 218694 w 218693"/>
                <a:gd name="connsiteY10" fmla="*/ 208407 h 272129"/>
                <a:gd name="connsiteX11" fmla="*/ 218694 w 218693"/>
                <a:gd name="connsiteY11" fmla="*/ 272129 h 272129"/>
                <a:gd name="connsiteX12" fmla="*/ 109347 w 218693"/>
                <a:gd name="connsiteY12" fmla="*/ 167926 h 272129"/>
                <a:gd name="connsiteX13" fmla="*/ 40291 w 218693"/>
                <a:gd name="connsiteY13" fmla="*/ 167926 h 272129"/>
                <a:gd name="connsiteX14" fmla="*/ 0 w 218693"/>
                <a:gd name="connsiteY14" fmla="*/ 208407 h 272129"/>
                <a:gd name="connsiteX15" fmla="*/ 0 w 218693"/>
                <a:gd name="connsiteY15" fmla="*/ 272129 h 272129"/>
                <a:gd name="connsiteX16" fmla="*/ 51816 w 218693"/>
                <a:gd name="connsiteY16" fmla="*/ 86868 h 272129"/>
                <a:gd name="connsiteX17" fmla="*/ 103537 w 218693"/>
                <a:gd name="connsiteY17" fmla="*/ 138970 h 272129"/>
                <a:gd name="connsiteX18" fmla="*/ 155257 w 218693"/>
                <a:gd name="connsiteY18" fmla="*/ 86868 h 272129"/>
                <a:gd name="connsiteX19" fmla="*/ 155257 w 218693"/>
                <a:gd name="connsiteY19" fmla="*/ 52102 h 272129"/>
                <a:gd name="connsiteX20" fmla="*/ 103537 w 218693"/>
                <a:gd name="connsiteY20" fmla="*/ 0 h 272129"/>
                <a:gd name="connsiteX21" fmla="*/ 51816 w 218693"/>
                <a:gd name="connsiteY21" fmla="*/ 52102 h 272129"/>
                <a:gd name="connsiteX22" fmla="*/ 51816 w 218693"/>
                <a:gd name="connsiteY22" fmla="*/ 86868 h 27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8693" h="272129">
                  <a:moveTo>
                    <a:pt x="155353" y="167926"/>
                  </a:moveTo>
                  <a:lnTo>
                    <a:pt x="143828" y="214217"/>
                  </a:lnTo>
                  <a:lnTo>
                    <a:pt x="109347" y="196882"/>
                  </a:lnTo>
                  <a:lnTo>
                    <a:pt x="74867" y="214217"/>
                  </a:lnTo>
                  <a:lnTo>
                    <a:pt x="63341" y="167926"/>
                  </a:lnTo>
                  <a:moveTo>
                    <a:pt x="120872" y="29051"/>
                  </a:moveTo>
                  <a:cubicBezTo>
                    <a:pt x="120872" y="45053"/>
                    <a:pt x="108013" y="58007"/>
                    <a:pt x="92107" y="58007"/>
                  </a:cubicBezTo>
                  <a:lnTo>
                    <a:pt x="51816" y="58007"/>
                  </a:lnTo>
                  <a:moveTo>
                    <a:pt x="109347" y="167926"/>
                  </a:moveTo>
                  <a:lnTo>
                    <a:pt x="178403" y="167926"/>
                  </a:lnTo>
                  <a:cubicBezTo>
                    <a:pt x="200596" y="167926"/>
                    <a:pt x="218694" y="186118"/>
                    <a:pt x="218694" y="208407"/>
                  </a:cubicBezTo>
                  <a:lnTo>
                    <a:pt x="218694" y="272129"/>
                  </a:lnTo>
                  <a:moveTo>
                    <a:pt x="109347" y="167926"/>
                  </a:moveTo>
                  <a:lnTo>
                    <a:pt x="40291" y="167926"/>
                  </a:lnTo>
                  <a:cubicBezTo>
                    <a:pt x="18097" y="167926"/>
                    <a:pt x="0" y="186118"/>
                    <a:pt x="0" y="208407"/>
                  </a:cubicBezTo>
                  <a:lnTo>
                    <a:pt x="0" y="272129"/>
                  </a:lnTo>
                  <a:moveTo>
                    <a:pt x="51816" y="86868"/>
                  </a:moveTo>
                  <a:cubicBezTo>
                    <a:pt x="51816" y="115634"/>
                    <a:pt x="74962" y="138970"/>
                    <a:pt x="103537" y="138970"/>
                  </a:cubicBezTo>
                  <a:cubicBezTo>
                    <a:pt x="132112" y="138970"/>
                    <a:pt x="155257" y="115634"/>
                    <a:pt x="155257" y="86868"/>
                  </a:cubicBezTo>
                  <a:lnTo>
                    <a:pt x="155257" y="52102"/>
                  </a:lnTo>
                  <a:cubicBezTo>
                    <a:pt x="155257" y="23336"/>
                    <a:pt x="132112" y="0"/>
                    <a:pt x="103537" y="0"/>
                  </a:cubicBezTo>
                  <a:cubicBezTo>
                    <a:pt x="74962" y="0"/>
                    <a:pt x="51816" y="23336"/>
                    <a:pt x="51816" y="52102"/>
                  </a:cubicBezTo>
                  <a:lnTo>
                    <a:pt x="51816" y="86868"/>
                  </a:lnTo>
                  <a:close/>
                </a:path>
              </a:pathLst>
            </a:custGeom>
            <a:noFill/>
            <a:ln w="7620" cap="flat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04E2F4-C67C-3E12-A122-E63B80D4BA6F}"/>
              </a:ext>
            </a:extLst>
          </p:cNvPr>
          <p:cNvGrpSpPr/>
          <p:nvPr/>
        </p:nvGrpSpPr>
        <p:grpSpPr>
          <a:xfrm>
            <a:off x="496528" y="4091656"/>
            <a:ext cx="5107859" cy="2438487"/>
            <a:chOff x="460585" y="1434072"/>
            <a:chExt cx="4288648" cy="2438487"/>
          </a:xfrm>
        </p:grpSpPr>
        <p:grpSp>
          <p:nvGrpSpPr>
            <p:cNvPr id="21" name="Gruppieren 8">
              <a:extLst>
                <a:ext uri="{FF2B5EF4-FFF2-40B4-BE49-F238E27FC236}">
                  <a16:creationId xmlns:a16="http://schemas.microsoft.com/office/drawing/2014/main" id="{9F4BFDF0-D22F-F8ED-1324-97889B716CA6}"/>
                </a:ext>
              </a:extLst>
            </p:cNvPr>
            <p:cNvGrpSpPr/>
            <p:nvPr/>
          </p:nvGrpSpPr>
          <p:grpSpPr>
            <a:xfrm>
              <a:off x="460585" y="1434072"/>
              <a:ext cx="4288648" cy="2438487"/>
              <a:chOff x="4133481" y="2342516"/>
              <a:chExt cx="3925043" cy="2152496"/>
            </a:xfrm>
          </p:grpSpPr>
          <p:sp>
            <p:nvSpPr>
              <p:cNvPr id="23" name="Rounded Rectangle 6">
                <a:extLst>
                  <a:ext uri="{FF2B5EF4-FFF2-40B4-BE49-F238E27FC236}">
                    <a16:creationId xmlns:a16="http://schemas.microsoft.com/office/drawing/2014/main" id="{52AC4289-E3CC-4A40-E8C0-F92A0EED0B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481" y="2441775"/>
                <a:ext cx="3925043" cy="205323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lIns="720000" tIns="36000" rIns="90000" bIns="4680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44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0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6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Colleague</a:t>
                </a:r>
                <a:endParaRPr kumimoji="0" lang="de-DE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create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flights</a:t>
                </a: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comment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–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means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of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communication</a:t>
                </a: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create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user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account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(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only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for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passengers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attach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&amp;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download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documents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/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from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and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flights</a:t>
                </a: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link</a:t>
                </a:r>
              </a:p>
              <a:p>
                <a:pPr marL="825750" marR="0" lvl="2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825750" marR="0" lvl="2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Flights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assign</a:t>
                </a: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825750" marR="0" lvl="2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 </a:t>
                </a:r>
                <a:r>
                  <a:rPr kumimoji="0" lang="de-DE" sz="9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9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other</a:t>
                </a:r>
                <a:r>
                  <a:rPr kumimoji="0" lang="de-DE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9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colleagues</a:t>
                </a:r>
                <a:r>
                  <a:rPr kumimoji="0" lang="de-DE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  <a:p>
                <a:pPr marL="825750" marR="0" lvl="2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 </a:t>
                </a:r>
                <a:r>
                  <a:rPr kumimoji="0" lang="de-DE" sz="9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9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9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attorneys</a:t>
                </a:r>
                <a:endPara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40000" marR="0" lvl="2" indent="-1440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Rounded Rectangle 6">
                <a:extLst>
                  <a:ext uri="{FF2B5EF4-FFF2-40B4-BE49-F238E27FC236}">
                    <a16:creationId xmlns:a16="http://schemas.microsoft.com/office/drawing/2014/main" id="{B9929734-F0CD-3C94-0921-7D97147B7D0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133481" y="4164365"/>
                <a:ext cx="890843" cy="19872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wrap="square" lIns="0" tIns="0" rIns="0" bIns="0" rtlCol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1pPr>
                <a:lvl2pPr marL="216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432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648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864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4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A0144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Colleagues</a:t>
                </a:r>
                <a:endPara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AED4BD8B-F5A7-49BA-E122-556FF1AB641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140000" flipH="1">
                <a:off x="4140735" y="2342516"/>
                <a:ext cx="309499" cy="847267"/>
              </a:xfrm>
              <a:custGeom>
                <a:avLst/>
                <a:gdLst>
                  <a:gd name="T0" fmla="*/ 0 w 218"/>
                  <a:gd name="T1" fmla="*/ 568 h 602"/>
                  <a:gd name="T2" fmla="*/ 0 w 218"/>
                  <a:gd name="T3" fmla="*/ 144 h 602"/>
                  <a:gd name="T4" fmla="*/ 24 w 218"/>
                  <a:gd name="T5" fmla="*/ 86 h 602"/>
                  <a:gd name="T6" fmla="*/ 85 w 218"/>
                  <a:gd name="T7" fmla="*/ 24 h 602"/>
                  <a:gd name="T8" fmla="*/ 133 w 218"/>
                  <a:gd name="T9" fmla="*/ 24 h 602"/>
                  <a:gd name="T10" fmla="*/ 194 w 218"/>
                  <a:gd name="T11" fmla="*/ 86 h 602"/>
                  <a:gd name="T12" fmla="*/ 218 w 218"/>
                  <a:gd name="T13" fmla="*/ 144 h 602"/>
                  <a:gd name="T14" fmla="*/ 218 w 218"/>
                  <a:gd name="T15" fmla="*/ 544 h 602"/>
                  <a:gd name="T16" fmla="*/ 204 w 218"/>
                  <a:gd name="T17" fmla="*/ 544 h 602"/>
                  <a:gd name="T18" fmla="*/ 204 w 218"/>
                  <a:gd name="T19" fmla="*/ 157 h 602"/>
                  <a:gd name="T20" fmla="*/ 181 w 218"/>
                  <a:gd name="T21" fmla="*/ 98 h 602"/>
                  <a:gd name="T22" fmla="*/ 132 w 218"/>
                  <a:gd name="T23" fmla="*/ 44 h 602"/>
                  <a:gd name="T24" fmla="*/ 86 w 218"/>
                  <a:gd name="T25" fmla="*/ 44 h 602"/>
                  <a:gd name="T26" fmla="*/ 38 w 218"/>
                  <a:gd name="T27" fmla="*/ 98 h 602"/>
                  <a:gd name="T28" fmla="*/ 15 w 218"/>
                  <a:gd name="T29" fmla="*/ 157 h 602"/>
                  <a:gd name="T30" fmla="*/ 15 w 218"/>
                  <a:gd name="T31" fmla="*/ 554 h 602"/>
                  <a:gd name="T32" fmla="*/ 46 w 218"/>
                  <a:gd name="T33" fmla="*/ 588 h 602"/>
                  <a:gd name="T34" fmla="*/ 154 w 218"/>
                  <a:gd name="T35" fmla="*/ 588 h 602"/>
                  <a:gd name="T36" fmla="*/ 180 w 218"/>
                  <a:gd name="T37" fmla="*/ 507 h 602"/>
                  <a:gd name="T38" fmla="*/ 193 w 218"/>
                  <a:gd name="T39" fmla="*/ 507 h 602"/>
                  <a:gd name="T40" fmla="*/ 164 w 218"/>
                  <a:gd name="T41" fmla="*/ 602 h 602"/>
                  <a:gd name="T42" fmla="*/ 34 w 218"/>
                  <a:gd name="T43" fmla="*/ 602 h 602"/>
                  <a:gd name="T44" fmla="*/ 0 w 218"/>
                  <a:gd name="T45" fmla="*/ 568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8" h="602">
                    <a:moveTo>
                      <a:pt x="0" y="568"/>
                    </a:move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10"/>
                      <a:pt x="24" y="86"/>
                      <a:pt x="24" y="86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109" y="0"/>
                      <a:pt x="133" y="24"/>
                      <a:pt x="133" y="24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110"/>
                      <a:pt x="218" y="144"/>
                      <a:pt x="218" y="144"/>
                    </a:cubicBezTo>
                    <a:cubicBezTo>
                      <a:pt x="218" y="544"/>
                      <a:pt x="218" y="544"/>
                      <a:pt x="218" y="544"/>
                    </a:cubicBezTo>
                    <a:cubicBezTo>
                      <a:pt x="204" y="544"/>
                      <a:pt x="204" y="544"/>
                      <a:pt x="204" y="544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04" y="157"/>
                      <a:pt x="204" y="123"/>
                      <a:pt x="181" y="98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32" y="44"/>
                      <a:pt x="109" y="19"/>
                      <a:pt x="86" y="44"/>
                    </a:cubicBezTo>
                    <a:cubicBezTo>
                      <a:pt x="38" y="98"/>
                      <a:pt x="38" y="98"/>
                      <a:pt x="38" y="98"/>
                    </a:cubicBezTo>
                    <a:cubicBezTo>
                      <a:pt x="38" y="98"/>
                      <a:pt x="15" y="123"/>
                      <a:pt x="15" y="157"/>
                    </a:cubicBezTo>
                    <a:cubicBezTo>
                      <a:pt x="15" y="554"/>
                      <a:pt x="15" y="554"/>
                      <a:pt x="15" y="554"/>
                    </a:cubicBezTo>
                    <a:cubicBezTo>
                      <a:pt x="15" y="554"/>
                      <a:pt x="12" y="588"/>
                      <a:pt x="46" y="588"/>
                    </a:cubicBezTo>
                    <a:cubicBezTo>
                      <a:pt x="154" y="588"/>
                      <a:pt x="154" y="588"/>
                      <a:pt x="154" y="588"/>
                    </a:cubicBezTo>
                    <a:cubicBezTo>
                      <a:pt x="185" y="588"/>
                      <a:pt x="180" y="507"/>
                      <a:pt x="180" y="507"/>
                    </a:cubicBezTo>
                    <a:cubicBezTo>
                      <a:pt x="193" y="507"/>
                      <a:pt x="193" y="507"/>
                      <a:pt x="193" y="507"/>
                    </a:cubicBezTo>
                    <a:cubicBezTo>
                      <a:pt x="193" y="507"/>
                      <a:pt x="200" y="602"/>
                      <a:pt x="164" y="602"/>
                    </a:cubicBezTo>
                    <a:cubicBezTo>
                      <a:pt x="34" y="602"/>
                      <a:pt x="34" y="602"/>
                      <a:pt x="34" y="602"/>
                    </a:cubicBezTo>
                    <a:cubicBezTo>
                      <a:pt x="0" y="602"/>
                      <a:pt x="0" y="568"/>
                      <a:pt x="0" y="568"/>
                    </a:cubicBezTo>
                  </a:path>
                </a:pathLst>
              </a:custGeom>
              <a:solidFill>
                <a:schemeClr val="accent2"/>
              </a:solidFill>
              <a:ln w="6350">
                <a:solidFill>
                  <a:schemeClr val="accent2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6372CA8-3ACB-FD6C-9FE8-E3DB2055B3CC}"/>
                </a:ext>
              </a:extLst>
            </p:cNvPr>
            <p:cNvSpPr/>
            <p:nvPr/>
          </p:nvSpPr>
          <p:spPr>
            <a:xfrm>
              <a:off x="546795" y="3183812"/>
              <a:ext cx="218693" cy="272129"/>
            </a:xfrm>
            <a:custGeom>
              <a:avLst/>
              <a:gdLst>
                <a:gd name="connsiteX0" fmla="*/ 155353 w 218693"/>
                <a:gd name="connsiteY0" fmla="*/ 167926 h 272129"/>
                <a:gd name="connsiteX1" fmla="*/ 143828 w 218693"/>
                <a:gd name="connsiteY1" fmla="*/ 214217 h 272129"/>
                <a:gd name="connsiteX2" fmla="*/ 109347 w 218693"/>
                <a:gd name="connsiteY2" fmla="*/ 196882 h 272129"/>
                <a:gd name="connsiteX3" fmla="*/ 74867 w 218693"/>
                <a:gd name="connsiteY3" fmla="*/ 214217 h 272129"/>
                <a:gd name="connsiteX4" fmla="*/ 63341 w 218693"/>
                <a:gd name="connsiteY4" fmla="*/ 167926 h 272129"/>
                <a:gd name="connsiteX5" fmla="*/ 120872 w 218693"/>
                <a:gd name="connsiteY5" fmla="*/ 29051 h 272129"/>
                <a:gd name="connsiteX6" fmla="*/ 92107 w 218693"/>
                <a:gd name="connsiteY6" fmla="*/ 58007 h 272129"/>
                <a:gd name="connsiteX7" fmla="*/ 51816 w 218693"/>
                <a:gd name="connsiteY7" fmla="*/ 58007 h 272129"/>
                <a:gd name="connsiteX8" fmla="*/ 109347 w 218693"/>
                <a:gd name="connsiteY8" fmla="*/ 167926 h 272129"/>
                <a:gd name="connsiteX9" fmla="*/ 178403 w 218693"/>
                <a:gd name="connsiteY9" fmla="*/ 167926 h 272129"/>
                <a:gd name="connsiteX10" fmla="*/ 218694 w 218693"/>
                <a:gd name="connsiteY10" fmla="*/ 208407 h 272129"/>
                <a:gd name="connsiteX11" fmla="*/ 218694 w 218693"/>
                <a:gd name="connsiteY11" fmla="*/ 272129 h 272129"/>
                <a:gd name="connsiteX12" fmla="*/ 109347 w 218693"/>
                <a:gd name="connsiteY12" fmla="*/ 167926 h 272129"/>
                <a:gd name="connsiteX13" fmla="*/ 40291 w 218693"/>
                <a:gd name="connsiteY13" fmla="*/ 167926 h 272129"/>
                <a:gd name="connsiteX14" fmla="*/ 0 w 218693"/>
                <a:gd name="connsiteY14" fmla="*/ 208407 h 272129"/>
                <a:gd name="connsiteX15" fmla="*/ 0 w 218693"/>
                <a:gd name="connsiteY15" fmla="*/ 272129 h 272129"/>
                <a:gd name="connsiteX16" fmla="*/ 51816 w 218693"/>
                <a:gd name="connsiteY16" fmla="*/ 86868 h 272129"/>
                <a:gd name="connsiteX17" fmla="*/ 103537 w 218693"/>
                <a:gd name="connsiteY17" fmla="*/ 138970 h 272129"/>
                <a:gd name="connsiteX18" fmla="*/ 155257 w 218693"/>
                <a:gd name="connsiteY18" fmla="*/ 86868 h 272129"/>
                <a:gd name="connsiteX19" fmla="*/ 155257 w 218693"/>
                <a:gd name="connsiteY19" fmla="*/ 52102 h 272129"/>
                <a:gd name="connsiteX20" fmla="*/ 103537 w 218693"/>
                <a:gd name="connsiteY20" fmla="*/ 0 h 272129"/>
                <a:gd name="connsiteX21" fmla="*/ 51816 w 218693"/>
                <a:gd name="connsiteY21" fmla="*/ 52102 h 272129"/>
                <a:gd name="connsiteX22" fmla="*/ 51816 w 218693"/>
                <a:gd name="connsiteY22" fmla="*/ 86868 h 27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8693" h="272129">
                  <a:moveTo>
                    <a:pt x="155353" y="167926"/>
                  </a:moveTo>
                  <a:lnTo>
                    <a:pt x="143828" y="214217"/>
                  </a:lnTo>
                  <a:lnTo>
                    <a:pt x="109347" y="196882"/>
                  </a:lnTo>
                  <a:lnTo>
                    <a:pt x="74867" y="214217"/>
                  </a:lnTo>
                  <a:lnTo>
                    <a:pt x="63341" y="167926"/>
                  </a:lnTo>
                  <a:moveTo>
                    <a:pt x="120872" y="29051"/>
                  </a:moveTo>
                  <a:cubicBezTo>
                    <a:pt x="120872" y="45053"/>
                    <a:pt x="108013" y="58007"/>
                    <a:pt x="92107" y="58007"/>
                  </a:cubicBezTo>
                  <a:lnTo>
                    <a:pt x="51816" y="58007"/>
                  </a:lnTo>
                  <a:moveTo>
                    <a:pt x="109347" y="167926"/>
                  </a:moveTo>
                  <a:lnTo>
                    <a:pt x="178403" y="167926"/>
                  </a:lnTo>
                  <a:cubicBezTo>
                    <a:pt x="200596" y="167926"/>
                    <a:pt x="218694" y="186118"/>
                    <a:pt x="218694" y="208407"/>
                  </a:cubicBezTo>
                  <a:lnTo>
                    <a:pt x="218694" y="272129"/>
                  </a:lnTo>
                  <a:moveTo>
                    <a:pt x="109347" y="167926"/>
                  </a:moveTo>
                  <a:lnTo>
                    <a:pt x="40291" y="167926"/>
                  </a:lnTo>
                  <a:cubicBezTo>
                    <a:pt x="18097" y="167926"/>
                    <a:pt x="0" y="186118"/>
                    <a:pt x="0" y="208407"/>
                  </a:cubicBezTo>
                  <a:lnTo>
                    <a:pt x="0" y="272129"/>
                  </a:lnTo>
                  <a:moveTo>
                    <a:pt x="51816" y="86868"/>
                  </a:moveTo>
                  <a:cubicBezTo>
                    <a:pt x="51816" y="115634"/>
                    <a:pt x="74962" y="138970"/>
                    <a:pt x="103537" y="138970"/>
                  </a:cubicBezTo>
                  <a:cubicBezTo>
                    <a:pt x="132112" y="138970"/>
                    <a:pt x="155257" y="115634"/>
                    <a:pt x="155257" y="86868"/>
                  </a:cubicBezTo>
                  <a:lnTo>
                    <a:pt x="155257" y="52102"/>
                  </a:lnTo>
                  <a:cubicBezTo>
                    <a:pt x="155257" y="23336"/>
                    <a:pt x="132112" y="0"/>
                    <a:pt x="103537" y="0"/>
                  </a:cubicBezTo>
                  <a:cubicBezTo>
                    <a:pt x="74962" y="0"/>
                    <a:pt x="51816" y="23336"/>
                    <a:pt x="51816" y="52102"/>
                  </a:cubicBezTo>
                  <a:lnTo>
                    <a:pt x="51816" y="86868"/>
                  </a:lnTo>
                  <a:close/>
                </a:path>
              </a:pathLst>
            </a:custGeom>
            <a:noFill/>
            <a:ln w="7620" cap="flat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0FA391-C9B7-BC4B-BE2A-28B4BCC7EC7F}"/>
              </a:ext>
            </a:extLst>
          </p:cNvPr>
          <p:cNvGrpSpPr/>
          <p:nvPr/>
        </p:nvGrpSpPr>
        <p:grpSpPr>
          <a:xfrm>
            <a:off x="6095999" y="1578002"/>
            <a:ext cx="5107859" cy="2438487"/>
            <a:chOff x="460585" y="1434072"/>
            <a:chExt cx="4288648" cy="2438487"/>
          </a:xfrm>
        </p:grpSpPr>
        <p:grpSp>
          <p:nvGrpSpPr>
            <p:cNvPr id="29" name="Gruppieren 8">
              <a:extLst>
                <a:ext uri="{FF2B5EF4-FFF2-40B4-BE49-F238E27FC236}">
                  <a16:creationId xmlns:a16="http://schemas.microsoft.com/office/drawing/2014/main" id="{79571B48-215E-6959-05EA-50CD5EFF493D}"/>
                </a:ext>
              </a:extLst>
            </p:cNvPr>
            <p:cNvGrpSpPr/>
            <p:nvPr/>
          </p:nvGrpSpPr>
          <p:grpSpPr>
            <a:xfrm>
              <a:off x="460585" y="1434072"/>
              <a:ext cx="4288648" cy="2438487"/>
              <a:chOff x="4133481" y="2342516"/>
              <a:chExt cx="3925043" cy="2152496"/>
            </a:xfrm>
          </p:grpSpPr>
          <p:sp>
            <p:nvSpPr>
              <p:cNvPr id="31" name="Rounded Rectangle 6">
                <a:extLst>
                  <a:ext uri="{FF2B5EF4-FFF2-40B4-BE49-F238E27FC236}">
                    <a16:creationId xmlns:a16="http://schemas.microsoft.com/office/drawing/2014/main" id="{6DCD728B-3581-CBB8-820B-BE7042ABF4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481" y="2441775"/>
                <a:ext cx="3925043" cy="205323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lIns="720000" tIns="36000" rIns="90000" bIns="4680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44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0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Attorney</a:t>
                </a: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see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endPara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comment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–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means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of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communication</a:t>
                </a:r>
                <a:endPara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attach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documents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endPara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see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linked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and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flights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endPara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reassign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colleagues</a:t>
                </a:r>
                <a:endPara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40000" marR="0" lvl="2" indent="-1440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Rounded Rectangle 6">
                <a:extLst>
                  <a:ext uri="{FF2B5EF4-FFF2-40B4-BE49-F238E27FC236}">
                    <a16:creationId xmlns:a16="http://schemas.microsoft.com/office/drawing/2014/main" id="{23A46896-2A23-FDB7-C6A5-29087917D04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133481" y="4164365"/>
                <a:ext cx="890843" cy="19872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wrap="square" lIns="0" tIns="0" rIns="0" bIns="0" rtlCol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1pPr>
                <a:lvl2pPr marL="216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432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648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864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A0144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Attorneys</a:t>
                </a:r>
              </a:p>
            </p:txBody>
          </p:sp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1F9E3F0B-9521-98E2-8D10-F8199046F60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140000" flipH="1">
                <a:off x="4140735" y="2342516"/>
                <a:ext cx="309499" cy="847267"/>
              </a:xfrm>
              <a:custGeom>
                <a:avLst/>
                <a:gdLst>
                  <a:gd name="T0" fmla="*/ 0 w 218"/>
                  <a:gd name="T1" fmla="*/ 568 h 602"/>
                  <a:gd name="T2" fmla="*/ 0 w 218"/>
                  <a:gd name="T3" fmla="*/ 144 h 602"/>
                  <a:gd name="T4" fmla="*/ 24 w 218"/>
                  <a:gd name="T5" fmla="*/ 86 h 602"/>
                  <a:gd name="T6" fmla="*/ 85 w 218"/>
                  <a:gd name="T7" fmla="*/ 24 h 602"/>
                  <a:gd name="T8" fmla="*/ 133 w 218"/>
                  <a:gd name="T9" fmla="*/ 24 h 602"/>
                  <a:gd name="T10" fmla="*/ 194 w 218"/>
                  <a:gd name="T11" fmla="*/ 86 h 602"/>
                  <a:gd name="T12" fmla="*/ 218 w 218"/>
                  <a:gd name="T13" fmla="*/ 144 h 602"/>
                  <a:gd name="T14" fmla="*/ 218 w 218"/>
                  <a:gd name="T15" fmla="*/ 544 h 602"/>
                  <a:gd name="T16" fmla="*/ 204 w 218"/>
                  <a:gd name="T17" fmla="*/ 544 h 602"/>
                  <a:gd name="T18" fmla="*/ 204 w 218"/>
                  <a:gd name="T19" fmla="*/ 157 h 602"/>
                  <a:gd name="T20" fmla="*/ 181 w 218"/>
                  <a:gd name="T21" fmla="*/ 98 h 602"/>
                  <a:gd name="T22" fmla="*/ 132 w 218"/>
                  <a:gd name="T23" fmla="*/ 44 h 602"/>
                  <a:gd name="T24" fmla="*/ 86 w 218"/>
                  <a:gd name="T25" fmla="*/ 44 h 602"/>
                  <a:gd name="T26" fmla="*/ 38 w 218"/>
                  <a:gd name="T27" fmla="*/ 98 h 602"/>
                  <a:gd name="T28" fmla="*/ 15 w 218"/>
                  <a:gd name="T29" fmla="*/ 157 h 602"/>
                  <a:gd name="T30" fmla="*/ 15 w 218"/>
                  <a:gd name="T31" fmla="*/ 554 h 602"/>
                  <a:gd name="T32" fmla="*/ 46 w 218"/>
                  <a:gd name="T33" fmla="*/ 588 h 602"/>
                  <a:gd name="T34" fmla="*/ 154 w 218"/>
                  <a:gd name="T35" fmla="*/ 588 h 602"/>
                  <a:gd name="T36" fmla="*/ 180 w 218"/>
                  <a:gd name="T37" fmla="*/ 507 h 602"/>
                  <a:gd name="T38" fmla="*/ 193 w 218"/>
                  <a:gd name="T39" fmla="*/ 507 h 602"/>
                  <a:gd name="T40" fmla="*/ 164 w 218"/>
                  <a:gd name="T41" fmla="*/ 602 h 602"/>
                  <a:gd name="T42" fmla="*/ 34 w 218"/>
                  <a:gd name="T43" fmla="*/ 602 h 602"/>
                  <a:gd name="T44" fmla="*/ 0 w 218"/>
                  <a:gd name="T45" fmla="*/ 568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8" h="602">
                    <a:moveTo>
                      <a:pt x="0" y="568"/>
                    </a:move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10"/>
                      <a:pt x="24" y="86"/>
                      <a:pt x="24" y="86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109" y="0"/>
                      <a:pt x="133" y="24"/>
                      <a:pt x="133" y="24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110"/>
                      <a:pt x="218" y="144"/>
                      <a:pt x="218" y="144"/>
                    </a:cubicBezTo>
                    <a:cubicBezTo>
                      <a:pt x="218" y="544"/>
                      <a:pt x="218" y="544"/>
                      <a:pt x="218" y="544"/>
                    </a:cubicBezTo>
                    <a:cubicBezTo>
                      <a:pt x="204" y="544"/>
                      <a:pt x="204" y="544"/>
                      <a:pt x="204" y="544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04" y="157"/>
                      <a:pt x="204" y="123"/>
                      <a:pt x="181" y="98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32" y="44"/>
                      <a:pt x="109" y="19"/>
                      <a:pt x="86" y="44"/>
                    </a:cubicBezTo>
                    <a:cubicBezTo>
                      <a:pt x="38" y="98"/>
                      <a:pt x="38" y="98"/>
                      <a:pt x="38" y="98"/>
                    </a:cubicBezTo>
                    <a:cubicBezTo>
                      <a:pt x="38" y="98"/>
                      <a:pt x="15" y="123"/>
                      <a:pt x="15" y="157"/>
                    </a:cubicBezTo>
                    <a:cubicBezTo>
                      <a:pt x="15" y="554"/>
                      <a:pt x="15" y="554"/>
                      <a:pt x="15" y="554"/>
                    </a:cubicBezTo>
                    <a:cubicBezTo>
                      <a:pt x="15" y="554"/>
                      <a:pt x="12" y="588"/>
                      <a:pt x="46" y="588"/>
                    </a:cubicBezTo>
                    <a:cubicBezTo>
                      <a:pt x="154" y="588"/>
                      <a:pt x="154" y="588"/>
                      <a:pt x="154" y="588"/>
                    </a:cubicBezTo>
                    <a:cubicBezTo>
                      <a:pt x="185" y="588"/>
                      <a:pt x="180" y="507"/>
                      <a:pt x="180" y="507"/>
                    </a:cubicBezTo>
                    <a:cubicBezTo>
                      <a:pt x="193" y="507"/>
                      <a:pt x="193" y="507"/>
                      <a:pt x="193" y="507"/>
                    </a:cubicBezTo>
                    <a:cubicBezTo>
                      <a:pt x="193" y="507"/>
                      <a:pt x="200" y="602"/>
                      <a:pt x="164" y="602"/>
                    </a:cubicBezTo>
                    <a:cubicBezTo>
                      <a:pt x="34" y="602"/>
                      <a:pt x="34" y="602"/>
                      <a:pt x="34" y="602"/>
                    </a:cubicBezTo>
                    <a:cubicBezTo>
                      <a:pt x="0" y="602"/>
                      <a:pt x="0" y="568"/>
                      <a:pt x="0" y="568"/>
                    </a:cubicBezTo>
                  </a:path>
                </a:pathLst>
              </a:custGeom>
              <a:solidFill>
                <a:schemeClr val="accent2"/>
              </a:solidFill>
              <a:ln w="6350">
                <a:solidFill>
                  <a:schemeClr val="accent2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6B2A458-3A03-40B4-A298-1BEB3E4F3413}"/>
                </a:ext>
              </a:extLst>
            </p:cNvPr>
            <p:cNvSpPr/>
            <p:nvPr/>
          </p:nvSpPr>
          <p:spPr>
            <a:xfrm>
              <a:off x="546795" y="3183812"/>
              <a:ext cx="218693" cy="272129"/>
            </a:xfrm>
            <a:custGeom>
              <a:avLst/>
              <a:gdLst>
                <a:gd name="connsiteX0" fmla="*/ 155353 w 218693"/>
                <a:gd name="connsiteY0" fmla="*/ 167926 h 272129"/>
                <a:gd name="connsiteX1" fmla="*/ 143828 w 218693"/>
                <a:gd name="connsiteY1" fmla="*/ 214217 h 272129"/>
                <a:gd name="connsiteX2" fmla="*/ 109347 w 218693"/>
                <a:gd name="connsiteY2" fmla="*/ 196882 h 272129"/>
                <a:gd name="connsiteX3" fmla="*/ 74867 w 218693"/>
                <a:gd name="connsiteY3" fmla="*/ 214217 h 272129"/>
                <a:gd name="connsiteX4" fmla="*/ 63341 w 218693"/>
                <a:gd name="connsiteY4" fmla="*/ 167926 h 272129"/>
                <a:gd name="connsiteX5" fmla="*/ 120872 w 218693"/>
                <a:gd name="connsiteY5" fmla="*/ 29051 h 272129"/>
                <a:gd name="connsiteX6" fmla="*/ 92107 w 218693"/>
                <a:gd name="connsiteY6" fmla="*/ 58007 h 272129"/>
                <a:gd name="connsiteX7" fmla="*/ 51816 w 218693"/>
                <a:gd name="connsiteY7" fmla="*/ 58007 h 272129"/>
                <a:gd name="connsiteX8" fmla="*/ 109347 w 218693"/>
                <a:gd name="connsiteY8" fmla="*/ 167926 h 272129"/>
                <a:gd name="connsiteX9" fmla="*/ 178403 w 218693"/>
                <a:gd name="connsiteY9" fmla="*/ 167926 h 272129"/>
                <a:gd name="connsiteX10" fmla="*/ 218694 w 218693"/>
                <a:gd name="connsiteY10" fmla="*/ 208407 h 272129"/>
                <a:gd name="connsiteX11" fmla="*/ 218694 w 218693"/>
                <a:gd name="connsiteY11" fmla="*/ 272129 h 272129"/>
                <a:gd name="connsiteX12" fmla="*/ 109347 w 218693"/>
                <a:gd name="connsiteY12" fmla="*/ 167926 h 272129"/>
                <a:gd name="connsiteX13" fmla="*/ 40291 w 218693"/>
                <a:gd name="connsiteY13" fmla="*/ 167926 h 272129"/>
                <a:gd name="connsiteX14" fmla="*/ 0 w 218693"/>
                <a:gd name="connsiteY14" fmla="*/ 208407 h 272129"/>
                <a:gd name="connsiteX15" fmla="*/ 0 w 218693"/>
                <a:gd name="connsiteY15" fmla="*/ 272129 h 272129"/>
                <a:gd name="connsiteX16" fmla="*/ 51816 w 218693"/>
                <a:gd name="connsiteY16" fmla="*/ 86868 h 272129"/>
                <a:gd name="connsiteX17" fmla="*/ 103537 w 218693"/>
                <a:gd name="connsiteY17" fmla="*/ 138970 h 272129"/>
                <a:gd name="connsiteX18" fmla="*/ 155257 w 218693"/>
                <a:gd name="connsiteY18" fmla="*/ 86868 h 272129"/>
                <a:gd name="connsiteX19" fmla="*/ 155257 w 218693"/>
                <a:gd name="connsiteY19" fmla="*/ 52102 h 272129"/>
                <a:gd name="connsiteX20" fmla="*/ 103537 w 218693"/>
                <a:gd name="connsiteY20" fmla="*/ 0 h 272129"/>
                <a:gd name="connsiteX21" fmla="*/ 51816 w 218693"/>
                <a:gd name="connsiteY21" fmla="*/ 52102 h 272129"/>
                <a:gd name="connsiteX22" fmla="*/ 51816 w 218693"/>
                <a:gd name="connsiteY22" fmla="*/ 86868 h 27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8693" h="272129">
                  <a:moveTo>
                    <a:pt x="155353" y="167926"/>
                  </a:moveTo>
                  <a:lnTo>
                    <a:pt x="143828" y="214217"/>
                  </a:lnTo>
                  <a:lnTo>
                    <a:pt x="109347" y="196882"/>
                  </a:lnTo>
                  <a:lnTo>
                    <a:pt x="74867" y="214217"/>
                  </a:lnTo>
                  <a:lnTo>
                    <a:pt x="63341" y="167926"/>
                  </a:lnTo>
                  <a:moveTo>
                    <a:pt x="120872" y="29051"/>
                  </a:moveTo>
                  <a:cubicBezTo>
                    <a:pt x="120872" y="45053"/>
                    <a:pt x="108013" y="58007"/>
                    <a:pt x="92107" y="58007"/>
                  </a:cubicBezTo>
                  <a:lnTo>
                    <a:pt x="51816" y="58007"/>
                  </a:lnTo>
                  <a:moveTo>
                    <a:pt x="109347" y="167926"/>
                  </a:moveTo>
                  <a:lnTo>
                    <a:pt x="178403" y="167926"/>
                  </a:lnTo>
                  <a:cubicBezTo>
                    <a:pt x="200596" y="167926"/>
                    <a:pt x="218694" y="186118"/>
                    <a:pt x="218694" y="208407"/>
                  </a:cubicBezTo>
                  <a:lnTo>
                    <a:pt x="218694" y="272129"/>
                  </a:lnTo>
                  <a:moveTo>
                    <a:pt x="109347" y="167926"/>
                  </a:moveTo>
                  <a:lnTo>
                    <a:pt x="40291" y="167926"/>
                  </a:lnTo>
                  <a:cubicBezTo>
                    <a:pt x="18097" y="167926"/>
                    <a:pt x="0" y="186118"/>
                    <a:pt x="0" y="208407"/>
                  </a:cubicBezTo>
                  <a:lnTo>
                    <a:pt x="0" y="272129"/>
                  </a:lnTo>
                  <a:moveTo>
                    <a:pt x="51816" y="86868"/>
                  </a:moveTo>
                  <a:cubicBezTo>
                    <a:pt x="51816" y="115634"/>
                    <a:pt x="74962" y="138970"/>
                    <a:pt x="103537" y="138970"/>
                  </a:cubicBezTo>
                  <a:cubicBezTo>
                    <a:pt x="132112" y="138970"/>
                    <a:pt x="155257" y="115634"/>
                    <a:pt x="155257" y="86868"/>
                  </a:cubicBezTo>
                  <a:lnTo>
                    <a:pt x="155257" y="52102"/>
                  </a:lnTo>
                  <a:cubicBezTo>
                    <a:pt x="155257" y="23336"/>
                    <a:pt x="132112" y="0"/>
                    <a:pt x="103537" y="0"/>
                  </a:cubicBezTo>
                  <a:cubicBezTo>
                    <a:pt x="74962" y="0"/>
                    <a:pt x="51816" y="23336"/>
                    <a:pt x="51816" y="52102"/>
                  </a:cubicBezTo>
                  <a:lnTo>
                    <a:pt x="51816" y="86868"/>
                  </a:lnTo>
                  <a:close/>
                </a:path>
              </a:pathLst>
            </a:custGeom>
            <a:noFill/>
            <a:ln w="7620" cap="flat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8F1AFF0-A2BE-1C9E-1A0E-1F698A047907}"/>
              </a:ext>
            </a:extLst>
          </p:cNvPr>
          <p:cNvGrpSpPr/>
          <p:nvPr/>
        </p:nvGrpSpPr>
        <p:grpSpPr>
          <a:xfrm>
            <a:off x="6095999" y="4090694"/>
            <a:ext cx="5107859" cy="2438487"/>
            <a:chOff x="460585" y="1434072"/>
            <a:chExt cx="4288648" cy="2438487"/>
          </a:xfrm>
        </p:grpSpPr>
        <p:grpSp>
          <p:nvGrpSpPr>
            <p:cNvPr id="35" name="Gruppieren 8">
              <a:extLst>
                <a:ext uri="{FF2B5EF4-FFF2-40B4-BE49-F238E27FC236}">
                  <a16:creationId xmlns:a16="http://schemas.microsoft.com/office/drawing/2014/main" id="{AE6485A1-3577-F07D-CAD7-110865D64E92}"/>
                </a:ext>
              </a:extLst>
            </p:cNvPr>
            <p:cNvGrpSpPr/>
            <p:nvPr/>
          </p:nvGrpSpPr>
          <p:grpSpPr>
            <a:xfrm>
              <a:off x="460585" y="1434072"/>
              <a:ext cx="4288648" cy="2438487"/>
              <a:chOff x="4133481" y="2342516"/>
              <a:chExt cx="3925043" cy="2152496"/>
            </a:xfrm>
          </p:grpSpPr>
          <p:sp>
            <p:nvSpPr>
              <p:cNvPr id="37" name="Rounded Rectangle 6">
                <a:extLst>
                  <a:ext uri="{FF2B5EF4-FFF2-40B4-BE49-F238E27FC236}">
                    <a16:creationId xmlns:a16="http://schemas.microsoft.com/office/drawing/2014/main" id="{8CD20A9E-639B-98F8-A7EE-25234E41D8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481" y="2441775"/>
                <a:ext cx="3925043" cy="205323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lIns="720000" tIns="36000" rIns="90000" bIns="4680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44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0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260000" indent="-144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A01441"/>
                  </a:buClr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System </a:t>
                </a:r>
                <a:r>
                  <a:rPr kumimoji="0" lang="de-DE" sz="18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admin</a:t>
                </a:r>
                <a:endParaRPr kumimoji="0" lang="de-DE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create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users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passengers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colleagues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attorneys</a:t>
                </a:r>
                <a:endPara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delete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users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passengers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colleagues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attorneys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claim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cases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flights</a:t>
                </a:r>
                <a:endPara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modify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/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reset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user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accounts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  <a:p>
                <a:pPr marL="429750" marR="0" lvl="1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Can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change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system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options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(email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accounts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/SMTP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servers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email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presets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pdf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de-DE" sz="15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presets</a:t>
                </a:r>
                <a:r>
                  <a:rPr kumimoji="0" lang="de-DE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  <a:p>
                <a:pPr marL="540000" marR="0" lvl="2" indent="-1440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Rounded Rectangle 6">
                <a:extLst>
                  <a:ext uri="{FF2B5EF4-FFF2-40B4-BE49-F238E27FC236}">
                    <a16:creationId xmlns:a16="http://schemas.microsoft.com/office/drawing/2014/main" id="{F3060AEB-C78F-5361-4480-A38CF8B4D23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133481" y="4164366"/>
                <a:ext cx="890843" cy="19872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vert="horz" wrap="square" lIns="0" tIns="0" rIns="0" bIns="0" rtlCol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1pPr>
                <a:lvl2pPr marL="216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432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648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864000" indent="-216000" algn="l" defTabSz="9144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»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A0144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System </a:t>
                </a:r>
                <a:r>
                  <a:rPr kumimoji="0" lang="de-DE" sz="14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A01441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admin</a:t>
                </a:r>
                <a:endPara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srgbClr val="A01441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" name="Freeform 5">
                <a:extLst>
                  <a:ext uri="{FF2B5EF4-FFF2-40B4-BE49-F238E27FC236}">
                    <a16:creationId xmlns:a16="http://schemas.microsoft.com/office/drawing/2014/main" id="{AFDBA58F-B92D-91E2-C093-56590265879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140000" flipH="1">
                <a:off x="4140735" y="2342516"/>
                <a:ext cx="309499" cy="847267"/>
              </a:xfrm>
              <a:custGeom>
                <a:avLst/>
                <a:gdLst>
                  <a:gd name="T0" fmla="*/ 0 w 218"/>
                  <a:gd name="T1" fmla="*/ 568 h 602"/>
                  <a:gd name="T2" fmla="*/ 0 w 218"/>
                  <a:gd name="T3" fmla="*/ 144 h 602"/>
                  <a:gd name="T4" fmla="*/ 24 w 218"/>
                  <a:gd name="T5" fmla="*/ 86 h 602"/>
                  <a:gd name="T6" fmla="*/ 85 w 218"/>
                  <a:gd name="T7" fmla="*/ 24 h 602"/>
                  <a:gd name="T8" fmla="*/ 133 w 218"/>
                  <a:gd name="T9" fmla="*/ 24 h 602"/>
                  <a:gd name="T10" fmla="*/ 194 w 218"/>
                  <a:gd name="T11" fmla="*/ 86 h 602"/>
                  <a:gd name="T12" fmla="*/ 218 w 218"/>
                  <a:gd name="T13" fmla="*/ 144 h 602"/>
                  <a:gd name="T14" fmla="*/ 218 w 218"/>
                  <a:gd name="T15" fmla="*/ 544 h 602"/>
                  <a:gd name="T16" fmla="*/ 204 w 218"/>
                  <a:gd name="T17" fmla="*/ 544 h 602"/>
                  <a:gd name="T18" fmla="*/ 204 w 218"/>
                  <a:gd name="T19" fmla="*/ 157 h 602"/>
                  <a:gd name="T20" fmla="*/ 181 w 218"/>
                  <a:gd name="T21" fmla="*/ 98 h 602"/>
                  <a:gd name="T22" fmla="*/ 132 w 218"/>
                  <a:gd name="T23" fmla="*/ 44 h 602"/>
                  <a:gd name="T24" fmla="*/ 86 w 218"/>
                  <a:gd name="T25" fmla="*/ 44 h 602"/>
                  <a:gd name="T26" fmla="*/ 38 w 218"/>
                  <a:gd name="T27" fmla="*/ 98 h 602"/>
                  <a:gd name="T28" fmla="*/ 15 w 218"/>
                  <a:gd name="T29" fmla="*/ 157 h 602"/>
                  <a:gd name="T30" fmla="*/ 15 w 218"/>
                  <a:gd name="T31" fmla="*/ 554 h 602"/>
                  <a:gd name="T32" fmla="*/ 46 w 218"/>
                  <a:gd name="T33" fmla="*/ 588 h 602"/>
                  <a:gd name="T34" fmla="*/ 154 w 218"/>
                  <a:gd name="T35" fmla="*/ 588 h 602"/>
                  <a:gd name="T36" fmla="*/ 180 w 218"/>
                  <a:gd name="T37" fmla="*/ 507 h 602"/>
                  <a:gd name="T38" fmla="*/ 193 w 218"/>
                  <a:gd name="T39" fmla="*/ 507 h 602"/>
                  <a:gd name="T40" fmla="*/ 164 w 218"/>
                  <a:gd name="T41" fmla="*/ 602 h 602"/>
                  <a:gd name="T42" fmla="*/ 34 w 218"/>
                  <a:gd name="T43" fmla="*/ 602 h 602"/>
                  <a:gd name="T44" fmla="*/ 0 w 218"/>
                  <a:gd name="T45" fmla="*/ 568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8" h="602">
                    <a:moveTo>
                      <a:pt x="0" y="568"/>
                    </a:move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10"/>
                      <a:pt x="24" y="86"/>
                      <a:pt x="24" y="86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109" y="0"/>
                      <a:pt x="133" y="24"/>
                      <a:pt x="133" y="24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110"/>
                      <a:pt x="218" y="144"/>
                      <a:pt x="218" y="144"/>
                    </a:cubicBezTo>
                    <a:cubicBezTo>
                      <a:pt x="218" y="544"/>
                      <a:pt x="218" y="544"/>
                      <a:pt x="218" y="544"/>
                    </a:cubicBezTo>
                    <a:cubicBezTo>
                      <a:pt x="204" y="544"/>
                      <a:pt x="204" y="544"/>
                      <a:pt x="204" y="544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04" y="157"/>
                      <a:pt x="204" y="123"/>
                      <a:pt x="181" y="98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32" y="44"/>
                      <a:pt x="109" y="19"/>
                      <a:pt x="86" y="44"/>
                    </a:cubicBezTo>
                    <a:cubicBezTo>
                      <a:pt x="38" y="98"/>
                      <a:pt x="38" y="98"/>
                      <a:pt x="38" y="98"/>
                    </a:cubicBezTo>
                    <a:cubicBezTo>
                      <a:pt x="38" y="98"/>
                      <a:pt x="15" y="123"/>
                      <a:pt x="15" y="157"/>
                    </a:cubicBezTo>
                    <a:cubicBezTo>
                      <a:pt x="15" y="554"/>
                      <a:pt x="15" y="554"/>
                      <a:pt x="15" y="554"/>
                    </a:cubicBezTo>
                    <a:cubicBezTo>
                      <a:pt x="15" y="554"/>
                      <a:pt x="12" y="588"/>
                      <a:pt x="46" y="588"/>
                    </a:cubicBezTo>
                    <a:cubicBezTo>
                      <a:pt x="154" y="588"/>
                      <a:pt x="154" y="588"/>
                      <a:pt x="154" y="588"/>
                    </a:cubicBezTo>
                    <a:cubicBezTo>
                      <a:pt x="185" y="588"/>
                      <a:pt x="180" y="507"/>
                      <a:pt x="180" y="507"/>
                    </a:cubicBezTo>
                    <a:cubicBezTo>
                      <a:pt x="193" y="507"/>
                      <a:pt x="193" y="507"/>
                      <a:pt x="193" y="507"/>
                    </a:cubicBezTo>
                    <a:cubicBezTo>
                      <a:pt x="193" y="507"/>
                      <a:pt x="200" y="602"/>
                      <a:pt x="164" y="602"/>
                    </a:cubicBezTo>
                    <a:cubicBezTo>
                      <a:pt x="34" y="602"/>
                      <a:pt x="34" y="602"/>
                      <a:pt x="34" y="602"/>
                    </a:cubicBezTo>
                    <a:cubicBezTo>
                      <a:pt x="0" y="602"/>
                      <a:pt x="0" y="568"/>
                      <a:pt x="0" y="568"/>
                    </a:cubicBezTo>
                  </a:path>
                </a:pathLst>
              </a:custGeom>
              <a:solidFill>
                <a:schemeClr val="accent2"/>
              </a:solidFill>
              <a:ln w="6350">
                <a:solidFill>
                  <a:schemeClr val="accent2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01441"/>
                  </a:buClr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48793EC-29AD-2393-15D9-D18F1FA27332}"/>
                </a:ext>
              </a:extLst>
            </p:cNvPr>
            <p:cNvSpPr/>
            <p:nvPr/>
          </p:nvSpPr>
          <p:spPr>
            <a:xfrm>
              <a:off x="546795" y="3183812"/>
              <a:ext cx="218693" cy="272129"/>
            </a:xfrm>
            <a:custGeom>
              <a:avLst/>
              <a:gdLst>
                <a:gd name="connsiteX0" fmla="*/ 155353 w 218693"/>
                <a:gd name="connsiteY0" fmla="*/ 167926 h 272129"/>
                <a:gd name="connsiteX1" fmla="*/ 143828 w 218693"/>
                <a:gd name="connsiteY1" fmla="*/ 214217 h 272129"/>
                <a:gd name="connsiteX2" fmla="*/ 109347 w 218693"/>
                <a:gd name="connsiteY2" fmla="*/ 196882 h 272129"/>
                <a:gd name="connsiteX3" fmla="*/ 74867 w 218693"/>
                <a:gd name="connsiteY3" fmla="*/ 214217 h 272129"/>
                <a:gd name="connsiteX4" fmla="*/ 63341 w 218693"/>
                <a:gd name="connsiteY4" fmla="*/ 167926 h 272129"/>
                <a:gd name="connsiteX5" fmla="*/ 120872 w 218693"/>
                <a:gd name="connsiteY5" fmla="*/ 29051 h 272129"/>
                <a:gd name="connsiteX6" fmla="*/ 92107 w 218693"/>
                <a:gd name="connsiteY6" fmla="*/ 58007 h 272129"/>
                <a:gd name="connsiteX7" fmla="*/ 51816 w 218693"/>
                <a:gd name="connsiteY7" fmla="*/ 58007 h 272129"/>
                <a:gd name="connsiteX8" fmla="*/ 109347 w 218693"/>
                <a:gd name="connsiteY8" fmla="*/ 167926 h 272129"/>
                <a:gd name="connsiteX9" fmla="*/ 178403 w 218693"/>
                <a:gd name="connsiteY9" fmla="*/ 167926 h 272129"/>
                <a:gd name="connsiteX10" fmla="*/ 218694 w 218693"/>
                <a:gd name="connsiteY10" fmla="*/ 208407 h 272129"/>
                <a:gd name="connsiteX11" fmla="*/ 218694 w 218693"/>
                <a:gd name="connsiteY11" fmla="*/ 272129 h 272129"/>
                <a:gd name="connsiteX12" fmla="*/ 109347 w 218693"/>
                <a:gd name="connsiteY12" fmla="*/ 167926 h 272129"/>
                <a:gd name="connsiteX13" fmla="*/ 40291 w 218693"/>
                <a:gd name="connsiteY13" fmla="*/ 167926 h 272129"/>
                <a:gd name="connsiteX14" fmla="*/ 0 w 218693"/>
                <a:gd name="connsiteY14" fmla="*/ 208407 h 272129"/>
                <a:gd name="connsiteX15" fmla="*/ 0 w 218693"/>
                <a:gd name="connsiteY15" fmla="*/ 272129 h 272129"/>
                <a:gd name="connsiteX16" fmla="*/ 51816 w 218693"/>
                <a:gd name="connsiteY16" fmla="*/ 86868 h 272129"/>
                <a:gd name="connsiteX17" fmla="*/ 103537 w 218693"/>
                <a:gd name="connsiteY17" fmla="*/ 138970 h 272129"/>
                <a:gd name="connsiteX18" fmla="*/ 155257 w 218693"/>
                <a:gd name="connsiteY18" fmla="*/ 86868 h 272129"/>
                <a:gd name="connsiteX19" fmla="*/ 155257 w 218693"/>
                <a:gd name="connsiteY19" fmla="*/ 52102 h 272129"/>
                <a:gd name="connsiteX20" fmla="*/ 103537 w 218693"/>
                <a:gd name="connsiteY20" fmla="*/ 0 h 272129"/>
                <a:gd name="connsiteX21" fmla="*/ 51816 w 218693"/>
                <a:gd name="connsiteY21" fmla="*/ 52102 h 272129"/>
                <a:gd name="connsiteX22" fmla="*/ 51816 w 218693"/>
                <a:gd name="connsiteY22" fmla="*/ 86868 h 27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8693" h="272129">
                  <a:moveTo>
                    <a:pt x="155353" y="167926"/>
                  </a:moveTo>
                  <a:lnTo>
                    <a:pt x="143828" y="214217"/>
                  </a:lnTo>
                  <a:lnTo>
                    <a:pt x="109347" y="196882"/>
                  </a:lnTo>
                  <a:lnTo>
                    <a:pt x="74867" y="214217"/>
                  </a:lnTo>
                  <a:lnTo>
                    <a:pt x="63341" y="167926"/>
                  </a:lnTo>
                  <a:moveTo>
                    <a:pt x="120872" y="29051"/>
                  </a:moveTo>
                  <a:cubicBezTo>
                    <a:pt x="120872" y="45053"/>
                    <a:pt x="108013" y="58007"/>
                    <a:pt x="92107" y="58007"/>
                  </a:cubicBezTo>
                  <a:lnTo>
                    <a:pt x="51816" y="58007"/>
                  </a:lnTo>
                  <a:moveTo>
                    <a:pt x="109347" y="167926"/>
                  </a:moveTo>
                  <a:lnTo>
                    <a:pt x="178403" y="167926"/>
                  </a:lnTo>
                  <a:cubicBezTo>
                    <a:pt x="200596" y="167926"/>
                    <a:pt x="218694" y="186118"/>
                    <a:pt x="218694" y="208407"/>
                  </a:cubicBezTo>
                  <a:lnTo>
                    <a:pt x="218694" y="272129"/>
                  </a:lnTo>
                  <a:moveTo>
                    <a:pt x="109347" y="167926"/>
                  </a:moveTo>
                  <a:lnTo>
                    <a:pt x="40291" y="167926"/>
                  </a:lnTo>
                  <a:cubicBezTo>
                    <a:pt x="18097" y="167926"/>
                    <a:pt x="0" y="186118"/>
                    <a:pt x="0" y="208407"/>
                  </a:cubicBezTo>
                  <a:lnTo>
                    <a:pt x="0" y="272129"/>
                  </a:lnTo>
                  <a:moveTo>
                    <a:pt x="51816" y="86868"/>
                  </a:moveTo>
                  <a:cubicBezTo>
                    <a:pt x="51816" y="115634"/>
                    <a:pt x="74962" y="138970"/>
                    <a:pt x="103537" y="138970"/>
                  </a:cubicBezTo>
                  <a:cubicBezTo>
                    <a:pt x="132112" y="138970"/>
                    <a:pt x="155257" y="115634"/>
                    <a:pt x="155257" y="86868"/>
                  </a:cubicBezTo>
                  <a:lnTo>
                    <a:pt x="155257" y="52102"/>
                  </a:lnTo>
                  <a:cubicBezTo>
                    <a:pt x="155257" y="23336"/>
                    <a:pt x="132112" y="0"/>
                    <a:pt x="103537" y="0"/>
                  </a:cubicBezTo>
                  <a:cubicBezTo>
                    <a:pt x="74962" y="0"/>
                    <a:pt x="51816" y="23336"/>
                    <a:pt x="51816" y="52102"/>
                  </a:cubicBezTo>
                  <a:lnTo>
                    <a:pt x="51816" y="86868"/>
                  </a:lnTo>
                  <a:close/>
                </a:path>
              </a:pathLst>
            </a:custGeom>
            <a:noFill/>
            <a:ln w="7620" cap="flat">
              <a:solidFill>
                <a:srgbClr val="A4093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F8D24E3D-064C-B9CE-A221-444FD1359E8F}"/>
              </a:ext>
            </a:extLst>
          </p:cNvPr>
          <p:cNvSpPr/>
          <p:nvPr/>
        </p:nvSpPr>
        <p:spPr>
          <a:xfrm>
            <a:off x="5825766" y="1526563"/>
            <a:ext cx="1875934" cy="177037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515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11B2D-35E9-14FB-73F3-C927CA06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1ABA05-EF38-E4D0-F83B-C403773C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FED0-14E8-22E0-39F6-1725FEE5935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EE7F3F8A-9A2A-DF06-56E9-8F16BF43F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295F1-7A6B-55FC-64DD-03AED45A7BB4}"/>
              </a:ext>
            </a:extLst>
          </p:cNvPr>
          <p:cNvSpPr txBox="1"/>
          <p:nvPr/>
        </p:nvSpPr>
        <p:spPr>
          <a:xfrm>
            <a:off x="442452" y="1541681"/>
            <a:ext cx="5982130" cy="106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effectLst/>
              </a:rPr>
              <a:t>Cases will be recorded with a dynamic entry form. </a:t>
            </a:r>
            <a:endParaRPr lang="en-US" sz="1600"/>
          </a:p>
          <a:p>
            <a:r>
              <a:rPr lang="en-US" sz="1600">
                <a:effectLst/>
              </a:rPr>
              <a:t>The form can be accessed publicly, without login. </a:t>
            </a:r>
            <a:endParaRPr lang="en-US" sz="1600"/>
          </a:p>
          <a:p>
            <a:r>
              <a:rPr lang="en-US" sz="1600">
                <a:effectLst/>
              </a:rPr>
              <a:t>The same form will be used for users with existing cases. </a:t>
            </a:r>
            <a:endParaRPr lang="en-US" sz="1600"/>
          </a:p>
          <a:p>
            <a:r>
              <a:rPr lang="en-US" sz="1600">
                <a:effectLst/>
              </a:rPr>
              <a:t>All field are required.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F004A1-C489-1670-8CA4-1FEFFB963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374" y="1151660"/>
            <a:ext cx="3669579" cy="2140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33E483-64E9-9657-5407-F41AD2DEE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475" y="1169393"/>
            <a:ext cx="2267266" cy="676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F48AE7-2659-E308-341E-F0CF687EC423}"/>
              </a:ext>
            </a:extLst>
          </p:cNvPr>
          <p:cNvSpPr txBox="1"/>
          <p:nvPr/>
        </p:nvSpPr>
        <p:spPr>
          <a:xfrm>
            <a:off x="5707442" y="1927189"/>
            <a:ext cx="2215299" cy="15082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800">
                <a:effectLst/>
              </a:rPr>
              <a:t>Design requirements: </a:t>
            </a:r>
            <a:endParaRPr 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effectLst/>
              </a:rPr>
              <a:t> Progress bar </a:t>
            </a:r>
            <a:endParaRPr 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effectLst/>
              </a:rPr>
              <a:t> Blue/green colors as accents – see logo </a:t>
            </a:r>
            <a:endParaRPr lang="en-US" sz="1800">
              <a:ea typeface="Calibri"/>
              <a:cs typeface="Calibri"/>
            </a:endParaRPr>
          </a:p>
          <a:p>
            <a:endParaRPr lang="de-DE" sz="1800">
              <a:ea typeface="Calibri"/>
              <a:cs typeface="Calibri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8B11799-EE16-4824-90B8-969B9237C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7442938"/>
              </p:ext>
            </p:extLst>
          </p:nvPr>
        </p:nvGraphicFramePr>
        <p:xfrm>
          <a:off x="0" y="3805295"/>
          <a:ext cx="11723604" cy="2556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5531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11B2D-35E9-14FB-73F3-C927CA06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1ABA05-EF38-E4D0-F83B-C403773C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FED0-14E8-22E0-39F6-1725FEE5935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EE7F3F8A-9A2A-DF06-56E9-8F16BF43F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295F1-7A6B-55FC-64DD-03AED45A7BB4}"/>
              </a:ext>
            </a:extLst>
          </p:cNvPr>
          <p:cNvSpPr txBox="1"/>
          <p:nvPr/>
        </p:nvSpPr>
        <p:spPr>
          <a:xfrm>
            <a:off x="2132479" y="3010543"/>
            <a:ext cx="8830894" cy="2422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Starting airport (input variables with API call for correct airport)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Destination airport (input variables with API call for correct airport)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Direct flight or connecting flight/-s?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If connecting flight - enter connecting flights (ex. enter location)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Max. 4 connection or dynamic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Select connecting flight/-s, which was disrupted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List varieties of connecting flight, ex. a-b/b-c/c-d etc.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Make list selectable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8B11799-EE16-4824-90B8-969B9237C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62951"/>
              </p:ext>
            </p:extLst>
          </p:nvPr>
        </p:nvGraphicFramePr>
        <p:xfrm>
          <a:off x="213284" y="1502799"/>
          <a:ext cx="1992198" cy="192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D8942-0C19-0937-BBF5-9011DD24BD61}"/>
              </a:ext>
            </a:extLst>
          </p:cNvPr>
          <p:cNvSpPr txBox="1"/>
          <p:nvPr/>
        </p:nvSpPr>
        <p:spPr>
          <a:xfrm>
            <a:off x="2132479" y="2015702"/>
            <a:ext cx="8830894" cy="898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effectLst/>
              </a:rPr>
              <a:t>In this step, we record the basic data for a case to determine the orthodromic distance between the starting point and final destination. This calculation determines the level of compensation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73404FD-381B-76B7-1C43-47CA54E21D76}"/>
              </a:ext>
            </a:extLst>
          </p:cNvPr>
          <p:cNvSpPr txBox="1">
            <a:spLocks/>
          </p:cNvSpPr>
          <p:nvPr/>
        </p:nvSpPr>
        <p:spPr>
          <a:xfrm>
            <a:off x="2132479" y="5639818"/>
            <a:ext cx="9305574" cy="84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Compensation level: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&lt;</a:t>
            </a:r>
            <a:r>
              <a:rPr lang="ro-RO"/>
              <a:t>1500km – 250€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1500-3500km – 400€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&gt;</a:t>
            </a:r>
            <a:r>
              <a:rPr lang="ro-RO"/>
              <a:t>3500km – 600€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813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11B2D-35E9-14FB-73F3-C927CA06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1ABA05-EF38-E4D0-F83B-C403773C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FED0-14E8-22E0-39F6-1725FEE5935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EE7F3F8A-9A2A-DF06-56E9-8F16BF43F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295F1-7A6B-55FC-64DD-03AED45A7BB4}"/>
              </a:ext>
            </a:extLst>
          </p:cNvPr>
          <p:cNvSpPr txBox="1"/>
          <p:nvPr/>
        </p:nvSpPr>
        <p:spPr>
          <a:xfrm>
            <a:off x="2132479" y="2491063"/>
            <a:ext cx="8830894" cy="310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>
                <a:effectLst/>
              </a:rPr>
              <a:t>What type of disruption? </a:t>
            </a:r>
            <a:endParaRPr lang="en-US" sz="1400" b="1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>
                <a:effectLst/>
              </a:rPr>
              <a:t>cancellation</a:t>
            </a:r>
            <a:r>
              <a:rPr lang="en-US" sz="1400">
                <a:effectLst/>
              </a:rPr>
              <a:t> </a:t>
            </a:r>
            <a:endParaRPr lang="en-US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How late arrived to final destination? (&lt;3h, &gt;3h, never arrived)</a:t>
            </a:r>
            <a:r>
              <a:rPr lang="en-US" sz="1600">
                <a:effectLst/>
              </a:rPr>
              <a:t> </a:t>
            </a:r>
            <a:endParaRPr lang="en-US" sz="160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200">
                <a:effectLst/>
              </a:rPr>
              <a:t>ELIGIBLE: &gt;3h OR never arrived </a:t>
            </a:r>
            <a:endParaRPr 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How many days before cancellation has the airline informed? (&gt;14 days, &lt;14 days, on flight day) </a:t>
            </a:r>
            <a:endParaRPr lang="en-US" sz="140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200">
                <a:effectLst/>
              </a:rPr>
              <a:t>ELIGIBLE: &lt;14 day OR on flight day </a:t>
            </a:r>
            <a:endParaRPr lang="en-US" sz="12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>
                <a:effectLst/>
              </a:rPr>
              <a:t>delay</a:t>
            </a:r>
            <a:r>
              <a:rPr lang="en-US" sz="1400">
                <a:effectLst/>
              </a:rPr>
              <a:t> </a:t>
            </a:r>
            <a:endParaRPr lang="en-US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How late arrived to final destination? (&lt;3h, &gt;3h, connection flight lost) </a:t>
            </a:r>
            <a:endParaRPr lang="en-US" sz="160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200">
                <a:effectLst/>
              </a:rPr>
              <a:t>ELIGIBLE: &gt;3h OR never arrived </a:t>
            </a:r>
            <a:endParaRPr lang="en-US" sz="12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>
                <a:effectLst/>
              </a:rPr>
              <a:t>denied boarding </a:t>
            </a:r>
            <a:endParaRPr lang="en-US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How late arrived to final destination? (&lt;3h, &gt;3h, never arrived) </a:t>
            </a:r>
          </a:p>
          <a:p>
            <a:pPr marL="1138950" lvl="2" indent="-285750"/>
            <a:r>
              <a:rPr lang="en-US" sz="1000"/>
              <a:t>ELIGIBLE: &gt;3h OR never arrived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Did you give up your seat voluntarily? (Yes/No)</a:t>
            </a:r>
          </a:p>
          <a:p>
            <a:pPr marL="1138950" lvl="2" indent="-285750"/>
            <a:r>
              <a:rPr lang="en-US" sz="1000"/>
              <a:t>ELIGIBLE: NO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8B11799-EE16-4824-90B8-969B9237C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886472"/>
              </p:ext>
            </p:extLst>
          </p:nvPr>
        </p:nvGraphicFramePr>
        <p:xfrm>
          <a:off x="213284" y="1258388"/>
          <a:ext cx="1992198" cy="192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D8942-0C19-0937-BBF5-9011DD24BD61}"/>
              </a:ext>
            </a:extLst>
          </p:cNvPr>
          <p:cNvSpPr txBox="1"/>
          <p:nvPr/>
        </p:nvSpPr>
        <p:spPr>
          <a:xfrm>
            <a:off x="2132479" y="1722257"/>
            <a:ext cx="8830894" cy="59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effectLst/>
              </a:rPr>
              <a:t>In this step, based on user input, we determine if the case is formally eligible. </a:t>
            </a:r>
          </a:p>
          <a:p>
            <a:r>
              <a:rPr lang="en-US"/>
              <a:t>Dynamic fields should be used. If any of the answer is not eligible: pop-up with sorry</a:t>
            </a:r>
            <a:endParaRPr lang="en-US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3B7CB2-7E46-5403-AB79-BC16BB4A46D4}"/>
              </a:ext>
            </a:extLst>
          </p:cNvPr>
          <p:cNvSpPr txBox="1"/>
          <p:nvPr/>
        </p:nvSpPr>
        <p:spPr>
          <a:xfrm>
            <a:off x="2132479" y="5771967"/>
            <a:ext cx="8830894" cy="7329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/>
              <a:t>If any of the answer is not eligible: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pop-up with sorry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CTA to try another flight</a:t>
            </a:r>
          </a:p>
        </p:txBody>
      </p:sp>
    </p:spTree>
    <p:extLst>
      <p:ext uri="{BB962C8B-B14F-4D97-AF65-F5344CB8AC3E}">
        <p14:creationId xmlns:p14="http://schemas.microsoft.com/office/powerpoint/2010/main" val="1742287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11B2D-35E9-14FB-73F3-C927CA06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1ABA05-EF38-E4D0-F83B-C403773C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FED0-14E8-22E0-39F6-1725FEE5935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EE7F3F8A-9A2A-DF06-56E9-8F16BF43F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295F1-7A6B-55FC-64DD-03AED45A7BB4}"/>
              </a:ext>
            </a:extLst>
          </p:cNvPr>
          <p:cNvSpPr txBox="1"/>
          <p:nvPr/>
        </p:nvSpPr>
        <p:spPr>
          <a:xfrm>
            <a:off x="2132479" y="2491063"/>
            <a:ext cx="8830894" cy="198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effectLst/>
              </a:rPr>
              <a:t>Disruption motive 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ffectLst/>
              </a:rPr>
              <a:t>For delay and cancellation </a:t>
            </a:r>
            <a:endParaRPr 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Did the airline mention disruption motive? (Yes/No/Idk) </a:t>
            </a:r>
            <a:endParaRPr lang="en-US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If YES -&gt; What was the motive communicated by the airline? (Technical problem, meteorological conditions, strike, problems with airport, other motives) </a:t>
            </a:r>
            <a:endParaRPr lang="en-US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Describe in short what has happened (larges text box) </a:t>
            </a: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ffectLst/>
              </a:rPr>
              <a:t>For denied boarding</a:t>
            </a:r>
            <a:endParaRPr 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effectLst/>
              </a:rPr>
              <a:t>Describe in short what has happened (larges text box) </a:t>
            </a:r>
            <a:endParaRPr lang="en-US" sz="140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8B11799-EE16-4824-90B8-969B9237C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3094891"/>
              </p:ext>
            </p:extLst>
          </p:nvPr>
        </p:nvGraphicFramePr>
        <p:xfrm>
          <a:off x="213284" y="1258388"/>
          <a:ext cx="1992198" cy="192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D8942-0C19-0937-BBF5-9011DD24BD61}"/>
              </a:ext>
            </a:extLst>
          </p:cNvPr>
          <p:cNvSpPr txBox="1"/>
          <p:nvPr/>
        </p:nvSpPr>
        <p:spPr>
          <a:xfrm>
            <a:off x="2132479" y="1722257"/>
            <a:ext cx="8830894" cy="59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effectLst/>
              </a:rPr>
              <a:t>In this step, based on user input, we determine the motive of the disruption. No validation required.</a:t>
            </a:r>
          </a:p>
        </p:txBody>
      </p:sp>
    </p:spTree>
    <p:extLst>
      <p:ext uri="{BB962C8B-B14F-4D97-AF65-F5344CB8AC3E}">
        <p14:creationId xmlns:p14="http://schemas.microsoft.com/office/powerpoint/2010/main" val="3531086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9250-AC38-2CD6-FDF5-455DF6B4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148146-6D7D-077F-1B56-80FCAA3A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0BC3F9-70AE-5204-61C7-6AC64AD9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A48AF-64A5-1CFA-3168-DD08849BD72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58CAB33F-7D4D-E92B-DC21-ECB36FA2B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B8FC7A-C401-841D-3F80-535107909E02}"/>
              </a:ext>
            </a:extLst>
          </p:cNvPr>
          <p:cNvSpPr txBox="1"/>
          <p:nvPr/>
        </p:nvSpPr>
        <p:spPr>
          <a:xfrm>
            <a:off x="2132479" y="2491063"/>
            <a:ext cx="8830894" cy="10697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ea typeface="Calibri"/>
                <a:cs typeface="Calibri"/>
              </a:rPr>
              <a:t>Request email &amp; compliance </a:t>
            </a:r>
            <a:endParaRPr lang="en-US" sz="160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Calibri"/>
                <a:cs typeface="Calibri"/>
              </a:rPr>
              <a:t>E-mail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GDPR disclaimer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Calibri"/>
                <a:cs typeface="Calibri"/>
              </a:rPr>
              <a:t>GDPR acceptance checkbox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BCFEDC45-184A-BFFF-DBF0-B337E636E7DE}"/>
              </a:ext>
            </a:extLst>
          </p:cNvPr>
          <p:cNvGraphicFramePr/>
          <p:nvPr/>
        </p:nvGraphicFramePr>
        <p:xfrm>
          <a:off x="213284" y="1258388"/>
          <a:ext cx="1992198" cy="192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13D86974-5461-5228-0844-220D1DC991B9}"/>
              </a:ext>
            </a:extLst>
          </p:cNvPr>
          <p:cNvSpPr txBox="1"/>
          <p:nvPr/>
        </p:nvSpPr>
        <p:spPr>
          <a:xfrm>
            <a:off x="2132479" y="1722257"/>
            <a:ext cx="8830894" cy="5941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effectLst/>
              </a:rPr>
              <a:t>In this step, </a:t>
            </a:r>
            <a:r>
              <a:rPr lang="en-US"/>
              <a:t>we request the e-mail address of the user and ask him to accept GDPR so we can process his data</a:t>
            </a:r>
            <a:r>
              <a:rPr lang="en-US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845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A86D6-D115-F0E2-679A-C62F8688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C53966-2AC8-7E1F-2F7C-1951E7B1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96E481-E37E-0E32-CD06-AB848AAE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3E03C-A3BF-D42D-189C-247D9469C16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E818C01A-D26E-CD43-FE45-5A27034CF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0C9A52-70C1-DB46-41E7-ADE2F6F1C9AC}"/>
              </a:ext>
            </a:extLst>
          </p:cNvPr>
          <p:cNvSpPr txBox="1"/>
          <p:nvPr/>
        </p:nvSpPr>
        <p:spPr>
          <a:xfrm>
            <a:off x="2132479" y="2491063"/>
            <a:ext cx="8830894" cy="168090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ea typeface="Calibri"/>
                <a:cs typeface="Calibri"/>
              </a:rPr>
              <a:t>Flight details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400">
                <a:ea typeface="Calibri"/>
                <a:cs typeface="Calibri"/>
              </a:rPr>
              <a:t>For each flight leg entered in section 1, the following data must be entered: </a:t>
            </a:r>
          </a:p>
          <a:p>
            <a:pPr marL="742950" lvl="1" indent="-285750">
              <a:buFont typeface="Arial,Sans-Serif" panose="020B0604020202020204" pitchFamily="34" charset="0"/>
              <a:buChar char="•"/>
            </a:pPr>
            <a:r>
              <a:rPr lang="en-US" sz="1400">
                <a:ea typeface="Calibri"/>
                <a:cs typeface="Calibri"/>
              </a:rPr>
              <a:t>Flight date </a:t>
            </a:r>
          </a:p>
          <a:p>
            <a:pPr marL="742950" lvl="1" indent="-285750">
              <a:buFont typeface="Arial,Sans-Serif" panose="020B0604020202020204" pitchFamily="34" charset="0"/>
              <a:buChar char="•"/>
            </a:pPr>
            <a:r>
              <a:rPr lang="en-US" sz="1400">
                <a:ea typeface="Calibri"/>
                <a:cs typeface="Calibri"/>
              </a:rPr>
              <a:t>Flight </a:t>
            </a:r>
            <a:r>
              <a:rPr lang="en-US" sz="1400"/>
              <a:t>Nr </a:t>
            </a:r>
          </a:p>
          <a:p>
            <a:pPr marL="742950" lvl="1" indent="-285750">
              <a:buFont typeface="Arial,Sans-Serif" panose="020B0604020202020204" pitchFamily="34" charset="0"/>
              <a:buChar char="•"/>
            </a:pPr>
            <a:r>
              <a:rPr lang="en-US" sz="1400"/>
              <a:t>Airline 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400">
                <a:ea typeface="Calibri"/>
                <a:cs typeface="Calibri"/>
              </a:rPr>
              <a:t>Reservation Number </a:t>
            </a:r>
          </a:p>
          <a:p>
            <a:pPr marL="742950" lvl="1" indent="-285750">
              <a:buFont typeface="Arial,Sans-Serif" panose="020B0604020202020204" pitchFamily="34" charset="0"/>
              <a:buChar char="•"/>
            </a:pPr>
            <a:r>
              <a:rPr lang="en-US" sz="1400" err="1">
                <a:ea typeface="Calibri"/>
                <a:cs typeface="Calibri"/>
              </a:rPr>
              <a:t>Xxxxxx</a:t>
            </a:r>
            <a:r>
              <a:rPr lang="en-US" sz="1400">
                <a:ea typeface="Calibri"/>
                <a:cs typeface="Calibri"/>
              </a:rPr>
              <a:t> </a:t>
            </a:r>
            <a:endParaRPr lang="en-US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FD12794-267D-5641-DFCC-9E298C6A78A6}"/>
              </a:ext>
            </a:extLst>
          </p:cNvPr>
          <p:cNvGraphicFramePr/>
          <p:nvPr/>
        </p:nvGraphicFramePr>
        <p:xfrm>
          <a:off x="213284" y="1258388"/>
          <a:ext cx="1992198" cy="192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384F07B-9AA2-3D56-DDCE-A95AAA0B752C}"/>
              </a:ext>
            </a:extLst>
          </p:cNvPr>
          <p:cNvSpPr txBox="1"/>
          <p:nvPr/>
        </p:nvSpPr>
        <p:spPr>
          <a:xfrm>
            <a:off x="2132479" y="1722257"/>
            <a:ext cx="8830894" cy="2894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effectLst/>
              </a:rPr>
              <a:t>In this step, </a:t>
            </a:r>
            <a:r>
              <a:rPr lang="en-US"/>
              <a:t>we request information about the flight</a:t>
            </a:r>
            <a:r>
              <a:rPr lang="en-US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1673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38FD-B041-F3AB-1352-0AAEE259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4AD5A8-58BC-B0F0-080B-5BCB4E76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F24C67-AA70-9170-D8A5-0882258B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4D827-D9F8-B792-6A15-BF27F6E7D17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DEDCF257-0F15-AE7D-EDE1-38D5CAA55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C33541-CFFF-18CB-D593-9D645BE9ABC7}"/>
              </a:ext>
            </a:extLst>
          </p:cNvPr>
          <p:cNvSpPr txBox="1"/>
          <p:nvPr/>
        </p:nvSpPr>
        <p:spPr>
          <a:xfrm>
            <a:off x="2132479" y="2491063"/>
            <a:ext cx="8830894" cy="161146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ea typeface="Calibri"/>
                <a:cs typeface="Calibri"/>
              </a:rPr>
              <a:t>Passenger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Name </a:t>
            </a:r>
            <a:endParaRPr lang="en-US" sz="160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Family Name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Date of birth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Contact details: email, phone, address, postal code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Ask, if existing user - login if necessary to autofill details </a:t>
            </a:r>
            <a:endParaRPr lang="en-US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794A2AE-F59B-B344-2D47-E3F19AAB0FEB}"/>
              </a:ext>
            </a:extLst>
          </p:cNvPr>
          <p:cNvGraphicFramePr/>
          <p:nvPr/>
        </p:nvGraphicFramePr>
        <p:xfrm>
          <a:off x="213284" y="1258388"/>
          <a:ext cx="1992198" cy="192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4519B8C-685F-1ECB-657A-B1EC16F5A855}"/>
              </a:ext>
            </a:extLst>
          </p:cNvPr>
          <p:cNvSpPr txBox="1"/>
          <p:nvPr/>
        </p:nvSpPr>
        <p:spPr>
          <a:xfrm>
            <a:off x="2132479" y="1722257"/>
            <a:ext cx="8830894" cy="5941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effectLst/>
              </a:rPr>
              <a:t>In this step, </a:t>
            </a:r>
            <a:r>
              <a:rPr lang="en-US"/>
              <a:t>we request information about the user, so that we can create an account and contract for him.</a:t>
            </a:r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0411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B4E1-5AF2-1FB1-1907-C9688CF3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C94542-AB54-70E0-1CB8-8A188BED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7200" marR="0" lvl="0" indent="-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EEA673B3-52C9-4C18-9059-1380E56D340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7200" marR="0" lvl="0" indent="-72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7C0D77-B6CD-7438-831B-533CE370F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00" y="788505"/>
            <a:ext cx="9360000" cy="414992"/>
          </a:xfrm>
        </p:spPr>
        <p:txBody>
          <a:bodyPr/>
          <a:lstStyle/>
          <a:p>
            <a:r>
              <a:rPr lang="de-DE" sz="2800"/>
              <a:t>Entry 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EDB8F-40B1-17C8-CF27-9EE1D8A12BC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" name="Grafik 6">
            <a:extLst>
              <a:ext uri="{FF2B5EF4-FFF2-40B4-BE49-F238E27FC236}">
                <a16:creationId xmlns:a16="http://schemas.microsoft.com/office/drawing/2014/main" id="{7DC8FF1B-936B-7652-C28A-C1AB64AA4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731" y="347847"/>
            <a:ext cx="1247619" cy="1247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BB741-7DAB-87B6-EF92-2962FE1CA4F6}"/>
              </a:ext>
            </a:extLst>
          </p:cNvPr>
          <p:cNvSpPr txBox="1"/>
          <p:nvPr/>
        </p:nvSpPr>
        <p:spPr>
          <a:xfrm>
            <a:off x="2132479" y="2491063"/>
            <a:ext cx="8830894" cy="13406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ea typeface="Calibri"/>
                <a:cs typeface="Calibri"/>
              </a:rPr>
              <a:t>Generate case, PDF, email​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Case is created with ID and date </a:t>
            </a:r>
            <a:endParaRPr lang="en-US" sz="160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Flight disruption is created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PDF contract is created (case ID/date as contract nr/date, passenger details, reservation nr)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Automatic email with pdf to passenger and notification to employees </a:t>
            </a:r>
            <a:endParaRPr lang="en-US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2FFEADF-4E28-61FA-C1A1-9B6B01FB9EEA}"/>
              </a:ext>
            </a:extLst>
          </p:cNvPr>
          <p:cNvGraphicFramePr/>
          <p:nvPr/>
        </p:nvGraphicFramePr>
        <p:xfrm>
          <a:off x="213284" y="1258388"/>
          <a:ext cx="1992198" cy="192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0480325B-FF56-EA98-EF3C-7D6ED8E4C0D4}"/>
              </a:ext>
            </a:extLst>
          </p:cNvPr>
          <p:cNvSpPr txBox="1"/>
          <p:nvPr/>
        </p:nvSpPr>
        <p:spPr>
          <a:xfrm>
            <a:off x="2132479" y="1722257"/>
            <a:ext cx="8830894" cy="5941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effectLst/>
              </a:rPr>
              <a:t>In this step, </a:t>
            </a:r>
            <a:r>
              <a:rPr lang="en-US"/>
              <a:t>we generate a Case in our system and generate a contract between the company and the passenger</a:t>
            </a:r>
            <a:r>
              <a:rPr lang="en-US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4475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reeform 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reeform 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reeform 16"/>
</p:tagLst>
</file>

<file path=ppt/theme/theme1.xml><?xml version="1.0" encoding="utf-8"?>
<a:theme xmlns:a="http://schemas.openxmlformats.org/drawingml/2006/main" name="msg Master klein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PPT_Master-Template_msg_klein_2020.potx" id="{E91187AC-F84E-4BEB-9579-780E3644A496}" vid="{4D48CC33-1CCA-44B6-BCDE-058E0BA7D2FC}"/>
    </a:ext>
  </a:extLst>
</a:theme>
</file>

<file path=ppt/theme/theme2.xml><?xml version="1.0" encoding="utf-8"?>
<a:theme xmlns:a="http://schemas.openxmlformats.org/drawingml/2006/main" name="1_msg Master klein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PPT_Master-Template_msg_klein_2020.potx" id="{E91187AC-F84E-4BEB-9579-780E3644A496}" vid="{4D48CC33-1CCA-44B6-BCDE-058E0BA7D2FC}"/>
    </a:ext>
  </a:extLst>
</a:theme>
</file>

<file path=ppt/theme/theme3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a53a62bb-fe8c-40a9-b721-69dc556ec299" ContentTypeId="0x010100CB739A34987DFC4799956597BE84C54F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msg_compliance_dokument" ma:contentTypeID="0x010100CB739A34987DFC4799956597BE84C54F00B68E7C235199CA4E84B5BB6582FE65C9" ma:contentTypeVersion="88" ma:contentTypeDescription="Ein neues Dokument erstellen" ma:contentTypeScope="" ma:versionID="0ec582e4a0a508a7609d3fa25154e281">
  <xsd:schema xmlns:xsd="http://www.w3.org/2001/XMLSchema" xmlns:xs="http://www.w3.org/2001/XMLSchema" xmlns:p="http://schemas.microsoft.com/office/2006/metadata/properties" xmlns:ns2="f719ecbf-a19d-4b01-ba1f-7ffa0d8a5235" targetNamespace="http://schemas.microsoft.com/office/2006/metadata/properties" ma:root="true" ma:fieldsID="933ef6eb51cf694494ecbe5c5584b92c" ns2:_="">
    <xsd:import namespace="f719ecbf-a19d-4b01-ba1f-7ffa0d8a5235"/>
    <xsd:element name="properties">
      <xsd:complexType>
        <xsd:sequence>
          <xsd:element name="documentManagement">
            <xsd:complexType>
              <xsd:all>
                <xsd:element ref="ns2:f16d888152304445aa5b35ba4716d4a8" minOccurs="0"/>
                <xsd:element ref="ns2:TaxCatchAll" minOccurs="0"/>
                <xsd:element ref="ns2:TaxCatchAllLabel" minOccurs="0"/>
                <xsd:element ref="ns2:h3f1b06ce09f48098d4991f35ddb7359" minOccurs="0"/>
                <xsd:element ref="ns2:AufbewahrungBi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9ecbf-a19d-4b01-ba1f-7ffa0d8a5235" elementFormDefault="qualified">
    <xsd:import namespace="http://schemas.microsoft.com/office/2006/documentManagement/types"/>
    <xsd:import namespace="http://schemas.microsoft.com/office/infopath/2007/PartnerControls"/>
    <xsd:element name="f16d888152304445aa5b35ba4716d4a8" ma:index="8" nillable="true" ma:taxonomy="true" ma:internalName="f16d888152304445aa5b35ba4716d4a8" ma:taxonomyFieldName="msg_status" ma:displayName="msg_Status" ma:default="1;#draft|f1fe2a98-d56b-449d-82ee-cefd9e5def11" ma:fieldId="{f16d8881-5230-4445-aa5b-35ba4716d4a8}" ma:sspId="a53a62bb-fe8c-40a9-b721-69dc556ec299" ma:termSetId="2728d801-4acd-4eb4-aa2c-25cd9914c1e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d085f45d-bf7e-4236-96b8-df6b07f1dba1}" ma:internalName="TaxCatchAll" ma:showField="CatchAllData" ma:web="b54920ca-24e5-46be-876e-4561836fd1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d085f45d-bf7e-4236-96b8-df6b07f1dba1}" ma:internalName="TaxCatchAllLabel" ma:readOnly="true" ma:showField="CatchAllDataLabel" ma:web="b54920ca-24e5-46be-876e-4561836fd1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3f1b06ce09f48098d4991f35ddb7359" ma:index="12" nillable="true" ma:taxonomy="true" ma:internalName="h3f1b06ce09f48098d4991f35ddb7359" ma:taxonomyFieldName="msg_firma" ma:displayName="msg_Firma" ma:fieldId="{13f1b06c-e09f-4809-8d49-91f35ddb7359}" ma:sspId="a53a62bb-fe8c-40a9-b721-69dc556ec299" ma:termSetId="e83dff77-f37a-4aff-95fb-d7ebb9766cd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ufbewahrungBis" ma:index="14" nillable="true" ma:displayName="Aufbewahrung bis" ma:format="DateOnly" ma:hidden="true" ma:internalName="AufbewahrungBis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15" ma:displayName="Autor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ufbewahrungBis xmlns="f719ecbf-a19d-4b01-ba1f-7ffa0d8a5235" xsi:nil="true"/>
    <h3f1b06ce09f48098d4991f35ddb7359 xmlns="f719ecbf-a19d-4b01-ba1f-7ffa0d8a5235">
      <Terms xmlns="http://schemas.microsoft.com/office/infopath/2007/PartnerControls"/>
    </h3f1b06ce09f48098d4991f35ddb7359>
    <TaxCatchAll xmlns="f719ecbf-a19d-4b01-ba1f-7ffa0d8a5235">
      <Value>1</Value>
    </TaxCatchAll>
    <f16d888152304445aa5b35ba4716d4a8 xmlns="f719ecbf-a19d-4b01-ba1f-7ffa0d8a52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draft</TermName>
          <TermId xmlns="http://schemas.microsoft.com/office/infopath/2007/PartnerControls">f1fe2a98-d56b-449d-82ee-cefd9e5def11</TermId>
        </TermInfo>
      </Terms>
    </f16d888152304445aa5b35ba4716d4a8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9FB0A-0673-4510-9880-901ACEECAA45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07A63BBC-4F66-42A6-B6EB-ACF8DD0FA5FC}">
  <ds:schemaRefs>
    <ds:schemaRef ds:uri="f719ecbf-a19d-4b01-ba1f-7ffa0d8a52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5871569-4B1F-473F-B424-64A648C30D54}">
  <ds:schemaRefs>
    <ds:schemaRef ds:uri="f719ecbf-a19d-4b01-ba1f-7ffa0d8a5235"/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D18E02BC-02DF-4AFF-A0B2-41369CD1636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b563a01-caf2-48ed-8708-7300e4e42e72}" enabled="1" method="Privileged" siteId="{763b2760-45c5-46d3-883e-29705bba49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PPT_Master-Template_msg_klein_2020</Template>
  <Application>Microsoft Office PowerPoint</Application>
  <PresentationFormat>Widescreen</PresentationFormat>
  <Slides>18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msg Master klein</vt:lpstr>
      <vt:lpstr>1_msg Master klein</vt:lpstr>
      <vt:lpstr>Proiect Python Training AirAssist</vt:lpstr>
      <vt:lpstr>Aplicație de Claim Management – Conform EU261/2004 AIR-ASSIST</vt:lpstr>
      <vt:lpstr>Valoarea adăugată pentru pasager</vt:lpstr>
      <vt:lpstr>Cum ajunge pasagerul în aplicație </vt:lpstr>
      <vt:lpstr>Procesul de compensare (conform EC261/2004)</vt:lpstr>
      <vt:lpstr>Procesul de compensare (conform EC261/2004)</vt:lpstr>
      <vt:lpstr>Project Air-Assist.eu Claim Management App</vt:lpstr>
      <vt:lpstr>Implementation details</vt:lpstr>
      <vt:lpstr>Technologies to use</vt:lpstr>
      <vt:lpstr>USER TYPES</vt:lpstr>
      <vt:lpstr>Entry form</vt:lpstr>
      <vt:lpstr>Entry form</vt:lpstr>
      <vt:lpstr>Entry form</vt:lpstr>
      <vt:lpstr>Entry form</vt:lpstr>
      <vt:lpstr>Entry form</vt:lpstr>
      <vt:lpstr>Entry form</vt:lpstr>
      <vt:lpstr>Entry form</vt:lpstr>
      <vt:lpstr>Entry form</vt:lpstr>
    </vt:vector>
  </TitlesOfParts>
  <Company>msg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Propunere aplicație | Java Training2024</dc:title>
  <dc:creator>Elod Imreh-Racz</dc:creator>
  <cp:revision>1</cp:revision>
  <dcterms:created xsi:type="dcterms:W3CDTF">2024-03-14T22:24:31Z</dcterms:created>
  <dcterms:modified xsi:type="dcterms:W3CDTF">2026-07-23T07:18:57Z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563a01-caf2-48ed-8708-7300e4e42e72_Enabled">
    <vt:lpwstr>true</vt:lpwstr>
  </property>
  <property fmtid="{D5CDD505-2E9C-101B-9397-08002B2CF9AE}" pid="3" name="MSIP_Label_7b563a01-caf2-48ed-8708-7300e4e42e72_SetDate">
    <vt:lpwstr>2022-07-11T07:27:32Z</vt:lpwstr>
  </property>
  <property fmtid="{D5CDD505-2E9C-101B-9397-08002B2CF9AE}" pid="4" name="MSIP_Label_7b563a01-caf2-48ed-8708-7300e4e42e72_Method">
    <vt:lpwstr>Privileged</vt:lpwstr>
  </property>
  <property fmtid="{D5CDD505-2E9C-101B-9397-08002B2CF9AE}" pid="5" name="MSIP_Label_7b563a01-caf2-48ed-8708-7300e4e42e72_Name">
    <vt:lpwstr>Intern - Internal</vt:lpwstr>
  </property>
  <property fmtid="{D5CDD505-2E9C-101B-9397-08002B2CF9AE}" pid="6" name="MSIP_Label_7b563a01-caf2-48ed-8708-7300e4e42e72_SiteId">
    <vt:lpwstr>763b2760-45c5-46d3-883e-29705bba49b7</vt:lpwstr>
  </property>
  <property fmtid="{D5CDD505-2E9C-101B-9397-08002B2CF9AE}" pid="7" name="MSIP_Label_7b563a01-caf2-48ed-8708-7300e4e42e72_ActionId">
    <vt:lpwstr>43237bd0-758d-4d2e-a847-c9e1fa73046f</vt:lpwstr>
  </property>
  <property fmtid="{D5CDD505-2E9C-101B-9397-08002B2CF9AE}" pid="8" name="MSIP_Label_7b563a01-caf2-48ed-8708-7300e4e42e72_ContentBits">
    <vt:lpwstr>0</vt:lpwstr>
  </property>
  <property fmtid="{D5CDD505-2E9C-101B-9397-08002B2CF9AE}" pid="9" name="ContentTypeId">
    <vt:lpwstr>0x010100CB739A34987DFC4799956597BE84C54F00B68E7C235199CA4E84B5BB6582FE65C9</vt:lpwstr>
  </property>
  <property fmtid="{D5CDD505-2E9C-101B-9397-08002B2CF9AE}" pid="10" name="msg_status">
    <vt:lpwstr>1;#draft|f1fe2a98-d56b-449d-82ee-cefd9e5def11</vt:lpwstr>
  </property>
  <property fmtid="{D5CDD505-2E9C-101B-9397-08002B2CF9AE}" pid="11" name="MediaServiceImageTags">
    <vt:lpwstr/>
  </property>
  <property fmtid="{D5CDD505-2E9C-101B-9397-08002B2CF9AE}" pid="12" name="lcf76f155ced4ddcb4097134ff3c332f">
    <vt:lpwstr/>
  </property>
  <property fmtid="{D5CDD505-2E9C-101B-9397-08002B2CF9AE}" pid="13" name="msg_firma">
    <vt:lpwstr/>
  </property>
</Properties>
</file>